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116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7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02.png"/><Relationship Id="rId7" Type="http://schemas.openxmlformats.org/officeDocument/2006/relationships/image" Target="../media/image141.png"/><Relationship Id="rId12" Type="http://schemas.openxmlformats.org/officeDocument/2006/relationships/image" Target="../media/image1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4.png"/><Relationship Id="rId5" Type="http://schemas.openxmlformats.org/officeDocument/2006/relationships/image" Target="../media/image139.png"/><Relationship Id="rId10" Type="http://schemas.openxmlformats.org/officeDocument/2006/relationships/image" Target="../media/image143.png"/><Relationship Id="rId4" Type="http://schemas.openxmlformats.org/officeDocument/2006/relationships/image" Target="../media/image138.png"/><Relationship Id="rId9" Type="http://schemas.openxmlformats.org/officeDocument/2006/relationships/image" Target="../media/image1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5" Type="http://schemas.openxmlformats.org/officeDocument/2006/relationships/image" Target="../media/image148.png"/><Relationship Id="rId10" Type="http://schemas.openxmlformats.org/officeDocument/2006/relationships/image" Target="../media/image153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167.png"/><Relationship Id="rId3" Type="http://schemas.openxmlformats.org/officeDocument/2006/relationships/image" Target="../media/image158.png"/><Relationship Id="rId7" Type="http://schemas.openxmlformats.org/officeDocument/2006/relationships/image" Target="../media/image161.png"/><Relationship Id="rId12" Type="http://schemas.openxmlformats.org/officeDocument/2006/relationships/image" Target="../media/image16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11" Type="http://schemas.openxmlformats.org/officeDocument/2006/relationships/image" Target="../media/image165.png"/><Relationship Id="rId5" Type="http://schemas.openxmlformats.org/officeDocument/2006/relationships/image" Target="../media/image22.png"/><Relationship Id="rId10" Type="http://schemas.openxmlformats.org/officeDocument/2006/relationships/image" Target="../media/image164.png"/><Relationship Id="rId4" Type="http://schemas.openxmlformats.org/officeDocument/2006/relationships/image" Target="../media/image159.png"/><Relationship Id="rId9" Type="http://schemas.openxmlformats.org/officeDocument/2006/relationships/image" Target="../media/image16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8.png"/><Relationship Id="rId3" Type="http://schemas.openxmlformats.org/officeDocument/2006/relationships/image" Target="../media/image168.png"/><Relationship Id="rId7" Type="http://schemas.openxmlformats.org/officeDocument/2006/relationships/image" Target="../media/image172.png"/><Relationship Id="rId12" Type="http://schemas.openxmlformats.org/officeDocument/2006/relationships/image" Target="../media/image17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1.png"/><Relationship Id="rId11" Type="http://schemas.openxmlformats.org/officeDocument/2006/relationships/image" Target="../media/image176.png"/><Relationship Id="rId5" Type="http://schemas.openxmlformats.org/officeDocument/2006/relationships/image" Target="../media/image170.png"/><Relationship Id="rId10" Type="http://schemas.openxmlformats.org/officeDocument/2006/relationships/image" Target="../media/image175.png"/><Relationship Id="rId4" Type="http://schemas.openxmlformats.org/officeDocument/2006/relationships/image" Target="../media/image169.png"/><Relationship Id="rId9" Type="http://schemas.openxmlformats.org/officeDocument/2006/relationships/image" Target="../media/image174.png"/><Relationship Id="rId14" Type="http://schemas.openxmlformats.org/officeDocument/2006/relationships/image" Target="../media/image17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.png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85.png"/><Relationship Id="rId7" Type="http://schemas.openxmlformats.org/officeDocument/2006/relationships/image" Target="../media/image18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86.png"/><Relationship Id="rId9" Type="http://schemas.openxmlformats.org/officeDocument/2006/relationships/image" Target="../media/image1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21" y="204107"/>
            <a:ext cx="11016343" cy="619669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5640735"/>
            <a:ext cx="11125200" cy="760065"/>
          </a:xfrm>
          <a:prstGeom prst="rect">
            <a:avLst/>
          </a:prstGeom>
          <a:ln/>
          <a:effectLst>
            <a:outerShdw blurRad="228600" dist="38100" dir="5400000" algn="bl" rotWithShape="0">
              <a:srgbClr val="000000">
                <a:alpha val="28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5985"/>
              </a:lnSpc>
              <a:buNone/>
            </a:pPr>
            <a:r>
              <a:rPr lang="en-US" sz="5700" b="1" kern="0" spc="-57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口頭傳意技巧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77600" cy="5866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20"/>
              </a:lnSpc>
              <a:buNone/>
            </a:pPr>
            <a:r>
              <a:rPr lang="zh-TW" altLang="en-US" sz="4200" b="1" kern="0" spc="-42" dirty="0">
                <a:solidFill>
                  <a:srgbClr val="BE885A"/>
                </a:solidFill>
                <a:latin typeface="Inter" pitchFamily="34" charset="0"/>
                <a:ea typeface="Inter" pitchFamily="34" charset="-122"/>
              </a:rPr>
              <a:t>口語傳意技巧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75693"/>
            <a:ext cx="3644801" cy="18037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194768"/>
            <a:ext cx="1287959" cy="39052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09625" y="2261443"/>
            <a:ext cx="1059359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kern="0" spc="83" dirty="0">
                <a:solidFill>
                  <a:srgbClr val="5E4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⏰</a:t>
            </a:r>
            <a:endParaRPr lang="en-US" sz="1650" dirty="0"/>
          </a:p>
        </p:txBody>
      </p:sp>
      <p:sp>
        <p:nvSpPr>
          <p:cNvPr id="6" name="Text 2"/>
          <p:cNvSpPr txBox="1"/>
          <p:nvPr/>
        </p:nvSpPr>
        <p:spPr>
          <a:xfrm>
            <a:off x="695325" y="2661493"/>
            <a:ext cx="3168551" cy="89892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口語是什麼？</a:t>
            </a:r>
            <a:endParaRPr lang="en-US" sz="3000" dirty="0"/>
          </a:p>
          <a:p>
            <a:pPr marL="0" indent="0" algn="l">
              <a:lnSpc>
                <a:spcPts val="3540"/>
              </a:lnSpc>
              <a:buNone/>
            </a:pP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特點與要求</a:t>
            </a:r>
            <a:endParaRPr lang="en-US" sz="3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451" y="1975693"/>
            <a:ext cx="3644950" cy="1803797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576" y="2194768"/>
            <a:ext cx="1423243" cy="39052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625876" y="2261443"/>
            <a:ext cx="1194643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kern="0" spc="83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💪</a:t>
            </a:r>
            <a:endParaRPr lang="en-US" sz="1650" dirty="0"/>
          </a:p>
        </p:txBody>
      </p:sp>
      <p:sp>
        <p:nvSpPr>
          <p:cNvPr id="10" name="Text 4"/>
          <p:cNvSpPr txBox="1"/>
          <p:nvPr/>
        </p:nvSpPr>
        <p:spPr>
          <a:xfrm>
            <a:off x="4511576" y="2661493"/>
            <a:ext cx="3168700" cy="89892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心理素質</a:t>
            </a:r>
            <a:endParaRPr lang="en-US" sz="3000" dirty="0"/>
          </a:p>
          <a:p>
            <a:pPr marL="0" indent="0" algn="l">
              <a:lnSpc>
                <a:spcPts val="3540"/>
              </a:lnSpc>
              <a:buNone/>
            </a:pP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自信與穩定</a:t>
            </a:r>
            <a:endParaRPr lang="en-US" sz="30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850" y="1975693"/>
            <a:ext cx="3644801" cy="1803797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7975" y="2194768"/>
            <a:ext cx="1464171" cy="39052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8442275" y="2261443"/>
            <a:ext cx="123557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kern="0" spc="83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🎤</a:t>
            </a:r>
            <a:endParaRPr lang="en-US" sz="1650" dirty="0"/>
          </a:p>
        </p:txBody>
      </p:sp>
      <p:sp>
        <p:nvSpPr>
          <p:cNvPr id="14" name="Text 6"/>
          <p:cNvSpPr txBox="1"/>
          <p:nvPr/>
        </p:nvSpPr>
        <p:spPr>
          <a:xfrm>
            <a:off x="8327975" y="2661493"/>
            <a:ext cx="3168551" cy="89892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聲音魔法</a:t>
            </a:r>
            <a:endParaRPr lang="en-US" sz="3000" dirty="0"/>
          </a:p>
          <a:p>
            <a:pPr marL="0" indent="0" algn="l">
              <a:lnSpc>
                <a:spcPts val="3540"/>
              </a:lnSpc>
              <a:buNone/>
            </a:pP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語速停頓重音</a:t>
            </a:r>
            <a:endParaRPr lang="en-US" sz="30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950940"/>
            <a:ext cx="3644801" cy="1822847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25" y="4170015"/>
            <a:ext cx="1441103" cy="390525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809625" y="4236690"/>
            <a:ext cx="1212503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kern="0" spc="83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🤝</a:t>
            </a:r>
            <a:endParaRPr lang="en-US" sz="1650" dirty="0"/>
          </a:p>
        </p:txBody>
      </p:sp>
      <p:sp>
        <p:nvSpPr>
          <p:cNvPr id="18" name="Text 8"/>
          <p:cNvSpPr txBox="1"/>
          <p:nvPr/>
        </p:nvSpPr>
        <p:spPr>
          <a:xfrm>
            <a:off x="695325" y="4636740"/>
            <a:ext cx="3168551" cy="89892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說話的規矩</a:t>
            </a:r>
            <a:endParaRPr lang="en-US" sz="3000" dirty="0"/>
          </a:p>
          <a:p>
            <a:pPr marL="0" indent="0" algn="l">
              <a:lnSpc>
                <a:spcPts val="3540"/>
              </a:lnSpc>
              <a:buNone/>
            </a:pP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合作＋禮貌</a:t>
            </a:r>
            <a:endParaRPr lang="en-US" sz="30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3451" y="3950940"/>
            <a:ext cx="3644950" cy="1822847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11576" y="4170015"/>
            <a:ext cx="1453455" cy="390525"/>
          </a:xfrm>
          <a:prstGeom prst="rect">
            <a:avLst/>
          </a:prstGeom>
        </p:spPr>
      </p:pic>
      <p:sp>
        <p:nvSpPr>
          <p:cNvPr id="21" name="Text 9"/>
          <p:cNvSpPr txBox="1"/>
          <p:nvPr/>
        </p:nvSpPr>
        <p:spPr>
          <a:xfrm>
            <a:off x="4625876" y="4236690"/>
            <a:ext cx="1224855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kern="0" spc="83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👀</a:t>
            </a:r>
            <a:endParaRPr lang="en-US" sz="1650" dirty="0"/>
          </a:p>
        </p:txBody>
      </p:sp>
      <p:sp>
        <p:nvSpPr>
          <p:cNvPr id="22" name="Text 10"/>
          <p:cNvSpPr txBox="1"/>
          <p:nvPr/>
        </p:nvSpPr>
        <p:spPr>
          <a:xfrm>
            <a:off x="4511576" y="4636740"/>
            <a:ext cx="3168700" cy="89892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身體會說話</a:t>
            </a:r>
            <a:endParaRPr lang="en-US" sz="3000" dirty="0"/>
          </a:p>
          <a:p>
            <a:pPr marL="0" indent="0" algn="l">
              <a:lnSpc>
                <a:spcPts val="3540"/>
              </a:lnSpc>
              <a:buNone/>
            </a:pP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態勢語說明</a:t>
            </a:r>
            <a:endParaRPr lang="en-US" sz="300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89850" y="3950940"/>
            <a:ext cx="3644801" cy="1822847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37500" y="4179540"/>
            <a:ext cx="1592461" cy="390525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8451800" y="4246215"/>
            <a:ext cx="136386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kern="0" spc="8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🔥</a:t>
            </a:r>
            <a:endParaRPr lang="en-US" sz="1650" dirty="0"/>
          </a:p>
        </p:txBody>
      </p:sp>
      <p:sp>
        <p:nvSpPr>
          <p:cNvPr id="26" name="Text 12"/>
          <p:cNvSpPr txBox="1"/>
          <p:nvPr/>
        </p:nvSpPr>
        <p:spPr>
          <a:xfrm>
            <a:off x="8337500" y="4646265"/>
            <a:ext cx="3149501" cy="89892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實戰演練</a:t>
            </a:r>
            <a:endParaRPr lang="en-US" sz="3000" dirty="0"/>
          </a:p>
          <a:p>
            <a:pPr marL="0" indent="0" algn="l">
              <a:lnSpc>
                <a:spcPts val="35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報告提問回應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0550" y="1462534"/>
            <a:ext cx="5922615" cy="5656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5"/>
              </a:lnSpc>
              <a:buNone/>
            </a:pPr>
            <a:r>
              <a:rPr lang="en-US" sz="4050" b="1" dirty="0">
                <a:solidFill>
                  <a:srgbClr val="FFFFFF"/>
                </a:solidFill>
                <a:highlight>
                  <a:srgbClr val="BE885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黃色重點</a:t>
            </a:r>
            <a:r>
              <a:rPr lang="en-US" sz="405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口語是什麼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9680"/>
            <a:ext cx="6055965" cy="31956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2000" y="2504480"/>
            <a:ext cx="5446365" cy="15001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38"/>
              </a:lnSpc>
              <a:buNone/>
            </a:pPr>
            <a:r>
              <a:rPr lang="en-US" sz="31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</a:t>
            </a:r>
            <a:r>
              <a:rPr lang="en-US" sz="31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口語是談話時使用的語言</a:t>
            </a:r>
            <a:r>
              <a:rPr lang="en-US" sz="31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」</a:t>
            </a:r>
            <a:endParaRPr lang="en-US" sz="3150" dirty="0"/>
          </a:p>
          <a:p>
            <a:pPr marL="0" indent="0" algn="l">
              <a:lnSpc>
                <a:spcPts val="3938"/>
              </a:lnSpc>
              <a:buNone/>
            </a:pP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《現代漢語詞典》</a:t>
            </a:r>
            <a:endParaRPr lang="en-US" sz="3150" dirty="0"/>
          </a:p>
        </p:txBody>
      </p:sp>
      <p:sp>
        <p:nvSpPr>
          <p:cNvPr id="5" name="Text 2"/>
          <p:cNvSpPr txBox="1"/>
          <p:nvPr/>
        </p:nvSpPr>
        <p:spPr>
          <a:xfrm>
            <a:off x="762000" y="4138017"/>
            <a:ext cx="5446365" cy="952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3A2E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👂 口語靠聽和說</a:t>
            </a:r>
            <a:endParaRPr lang="en-US" sz="3000" dirty="0"/>
          </a:p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3A2E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✍️ 書面語靠寫和看</a:t>
            </a:r>
            <a:endParaRPr lang="en-US" sz="3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865" y="419100"/>
            <a:ext cx="4954935" cy="6019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065615" y="1459260"/>
            <a:ext cx="4383435" cy="523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🎧 一張圖看懂差異</a:t>
            </a:r>
            <a:endParaRPr lang="en-US" sz="3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5615" y="2116485"/>
            <a:ext cx="2124968" cy="278695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275165" y="2326035"/>
            <a:ext cx="1705719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2100" b="1" kern="0" spc="-21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👄 口語</a:t>
            </a:r>
            <a:endParaRPr lang="en-US" sz="2100" dirty="0"/>
          </a:p>
        </p:txBody>
      </p:sp>
      <p:sp>
        <p:nvSpPr>
          <p:cNvPr id="10" name="Text 5"/>
          <p:cNvSpPr txBox="1"/>
          <p:nvPr/>
        </p:nvSpPr>
        <p:spPr>
          <a:xfrm>
            <a:off x="7275165" y="2722215"/>
            <a:ext cx="1705868" cy="1428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FFC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聽覺</a:t>
            </a:r>
            <a:endParaRPr lang="en-US" sz="2250" dirty="0">
              <a:solidFill>
                <a:srgbClr val="FFC000"/>
              </a:solidFill>
            </a:endParaRPr>
          </a:p>
          <a:p>
            <a:pPr marL="0" indent="0" algn="ctr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FFC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即時</a:t>
            </a:r>
            <a:endParaRPr lang="en-US" sz="2250" dirty="0">
              <a:solidFill>
                <a:srgbClr val="FFC000"/>
              </a:solidFill>
            </a:endParaRPr>
          </a:p>
          <a:p>
            <a:pPr marL="0" indent="0" algn="ctr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FFC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互動</a:t>
            </a:r>
            <a:endParaRPr lang="en-US" sz="2250" dirty="0">
              <a:solidFill>
                <a:srgbClr val="FFC000"/>
              </a:solidFill>
            </a:endParaRPr>
          </a:p>
          <a:p>
            <a:pPr marL="0" indent="0" algn="ctr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FFC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有表情</a:t>
            </a:r>
            <a:endParaRPr lang="en-US" sz="2250" dirty="0">
              <a:solidFill>
                <a:srgbClr val="FFC000"/>
              </a:solidFill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3125" y="4208115"/>
            <a:ext cx="1009799" cy="48577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756475" y="4273514"/>
            <a:ext cx="743099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25"/>
              </a:lnSpc>
              <a:spcBef>
                <a:spcPts val="45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說出來</a:t>
            </a:r>
            <a:endParaRPr lang="en-US" sz="1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3933" y="2116485"/>
            <a:ext cx="2125117" cy="278695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533483" y="2326035"/>
            <a:ext cx="1706017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2100" b="1" kern="0" spc="-21" dirty="0">
                <a:solidFill>
                  <a:srgbClr val="E9EBE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📄 </a:t>
            </a:r>
            <a:r>
              <a:rPr lang="en-US" sz="2100" b="1" kern="0" spc="-21" dirty="0">
                <a:latin typeface="Spectral" pitchFamily="34" charset="0"/>
                <a:ea typeface="Spectral" pitchFamily="34" charset="-122"/>
                <a:cs typeface="Spectral" pitchFamily="34" charset="-120"/>
              </a:rPr>
              <a:t>書面語</a:t>
            </a:r>
            <a:endParaRPr lang="en-US" sz="2100" dirty="0"/>
          </a:p>
        </p:txBody>
      </p:sp>
      <p:sp>
        <p:nvSpPr>
          <p:cNvPr id="15" name="Text 8"/>
          <p:cNvSpPr txBox="1"/>
          <p:nvPr/>
        </p:nvSpPr>
        <p:spPr>
          <a:xfrm>
            <a:off x="9533483" y="2722215"/>
            <a:ext cx="1705868" cy="1428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視覺</a:t>
            </a:r>
            <a:endParaRPr lang="en-US" sz="2250" dirty="0"/>
          </a:p>
          <a:p>
            <a:pPr marL="0" indent="0" algn="ctr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延後</a:t>
            </a:r>
            <a:endParaRPr lang="en-US" sz="2250" dirty="0"/>
          </a:p>
          <a:p>
            <a:pPr marL="0" indent="0" algn="ctr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獨白</a:t>
            </a:r>
            <a:endParaRPr lang="en-US" sz="2250" dirty="0"/>
          </a:p>
          <a:p>
            <a:pPr marL="0" indent="0" algn="ctr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可修改</a:t>
            </a:r>
            <a:endParaRPr lang="en-US" sz="22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81592" y="4208115"/>
            <a:ext cx="1009799" cy="48577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0014867" y="4273513"/>
            <a:ext cx="743099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25"/>
              </a:lnSpc>
              <a:spcBef>
                <a:spcPts val="45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寫下來</a:t>
            </a:r>
            <a:endParaRPr lang="en-US" sz="1950" dirty="0"/>
          </a:p>
        </p:txBody>
      </p:sp>
      <p:sp>
        <p:nvSpPr>
          <p:cNvPr id="18" name="Text 10"/>
          <p:cNvSpPr txBox="1"/>
          <p:nvPr/>
        </p:nvSpPr>
        <p:spPr>
          <a:xfrm>
            <a:off x="7065615" y="5112990"/>
            <a:ext cx="4383286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25"/>
              </a:lnSpc>
              <a:spcBef>
                <a:spcPts val="300"/>
              </a:spcBef>
              <a:buNone/>
            </a:pPr>
            <a:r>
              <a:rPr lang="en-US" sz="1950" b="1" dirty="0">
                <a:solidFill>
                  <a:srgbClr val="5A55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我口說我心 = 自然生動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42900"/>
            <a:ext cx="1962299" cy="61138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0075" y="428625"/>
            <a:ext cx="1600349" cy="4399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65"/>
              </a:lnSpc>
              <a:buNone/>
            </a:pPr>
            <a:r>
              <a:rPr lang="zh-TW" altLang="en-US" sz="3150" b="1" dirty="0">
                <a:solidFill>
                  <a:srgbClr val="5A4210"/>
                </a:solidFill>
                <a:highlight>
                  <a:srgbClr val="FFF6DD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顏色</a:t>
            </a:r>
            <a:r>
              <a:rPr lang="en-US" sz="3150" b="1" dirty="0" err="1">
                <a:solidFill>
                  <a:srgbClr val="5A4210"/>
                </a:solidFill>
                <a:highlight>
                  <a:srgbClr val="FFF6DD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重點</a:t>
            </a:r>
            <a:endParaRPr lang="en-US" sz="3150" dirty="0"/>
          </a:p>
        </p:txBody>
      </p:sp>
      <p:sp>
        <p:nvSpPr>
          <p:cNvPr id="4" name="Text 1"/>
          <p:cNvSpPr txBox="1"/>
          <p:nvPr/>
        </p:nvSpPr>
        <p:spPr>
          <a:xfrm>
            <a:off x="2514749" y="376238"/>
            <a:ext cx="5126087" cy="544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口語</a:t>
            </a: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8大特點全收錄 ✨</a:t>
            </a:r>
            <a:endParaRPr lang="en-US" sz="3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106686"/>
            <a:ext cx="5600700" cy="70485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259086"/>
            <a:ext cx="419100" cy="4191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21531" y="1320998"/>
            <a:ext cx="264319" cy="3571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spcBef>
                <a:spcPts val="15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3"/>
          <p:cNvSpPr txBox="1"/>
          <p:nvPr/>
        </p:nvSpPr>
        <p:spPr>
          <a:xfrm>
            <a:off x="1260418" y="1320998"/>
            <a:ext cx="2991148" cy="3412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88"/>
              </a:lnSpc>
              <a:buNone/>
            </a:pPr>
            <a:r>
              <a:rPr lang="en-US" sz="2800" b="1" dirty="0">
                <a:solidFill>
                  <a:srgbClr val="2927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特定語境</a:t>
            </a:r>
            <a:r>
              <a:rPr lang="en-US" sz="28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＋聽眾即場反應</a:t>
            </a:r>
            <a:endParaRPr lang="en-US" sz="2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106686"/>
            <a:ext cx="5600700" cy="70485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850" y="1259086"/>
            <a:ext cx="419100" cy="4191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6550372" y="1320998"/>
            <a:ext cx="288578" cy="3571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spcBef>
                <a:spcPts val="15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5"/>
          <p:cNvSpPr txBox="1"/>
          <p:nvPr/>
        </p:nvSpPr>
        <p:spPr>
          <a:xfrm>
            <a:off x="6838950" y="1320998"/>
            <a:ext cx="3791248" cy="3412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88"/>
              </a:lnSpc>
              <a:buNone/>
            </a:pPr>
            <a:r>
              <a:rPr lang="en-US" sz="2800" b="1" dirty="0">
                <a:solidFill>
                  <a:srgbClr val="2927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我口說我心</a:t>
            </a:r>
            <a:r>
              <a:rPr lang="en-US" sz="28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即興、生動、輕鬆</a:t>
            </a:r>
            <a:endParaRPr lang="en-US" sz="24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1925836"/>
            <a:ext cx="5600700" cy="704850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2078236"/>
            <a:ext cx="419100" cy="41910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794891" y="2140148"/>
            <a:ext cx="290959" cy="3571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spcBef>
                <a:spcPts val="15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7"/>
          <p:cNvSpPr txBox="1"/>
          <p:nvPr/>
        </p:nvSpPr>
        <p:spPr>
          <a:xfrm>
            <a:off x="1333500" y="2166417"/>
            <a:ext cx="2457748" cy="3412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88"/>
              </a:lnSpc>
              <a:buNone/>
            </a:pPr>
            <a:r>
              <a:rPr lang="en-US" sz="2800" b="1" dirty="0">
                <a:solidFill>
                  <a:srgbClr val="2927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通俗易懂</a:t>
            </a:r>
            <a:r>
              <a:rPr lang="en-US" sz="28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，少用術語</a:t>
            </a:r>
            <a:endParaRPr lang="en-US" sz="28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1925836"/>
            <a:ext cx="5600700" cy="704850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850" y="2078236"/>
            <a:ext cx="419100" cy="419100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6544121" y="2140148"/>
            <a:ext cx="294829" cy="3571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spcBef>
                <a:spcPts val="15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950" dirty="0"/>
          </a:p>
        </p:txBody>
      </p:sp>
      <p:sp>
        <p:nvSpPr>
          <p:cNvPr id="20" name="Text 9"/>
          <p:cNvSpPr txBox="1"/>
          <p:nvPr/>
        </p:nvSpPr>
        <p:spPr>
          <a:xfrm>
            <a:off x="6981825" y="2177109"/>
            <a:ext cx="3048298" cy="3412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88"/>
              </a:lnSpc>
              <a:buNone/>
            </a:pPr>
            <a:r>
              <a:rPr lang="en-US" sz="2800" b="1" dirty="0" err="1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慣用語：</a:t>
            </a:r>
            <a:r>
              <a:rPr lang="en-US" sz="2800" b="1" dirty="0" err="1">
                <a:solidFill>
                  <a:srgbClr val="2927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依我看來</a:t>
            </a:r>
            <a:r>
              <a:rPr lang="en-US" sz="2800" b="1" dirty="0">
                <a:solidFill>
                  <a:srgbClr val="2927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r>
              <a:rPr lang="zh-TW" altLang="en-US" sz="2800" b="1" dirty="0">
                <a:solidFill>
                  <a:srgbClr val="2927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約數</a:t>
            </a:r>
            <a:endParaRPr lang="en-US" sz="280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2744986"/>
            <a:ext cx="5600700" cy="704850"/>
          </a:xfrm>
          <a:prstGeom prst="rect">
            <a:avLst/>
          </a:prstGeom>
        </p:spPr>
      </p:pic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897386"/>
            <a:ext cx="419100" cy="419100"/>
          </a:xfrm>
          <a:prstGeom prst="rect">
            <a:avLst/>
          </a:prstGeom>
        </p:spPr>
      </p:pic>
      <p:sp>
        <p:nvSpPr>
          <p:cNvPr id="23" name="Text 10"/>
          <p:cNvSpPr txBox="1"/>
          <p:nvPr/>
        </p:nvSpPr>
        <p:spPr>
          <a:xfrm>
            <a:off x="797719" y="2959298"/>
            <a:ext cx="288131" cy="3571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spcBef>
                <a:spcPts val="15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950" dirty="0"/>
          </a:p>
        </p:txBody>
      </p:sp>
      <p:sp>
        <p:nvSpPr>
          <p:cNvPr id="24" name="Text 11"/>
          <p:cNvSpPr txBox="1"/>
          <p:nvPr/>
        </p:nvSpPr>
        <p:spPr>
          <a:xfrm>
            <a:off x="1199703" y="2992636"/>
            <a:ext cx="3581698" cy="3412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88"/>
              </a:lnSpc>
              <a:buNone/>
            </a:pPr>
            <a:r>
              <a:rPr lang="en-US" sz="28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短句詞串：</a:t>
            </a:r>
            <a:r>
              <a:rPr lang="en-US" sz="2800" b="1" dirty="0">
                <a:solidFill>
                  <a:srgbClr val="2927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你還別說、太好了</a:t>
            </a:r>
            <a:endParaRPr lang="en-US" sz="280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2744986"/>
            <a:ext cx="5600700" cy="704850"/>
          </a:xfrm>
          <a:prstGeom prst="rect">
            <a:avLst/>
          </a:prstGeom>
        </p:spPr>
      </p:pic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850" y="2897386"/>
            <a:ext cx="419100" cy="419100"/>
          </a:xfrm>
          <a:prstGeom prst="rect">
            <a:avLst/>
          </a:prstGeom>
        </p:spPr>
      </p:pic>
      <p:sp>
        <p:nvSpPr>
          <p:cNvPr id="27" name="Text 12"/>
          <p:cNvSpPr txBox="1"/>
          <p:nvPr/>
        </p:nvSpPr>
        <p:spPr>
          <a:xfrm>
            <a:off x="6547396" y="2959298"/>
            <a:ext cx="291554" cy="3571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spcBef>
                <a:spcPts val="15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950" dirty="0"/>
          </a:p>
        </p:txBody>
      </p:sp>
      <p:sp>
        <p:nvSpPr>
          <p:cNvPr id="28" name="Text 13"/>
          <p:cNvSpPr txBox="1"/>
          <p:nvPr/>
        </p:nvSpPr>
        <p:spPr>
          <a:xfrm>
            <a:off x="7086600" y="2936304"/>
            <a:ext cx="2191048" cy="3412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88"/>
              </a:lnSpc>
              <a:buNone/>
            </a:pPr>
            <a:r>
              <a:rPr lang="en-US" sz="2800" b="1" dirty="0">
                <a:solidFill>
                  <a:srgbClr val="2927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倒裝句</a:t>
            </a:r>
            <a:r>
              <a:rPr lang="en-US" sz="28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：突出重點</a:t>
            </a:r>
            <a:endParaRPr lang="en-US" sz="2800" dirty="0"/>
          </a:p>
        </p:txBody>
      </p:sp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3564136"/>
            <a:ext cx="5600700" cy="704850"/>
          </a:xfrm>
          <a:prstGeom prst="rect">
            <a:avLst/>
          </a:prstGeom>
        </p:spPr>
      </p:pic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3716536"/>
            <a:ext cx="419100" cy="419100"/>
          </a:xfrm>
          <a:prstGeom prst="rect">
            <a:avLst/>
          </a:prstGeom>
        </p:spPr>
      </p:pic>
      <p:sp>
        <p:nvSpPr>
          <p:cNvPr id="31" name="Text 14"/>
          <p:cNvSpPr txBox="1"/>
          <p:nvPr/>
        </p:nvSpPr>
        <p:spPr>
          <a:xfrm>
            <a:off x="803374" y="3778448"/>
            <a:ext cx="282476" cy="3571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spcBef>
                <a:spcPts val="15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950" dirty="0"/>
          </a:p>
        </p:txBody>
      </p:sp>
      <p:sp>
        <p:nvSpPr>
          <p:cNvPr id="32" name="Text 15"/>
          <p:cNvSpPr txBox="1"/>
          <p:nvPr/>
        </p:nvSpPr>
        <p:spPr>
          <a:xfrm>
            <a:off x="1203268" y="3786410"/>
            <a:ext cx="3048298" cy="3412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88"/>
              </a:lnSpc>
              <a:buNone/>
            </a:pPr>
            <a:r>
              <a:rPr lang="en-US" sz="28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嘆詞語氣詞：</a:t>
            </a:r>
            <a:r>
              <a:rPr lang="en-US" sz="2800" b="1" dirty="0">
                <a:solidFill>
                  <a:srgbClr val="2927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啊、呢、嘛</a:t>
            </a:r>
            <a:endParaRPr lang="en-US" sz="2800" dirty="0"/>
          </a:p>
        </p:txBody>
      </p:sp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3564136"/>
            <a:ext cx="5600700" cy="704850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850" y="3716536"/>
            <a:ext cx="419100" cy="419100"/>
          </a:xfrm>
          <a:prstGeom prst="rect">
            <a:avLst/>
          </a:prstGeom>
        </p:spPr>
      </p:pic>
      <p:sp>
        <p:nvSpPr>
          <p:cNvPr id="35" name="Text 16"/>
          <p:cNvSpPr txBox="1"/>
          <p:nvPr/>
        </p:nvSpPr>
        <p:spPr>
          <a:xfrm>
            <a:off x="6547098" y="3778448"/>
            <a:ext cx="291852" cy="3571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spcBef>
                <a:spcPts val="15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950" dirty="0"/>
          </a:p>
        </p:txBody>
      </p:sp>
      <p:sp>
        <p:nvSpPr>
          <p:cNvPr id="36" name="Text 17"/>
          <p:cNvSpPr txBox="1"/>
          <p:nvPr/>
        </p:nvSpPr>
        <p:spPr>
          <a:xfrm>
            <a:off x="7038975" y="3755454"/>
            <a:ext cx="2991148" cy="3412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88"/>
              </a:lnSpc>
              <a:buNone/>
            </a:pPr>
            <a:r>
              <a:rPr lang="en-US" sz="2800" b="1" dirty="0">
                <a:solidFill>
                  <a:srgbClr val="2927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態勢語</a:t>
            </a:r>
            <a:r>
              <a:rPr lang="en-US" sz="28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：動作＋表情補充</a:t>
            </a:r>
            <a:endParaRPr lang="en-US" sz="2800" dirty="0"/>
          </a:p>
        </p:txBody>
      </p:sp>
      <p:sp>
        <p:nvSpPr>
          <p:cNvPr id="37" name="Text 18"/>
          <p:cNvSpPr txBox="1"/>
          <p:nvPr/>
        </p:nvSpPr>
        <p:spPr>
          <a:xfrm>
            <a:off x="419100" y="6305550"/>
            <a:ext cx="11353800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75"/>
              </a:lnSpc>
              <a:buNone/>
            </a:pPr>
            <a:r>
              <a:rPr lang="en-US" sz="1650" b="1" kern="0" spc="66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</a:t>
            </a:r>
            <a:r>
              <a:rPr lang="en-US" sz="1650" b="1" kern="0" spc="66" dirty="0" err="1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記住：口語是說給耳朵聽的，不是用眼睛看的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0550" y="400050"/>
            <a:ext cx="11144250" cy="5399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3"/>
              </a:lnSpc>
              <a:buNone/>
            </a:pPr>
            <a:r>
              <a:rPr lang="en-US" sz="4050" b="1" dirty="0">
                <a:solidFill>
                  <a:srgbClr val="FFFFFF"/>
                </a:solidFill>
                <a:highlight>
                  <a:srgbClr val="BE885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口語表達</a:t>
            </a:r>
            <a:r>
              <a:rPr lang="en-US" sz="405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5大要求 ⭐️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1448"/>
            <a:ext cx="5534025" cy="54036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07128" y="1394345"/>
            <a:ext cx="3971776" cy="4667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highlight>
                  <a:srgbClr val="2C2A3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怎麼說</a:t>
            </a:r>
            <a:r>
              <a:rPr 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700" b="1" u="sng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自然說，不要背 </a:t>
            </a:r>
            <a:r>
              <a:rPr 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🚫📄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0258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16918" y="2103388"/>
            <a:ext cx="354657" cy="351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9"/>
              </a:lnSpc>
              <a:buNone/>
            </a:pP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endParaRPr lang="en-US" sz="1950" dirty="0"/>
          </a:p>
        </p:txBody>
      </p:sp>
      <p:sp>
        <p:nvSpPr>
          <p:cNvPr id="7" name="Text 3"/>
          <p:cNvSpPr txBox="1"/>
          <p:nvPr/>
        </p:nvSpPr>
        <p:spPr>
          <a:xfrm>
            <a:off x="1333500" y="2025848"/>
            <a:ext cx="4371975" cy="9295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60"/>
              </a:lnSpc>
              <a:buNone/>
            </a:pPr>
            <a:r>
              <a:rPr lang="en-US" sz="30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不要賣弄詞藻</a:t>
            </a: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3000" b="1" dirty="0">
                <a:solidFill>
                  <a:srgbClr val="BE8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br>
              <a:rPr lang="en-US" sz="3000" b="1" dirty="0">
                <a:solidFill>
                  <a:srgbClr val="BE8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要自然生動、幽默大方</a:t>
            </a:r>
            <a:endParaRPr lang="en-US" sz="3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3069729"/>
            <a:ext cx="457200" cy="457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6918" y="3147268"/>
            <a:ext cx="354657" cy="351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9"/>
              </a:lnSpc>
              <a:buNone/>
            </a:pP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🚫</a:t>
            </a:r>
            <a:endParaRPr lang="en-US" sz="1950" dirty="0"/>
          </a:p>
        </p:txBody>
      </p:sp>
      <p:sp>
        <p:nvSpPr>
          <p:cNvPr id="10" name="Text 5"/>
          <p:cNvSpPr txBox="1"/>
          <p:nvPr/>
        </p:nvSpPr>
        <p:spPr>
          <a:xfrm>
            <a:off x="1333500" y="3131642"/>
            <a:ext cx="4371975" cy="9295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60"/>
              </a:lnSpc>
              <a:buNone/>
            </a:pPr>
            <a:r>
              <a:rPr lang="en-US" sz="30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切忌看稿直唸</a:t>
            </a: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b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30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或機械背誦</a:t>
            </a:r>
            <a:endParaRPr lang="en-US" sz="3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290010"/>
            <a:ext cx="457200" cy="4572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94221" y="4353495"/>
            <a:ext cx="354657" cy="351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9"/>
              </a:lnSpc>
              <a:buNone/>
            </a:pP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950" dirty="0"/>
          </a:p>
        </p:txBody>
      </p:sp>
      <p:sp>
        <p:nvSpPr>
          <p:cNvPr id="13" name="Text 7"/>
          <p:cNvSpPr txBox="1"/>
          <p:nvPr/>
        </p:nvSpPr>
        <p:spPr>
          <a:xfrm>
            <a:off x="1339602" y="4298830"/>
            <a:ext cx="1905000" cy="929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60"/>
              </a:lnSpc>
              <a:buNone/>
            </a:pPr>
            <a:r>
              <a:rPr lang="en-US" sz="30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可以按提綱把話說出來</a:t>
            </a:r>
            <a:endParaRPr lang="en-US" sz="3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5195590"/>
            <a:ext cx="3349377" cy="4953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76300" y="5300365"/>
            <a:ext cx="3082677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spcBef>
                <a:spcPts val="150"/>
              </a:spcBef>
              <a:buNone/>
            </a:pPr>
            <a:r>
              <a:rPr lang="en-US" sz="1800" b="1" dirty="0">
                <a:solidFill>
                  <a:srgbClr val="6B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像聊天一樣真誠，最打動人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0775" y="1111448"/>
            <a:ext cx="5534025" cy="5403652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223687" y="1425773"/>
            <a:ext cx="3762226" cy="4667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highlight>
                  <a:srgbClr val="1F3A5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怎麼呈現</a:t>
            </a:r>
            <a:r>
              <a:rPr 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700" b="1" u="sng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響亮＋有重點 </a:t>
            </a:r>
            <a:r>
              <a:rPr 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🎤👀</a:t>
            </a:r>
            <a:endParaRPr lang="en-US" sz="16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025848"/>
            <a:ext cx="457200" cy="45720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6560493" y="2103388"/>
            <a:ext cx="354657" cy="351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9"/>
              </a:lnSpc>
              <a:buNone/>
            </a:pP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🔊</a:t>
            </a:r>
            <a:endParaRPr lang="en-US" sz="1950" dirty="0"/>
          </a:p>
        </p:txBody>
      </p:sp>
      <p:sp>
        <p:nvSpPr>
          <p:cNvPr id="20" name="Text 11"/>
          <p:cNvSpPr txBox="1"/>
          <p:nvPr/>
        </p:nvSpPr>
        <p:spPr>
          <a:xfrm>
            <a:off x="7077075" y="2025848"/>
            <a:ext cx="4371975" cy="9295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60"/>
              </a:lnSpc>
              <a:buNone/>
            </a:pPr>
            <a:r>
              <a:rPr lang="en-US" sz="30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聲音響亮，抑揚頓挫</a:t>
            </a: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b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30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輕重適宜</a:t>
            </a:r>
            <a:endParaRPr lang="en-US" sz="30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3104193"/>
            <a:ext cx="457200" cy="45720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6548122" y="3192462"/>
            <a:ext cx="354657" cy="351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9"/>
              </a:lnSpc>
              <a:buNone/>
            </a:pP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endParaRPr lang="en-US" sz="1950" dirty="0"/>
          </a:p>
        </p:txBody>
      </p:sp>
      <p:sp>
        <p:nvSpPr>
          <p:cNvPr id="23" name="Text 13"/>
          <p:cNvSpPr txBox="1"/>
          <p:nvPr/>
        </p:nvSpPr>
        <p:spPr>
          <a:xfrm>
            <a:off x="7077074" y="3146913"/>
            <a:ext cx="4371975" cy="9295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60"/>
              </a:lnSpc>
              <a:buNone/>
            </a:pPr>
            <a:r>
              <a:rPr lang="en-US" sz="30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注意層次、重點</a:t>
            </a: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b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30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說服打動聽眾</a:t>
            </a:r>
            <a:endParaRPr lang="en-US" sz="30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4209368"/>
            <a:ext cx="457200" cy="45720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6554614" y="4290010"/>
            <a:ext cx="354657" cy="351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9"/>
              </a:lnSpc>
              <a:buNone/>
            </a:pP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💛</a:t>
            </a:r>
            <a:endParaRPr lang="en-US" sz="1950" dirty="0"/>
          </a:p>
        </p:txBody>
      </p:sp>
      <p:sp>
        <p:nvSpPr>
          <p:cNvPr id="26" name="Text 15"/>
          <p:cNvSpPr txBox="1"/>
          <p:nvPr/>
        </p:nvSpPr>
        <p:spPr>
          <a:xfrm>
            <a:off x="7077073" y="4258627"/>
            <a:ext cx="4371975" cy="9295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60"/>
              </a:lnSpc>
              <a:buNone/>
            </a:pPr>
            <a:r>
              <a:rPr lang="en-US" sz="30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語氣＋誠懇儀態</a:t>
            </a: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＋</a:t>
            </a:r>
            <a:b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30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眼神交流</a:t>
            </a:r>
            <a:endParaRPr lang="en-US" sz="30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525" y="5300365"/>
            <a:ext cx="2927003" cy="49530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6619875" y="5374598"/>
            <a:ext cx="2660303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spcBef>
                <a:spcPts val="150"/>
              </a:spcBef>
              <a:buNone/>
            </a:pPr>
            <a:r>
              <a:rPr lang="en-US" sz="1800" b="1" dirty="0">
                <a:solidFill>
                  <a:srgbClr val="1F3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眼神接觸 = 信任感加分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9080"/>
            <a:ext cx="6066383" cy="6076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85"/>
              </a:lnSpc>
              <a:buNone/>
            </a:pPr>
            <a:r>
              <a:rPr lang="en-US" sz="4350" b="1" dirty="0">
                <a:solidFill>
                  <a:srgbClr val="BE8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為什麼</a:t>
            </a:r>
            <a:r>
              <a:rPr lang="en-US" sz="435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會緊張？😥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8196"/>
            <a:ext cx="6066383" cy="12001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66750" y="1880146"/>
            <a:ext cx="1426220" cy="523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👨‍👩‍👧‍👦➡️👥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2380655" y="1689646"/>
            <a:ext cx="2743349" cy="8572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3A2E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親友面前不緊張</a:t>
            </a:r>
            <a:endParaRPr lang="en-US" sz="2700" dirty="0"/>
          </a:p>
          <a:p>
            <a:pPr marL="0" indent="0" algn="l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3A2E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陌生人面前就緊張</a:t>
            </a:r>
            <a:endParaRPr lang="en-US" sz="2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89796"/>
            <a:ext cx="2966442" cy="838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8175" y="3099346"/>
            <a:ext cx="427881" cy="4667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🥵</a:t>
            </a:r>
            <a:endParaRPr lang="en-US" sz="2700" dirty="0"/>
          </a:p>
        </p:txBody>
      </p:sp>
      <p:sp>
        <p:nvSpPr>
          <p:cNvPr id="8" name="Text 4"/>
          <p:cNvSpPr txBox="1"/>
          <p:nvPr/>
        </p:nvSpPr>
        <p:spPr>
          <a:xfrm>
            <a:off x="1355069" y="3184997"/>
            <a:ext cx="12193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面紅耳熱</a:t>
            </a:r>
            <a:endParaRPr lang="en-US" sz="2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992" y="2889796"/>
            <a:ext cx="2966591" cy="838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737967" y="3099346"/>
            <a:ext cx="427881" cy="4667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💓</a:t>
            </a:r>
            <a:endParaRPr lang="en-US" sz="2700" dirty="0"/>
          </a:p>
        </p:txBody>
      </p:sp>
      <p:sp>
        <p:nvSpPr>
          <p:cNvPr id="11" name="Text 6"/>
          <p:cNvSpPr txBox="1"/>
          <p:nvPr/>
        </p:nvSpPr>
        <p:spPr>
          <a:xfrm>
            <a:off x="4454861" y="3201778"/>
            <a:ext cx="12193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心跳加速</a:t>
            </a:r>
            <a:endParaRPr lang="en-US" sz="2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61346"/>
            <a:ext cx="2966442" cy="8382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38175" y="4070896"/>
            <a:ext cx="427881" cy="4667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💦</a:t>
            </a:r>
            <a:endParaRPr lang="en-US" sz="2700" dirty="0"/>
          </a:p>
        </p:txBody>
      </p:sp>
      <p:sp>
        <p:nvSpPr>
          <p:cNvPr id="14" name="Text 8"/>
          <p:cNvSpPr txBox="1"/>
          <p:nvPr/>
        </p:nvSpPr>
        <p:spPr>
          <a:xfrm>
            <a:off x="1409105" y="4129013"/>
            <a:ext cx="12193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手心冒汗</a:t>
            </a:r>
            <a:endParaRPr lang="en-US" sz="2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6992" y="3861346"/>
            <a:ext cx="2966591" cy="8382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737967" y="4070896"/>
            <a:ext cx="427881" cy="4667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😣</a:t>
            </a:r>
            <a:endParaRPr lang="en-US" sz="2700" dirty="0"/>
          </a:p>
        </p:txBody>
      </p:sp>
      <p:sp>
        <p:nvSpPr>
          <p:cNvPr id="17" name="Text 10"/>
          <p:cNvSpPr txBox="1"/>
          <p:nvPr/>
        </p:nvSpPr>
        <p:spPr>
          <a:xfrm>
            <a:off x="4508897" y="4129013"/>
            <a:ext cx="12193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四肢顫抖</a:t>
            </a:r>
            <a:endParaRPr lang="en-US" sz="2400" dirty="0"/>
          </a:p>
        </p:txBody>
      </p:sp>
      <p:sp>
        <p:nvSpPr>
          <p:cNvPr id="18" name="Shape 11"/>
          <p:cNvSpPr/>
          <p:nvPr/>
        </p:nvSpPr>
        <p:spPr>
          <a:xfrm>
            <a:off x="457200" y="4867275"/>
            <a:ext cx="6067425" cy="1247775"/>
          </a:xfrm>
          <a:prstGeom prst="roundRect">
            <a:avLst>
              <a:gd name="adj" fmla="val 16794"/>
            </a:avLst>
          </a:prstGeom>
          <a:solidFill>
            <a:srgbClr val="BE885A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666750" y="5042446"/>
            <a:ext cx="5647283" cy="904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 </a:t>
            </a:r>
            <a:r>
              <a:rPr lang="en-US" sz="2850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關鍵：恐懼是可以通過</a:t>
            </a:r>
            <a:b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</a:t>
            </a:r>
            <a:r>
              <a:rPr lang="en-US" sz="2850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加強自信心和調整心態來克服的</a:t>
            </a:r>
            <a:endParaRPr lang="en-US" sz="28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1233" y="476250"/>
            <a:ext cx="4963567" cy="5905500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3633" y="674191"/>
            <a:ext cx="4658767" cy="4928592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9127" y="5117008"/>
            <a:ext cx="3005286" cy="48577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8038065" y="5193207"/>
            <a:ext cx="2700486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緊張冒汗 → 自信微笑 ✨</a:t>
            </a:r>
            <a:endParaRPr lang="en-US" sz="195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20286DE-0ED5-4A38-99FB-5B4E6B11334F}"/>
              </a:ext>
            </a:extLst>
          </p:cNvPr>
          <p:cNvSpPr txBox="1"/>
          <p:nvPr/>
        </p:nvSpPr>
        <p:spPr>
          <a:xfrm>
            <a:off x="9553628" y="55441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記得</a:t>
            </a:r>
            <a:r>
              <a:rPr lang="en-HK" altLang="zh-TW" dirty="0">
                <a:latin typeface="KaiTi" panose="02010609060101010101" pitchFamily="49" charset="-122"/>
                <a:ea typeface="KaiTi" panose="02010609060101010101" pitchFamily="49" charset="-122"/>
              </a:rPr>
              <a:t>:</a:t>
            </a:r>
            <a:r>
              <a:rPr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破折號有</a:t>
            </a:r>
            <a:r>
              <a:rPr lang="en-HK" altLang="zh-TW" dirty="0">
                <a:latin typeface="KaiTi" panose="02010609060101010101" pitchFamily="49" charset="-122"/>
                <a:ea typeface="KaiTi" panose="02010609060101010101" pitchFamily="49" charset="-122"/>
              </a:rPr>
              <a:t>6</a:t>
            </a:r>
            <a:r>
              <a:rPr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點</a:t>
            </a:r>
            <a:endParaRPr lang="en-HK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0550" y="391307"/>
            <a:ext cx="11144250" cy="56004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dirty="0" err="1">
                <a:solidFill>
                  <a:srgbClr val="FFFFFF"/>
                </a:solidFill>
                <a:highlight>
                  <a:srgbClr val="BE885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建立自信心</a:t>
            </a:r>
            <a:r>
              <a:rPr lang="en-US" sz="420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zh-TW" altLang="en-US" sz="420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４</a:t>
            </a:r>
            <a:r>
              <a:rPr lang="en-US" sz="420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招 💪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2490"/>
            <a:ext cx="5553075" cy="23392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1322040"/>
            <a:ext cx="609600" cy="6858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06661" y="1398240"/>
            <a:ext cx="407789" cy="571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 b="1" dirty="0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2"/>
          <p:cNvSpPr txBox="1"/>
          <p:nvPr/>
        </p:nvSpPr>
        <p:spPr>
          <a:xfrm>
            <a:off x="1485900" y="1445043"/>
            <a:ext cx="4295775" cy="4381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450"/>
              </a:spcAft>
              <a:buNone/>
            </a:pPr>
            <a:r>
              <a:rPr lang="en-US" sz="3000" b="1" u="sng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豐富學識</a:t>
            </a: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📚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1270661" y="2127713"/>
            <a:ext cx="4684814" cy="99463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2400" b="1" dirty="0" err="1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專業知識＋百科知識＋演說知識</a:t>
            </a:r>
            <a:r>
              <a:rPr lang="en-US" sz="2400" b="1" dirty="0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br>
              <a:rPr lang="en-US" sz="2400" b="1" dirty="0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br>
              <a:rPr lang="en-US" sz="2400" b="1" dirty="0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400" b="1" dirty="0" err="1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肚子有料就不慌</a:t>
            </a:r>
            <a:endParaRPr lang="en-US" sz="2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1112490"/>
            <a:ext cx="5553075" cy="233928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1322040"/>
            <a:ext cx="609600" cy="6858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631186" y="1398240"/>
            <a:ext cx="407789" cy="571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 b="1" dirty="0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5"/>
          <p:cNvSpPr txBox="1"/>
          <p:nvPr/>
        </p:nvSpPr>
        <p:spPr>
          <a:xfrm>
            <a:off x="7191375" y="1506736"/>
            <a:ext cx="4210199" cy="4381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450"/>
              </a:spcAft>
              <a:buNone/>
            </a:pPr>
            <a:r>
              <a:rPr lang="en-US" sz="3000" b="1" u="sng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充份準備</a:t>
            </a: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📝</a:t>
            </a:r>
            <a:endParaRPr lang="en-US" sz="3000" dirty="0"/>
          </a:p>
        </p:txBody>
      </p:sp>
      <p:sp>
        <p:nvSpPr>
          <p:cNvPr id="12" name="Text 6"/>
          <p:cNvSpPr txBox="1"/>
          <p:nvPr/>
        </p:nvSpPr>
        <p:spPr>
          <a:xfrm>
            <a:off x="7276951" y="2211861"/>
            <a:ext cx="4210199" cy="3123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2400" b="1" dirty="0" err="1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熟讀資料和講稿</a:t>
            </a:r>
            <a:r>
              <a:rPr lang="en-US" sz="2400" b="1" dirty="0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br>
              <a:rPr lang="en-US" sz="2400" b="1" dirty="0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br>
              <a:rPr lang="en-US" sz="2400" b="1" dirty="0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400" b="1" dirty="0" err="1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了解內容及對象是誰</a:t>
            </a:r>
            <a:endParaRPr lang="en-US" sz="2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634836"/>
            <a:ext cx="5553075" cy="233942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3832771"/>
            <a:ext cx="609600" cy="6858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906661" y="3908971"/>
            <a:ext cx="407789" cy="571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 b="1" dirty="0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3</a:t>
            </a:r>
            <a:endParaRPr lang="en-US" sz="2700" dirty="0"/>
          </a:p>
        </p:txBody>
      </p:sp>
      <p:sp>
        <p:nvSpPr>
          <p:cNvPr id="16" name="Text 8"/>
          <p:cNvSpPr txBox="1"/>
          <p:nvPr/>
        </p:nvSpPr>
        <p:spPr>
          <a:xfrm>
            <a:off x="1465180" y="3965941"/>
            <a:ext cx="4295775" cy="4381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450"/>
              </a:spcAft>
              <a:buNone/>
            </a:pPr>
            <a:r>
              <a:rPr lang="en-US" sz="3000" b="1" u="sng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有備無患</a:t>
            </a: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🛡️</a:t>
            </a:r>
            <a:endParaRPr lang="en-US" sz="3000" dirty="0"/>
          </a:p>
        </p:txBody>
      </p:sp>
      <p:sp>
        <p:nvSpPr>
          <p:cNvPr id="17" name="Text 9"/>
          <p:cNvSpPr txBox="1"/>
          <p:nvPr/>
        </p:nvSpPr>
        <p:spPr>
          <a:xfrm>
            <a:off x="1381125" y="4657566"/>
            <a:ext cx="4295775" cy="63430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2400" b="1" dirty="0" err="1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預先設想幾道難題，想好答案</a:t>
            </a:r>
            <a:r>
              <a:rPr lang="en-US" sz="2400" b="1" dirty="0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br>
              <a:rPr lang="en-US" sz="2400" b="1" dirty="0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br>
              <a:rPr lang="en-US" sz="2400" b="1" dirty="0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400" b="1" dirty="0" err="1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心裡踏實</a:t>
            </a:r>
            <a:endParaRPr lang="en-US" sz="2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725" y="3623221"/>
            <a:ext cx="5553075" cy="2339429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3832771"/>
            <a:ext cx="609600" cy="68580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6631186" y="3908971"/>
            <a:ext cx="407789" cy="571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 b="1" dirty="0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4</a:t>
            </a:r>
            <a:endParaRPr lang="en-US" sz="2700" dirty="0"/>
          </a:p>
        </p:txBody>
      </p:sp>
      <p:sp>
        <p:nvSpPr>
          <p:cNvPr id="21" name="Text 11"/>
          <p:cNvSpPr txBox="1"/>
          <p:nvPr/>
        </p:nvSpPr>
        <p:spPr>
          <a:xfrm>
            <a:off x="7210425" y="3986137"/>
            <a:ext cx="4295775" cy="4381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450"/>
              </a:spcAft>
              <a:buNone/>
            </a:pPr>
            <a:r>
              <a:rPr lang="en-US" sz="3000" b="1" u="sng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多觀摩、多講 </a:t>
            </a:r>
            <a:r>
              <a:rPr lang="en-US" sz="30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🎤</a:t>
            </a:r>
            <a:endParaRPr lang="en-US" sz="3000" dirty="0"/>
          </a:p>
        </p:txBody>
      </p:sp>
      <p:sp>
        <p:nvSpPr>
          <p:cNvPr id="22" name="Text 12"/>
          <p:cNvSpPr txBox="1"/>
          <p:nvPr/>
        </p:nvSpPr>
        <p:spPr>
          <a:xfrm>
            <a:off x="7191375" y="4724991"/>
            <a:ext cx="4295775" cy="63430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2400" b="1" dirty="0" err="1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工多藝熟，多看他人演說</a:t>
            </a:r>
            <a:r>
              <a:rPr lang="en-US" sz="2400" b="1" dirty="0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br>
              <a:rPr lang="en-US" sz="2400" b="1" dirty="0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br>
              <a:rPr lang="en-US" sz="2400" b="1" dirty="0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400" b="1" dirty="0" err="1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多站上台練習</a:t>
            </a:r>
            <a:endParaRPr lang="en-US" sz="2400" dirty="0"/>
          </a:p>
        </p:txBody>
      </p:sp>
      <p:sp>
        <p:nvSpPr>
          <p:cNvPr id="23" name="Text 13"/>
          <p:cNvSpPr txBox="1"/>
          <p:nvPr/>
        </p:nvSpPr>
        <p:spPr>
          <a:xfrm>
            <a:off x="457200" y="6162675"/>
            <a:ext cx="11277600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⭐️ </a:t>
            </a:r>
            <a:r>
              <a:rPr lang="en-US" sz="1800" b="1" dirty="0" err="1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重點：自信不</a:t>
            </a:r>
            <a:r>
              <a:rPr lang="zh-TW" altLang="en-US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盡然</a:t>
            </a:r>
            <a:r>
              <a:rPr lang="en-US" sz="1800" b="1" dirty="0" err="1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是天生，是</a:t>
            </a:r>
            <a:r>
              <a:rPr lang="zh-TW" altLang="en-US" sz="180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可以</a:t>
            </a:r>
            <a:r>
              <a:rPr lang="zh-TW" altLang="en-US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訓</a:t>
            </a:r>
            <a:r>
              <a:rPr lang="en-US" sz="1800" b="1" dirty="0" err="1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出來的</a:t>
            </a:r>
            <a:r>
              <a:rPr lang="en-US" sz="180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！⭐️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00" cy="6858000"/>
          </a:xfrm>
          <a:prstGeom prst="rect">
            <a:avLst/>
          </a:prstGeom>
          <a:solidFill>
            <a:srgbClr val="FFFB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133350"/>
            <a:ext cx="1724471" cy="533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14325" y="285750"/>
            <a:ext cx="1362521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😮‍💨 → 😊 深呼吸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" y="171450"/>
            <a:ext cx="6362700" cy="65151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677025" y="0"/>
            <a:ext cx="5486400" cy="6858000"/>
          </a:xfrm>
          <a:prstGeom prst="rect">
            <a:avLst/>
          </a:prstGeom>
          <a:solidFill>
            <a:srgbClr val="29273A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538311"/>
            <a:ext cx="2324249" cy="75247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200751" y="709761"/>
            <a:ext cx="1981349" cy="600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highlight>
                  <a:srgbClr val="BE885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保持鎮定</a:t>
            </a:r>
            <a:endParaRPr lang="en-US" sz="3900" dirty="0"/>
          </a:p>
        </p:txBody>
      </p:sp>
      <p:sp>
        <p:nvSpPr>
          <p:cNvPr id="9" name="Text 4"/>
          <p:cNvSpPr txBox="1"/>
          <p:nvPr/>
        </p:nvSpPr>
        <p:spPr>
          <a:xfrm>
            <a:off x="10745986" y="934617"/>
            <a:ext cx="800100" cy="590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660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🧘</a:t>
            </a:r>
            <a:endParaRPr lang="en-US" sz="6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00311"/>
            <a:ext cx="3640485" cy="46672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162800" y="1405086"/>
            <a:ext cx="3335685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5A42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 </a:t>
            </a:r>
            <a:r>
              <a:rPr lang="en-US" sz="1650" b="1" dirty="0" err="1">
                <a:solidFill>
                  <a:srgbClr val="5A42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穩定心態</a:t>
            </a:r>
            <a:r>
              <a:rPr lang="zh-TW" altLang="en-US" sz="1650" b="1" dirty="0">
                <a:solidFill>
                  <a:srgbClr val="5A42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５</a:t>
            </a:r>
            <a:r>
              <a:rPr lang="en-US" sz="1650" b="1" dirty="0">
                <a:solidFill>
                  <a:srgbClr val="5A42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招</a:t>
            </a:r>
            <a:endParaRPr lang="en-US" sz="16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1900386"/>
            <a:ext cx="4876800" cy="803821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2102197"/>
            <a:ext cx="400050" cy="40005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7392739" y="2173635"/>
            <a:ext cx="246311" cy="3286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50" dirty="0"/>
          </a:p>
        </p:txBody>
      </p:sp>
      <p:sp>
        <p:nvSpPr>
          <p:cNvPr id="15" name="Text 7"/>
          <p:cNvSpPr txBox="1"/>
          <p:nvPr/>
        </p:nvSpPr>
        <p:spPr>
          <a:xfrm>
            <a:off x="7753350" y="1995636"/>
            <a:ext cx="2857500" cy="61332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挺胸收腹，慢慢深呼吸</a:t>
            </a:r>
            <a:r>
              <a:rPr lang="en-US" sz="1650" b="1" dirty="0" err="1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吸</a:t>
            </a:r>
            <a:r>
              <a:rPr lang="en-US" sz="1650" b="1" dirty="0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 </a:t>
            </a:r>
            <a:r>
              <a:rPr lang="en-US" sz="1650" b="1" dirty="0" err="1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秒．憋</a:t>
            </a:r>
            <a:r>
              <a:rPr lang="en-US" sz="1650" b="1" dirty="0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2秒．吐 6 秒</a:t>
            </a:r>
            <a:endParaRPr lang="en-US" sz="22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2799457"/>
            <a:ext cx="4876800" cy="803821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0" y="3001268"/>
            <a:ext cx="400050" cy="400050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7372201" y="3072705"/>
            <a:ext cx="266849" cy="3286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9"/>
          <p:cNvSpPr txBox="1"/>
          <p:nvPr/>
        </p:nvSpPr>
        <p:spPr>
          <a:xfrm>
            <a:off x="7753350" y="2894707"/>
            <a:ext cx="3143250" cy="61332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轉移注意力，想愉快的事</a:t>
            </a:r>
            <a:r>
              <a:rPr lang="en-US" sz="1650" b="1" dirty="0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想超開心的回憶 ✨</a:t>
            </a:r>
            <a:endParaRPr lang="en-US" sz="225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0400" y="3698528"/>
            <a:ext cx="4876800" cy="803821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0" y="3900339"/>
            <a:ext cx="400050" cy="400050"/>
          </a:xfrm>
          <a:prstGeom prst="rect">
            <a:avLst/>
          </a:prstGeom>
        </p:spPr>
      </p:pic>
      <p:sp>
        <p:nvSpPr>
          <p:cNvPr id="22" name="Text 10"/>
          <p:cNvSpPr txBox="1"/>
          <p:nvPr/>
        </p:nvSpPr>
        <p:spPr>
          <a:xfrm>
            <a:off x="7370118" y="3971776"/>
            <a:ext cx="268932" cy="3286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11"/>
          <p:cNvSpPr txBox="1"/>
          <p:nvPr/>
        </p:nvSpPr>
        <p:spPr>
          <a:xfrm>
            <a:off x="7753350" y="3793778"/>
            <a:ext cx="2724299" cy="61332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看鼻子不看眼睛</a:t>
            </a: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👃</a:t>
            </a:r>
            <a:b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650" b="1" dirty="0" err="1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權宜之計，還是要</a:t>
            </a:r>
            <a:r>
              <a:rPr lang="zh-TW" altLang="en-US" sz="1650" b="1" dirty="0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</a:t>
            </a:r>
            <a:r>
              <a:rPr lang="en-US" sz="1650" b="1" dirty="0" err="1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眼神接觸</a:t>
            </a:r>
            <a:endParaRPr lang="en-US" sz="225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4597598"/>
            <a:ext cx="4876800" cy="803821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0" y="4799409"/>
            <a:ext cx="400050" cy="400050"/>
          </a:xfrm>
          <a:prstGeom prst="rect">
            <a:avLst/>
          </a:prstGeom>
        </p:spPr>
      </p:pic>
      <p:sp>
        <p:nvSpPr>
          <p:cNvPr id="26" name="Text 12"/>
          <p:cNvSpPr txBox="1"/>
          <p:nvPr/>
        </p:nvSpPr>
        <p:spPr>
          <a:xfrm>
            <a:off x="7366843" y="4870847"/>
            <a:ext cx="272207" cy="3286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50" dirty="0"/>
          </a:p>
        </p:txBody>
      </p:sp>
      <p:sp>
        <p:nvSpPr>
          <p:cNvPr id="27" name="Text 13"/>
          <p:cNvSpPr txBox="1"/>
          <p:nvPr/>
        </p:nvSpPr>
        <p:spPr>
          <a:xfrm>
            <a:off x="7753350" y="4692848"/>
            <a:ext cx="2514749" cy="61332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準備提示卡記重點</a:t>
            </a:r>
            <a:b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650" b="1" dirty="0" err="1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心理慰藉，手上有卡就不慌</a:t>
            </a:r>
            <a:endParaRPr lang="en-US" sz="2250" dirty="0"/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0400" y="5496669"/>
            <a:ext cx="4876800" cy="803821"/>
          </a:xfrm>
          <a:prstGeom prst="rect">
            <a:avLst/>
          </a:prstGeom>
        </p:spPr>
      </p:pic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0" y="5698480"/>
            <a:ext cx="400050" cy="400050"/>
          </a:xfrm>
          <a:prstGeom prst="rect">
            <a:avLst/>
          </a:prstGeom>
        </p:spPr>
      </p:pic>
      <p:sp>
        <p:nvSpPr>
          <p:cNvPr id="30" name="Text 14"/>
          <p:cNvSpPr txBox="1"/>
          <p:nvPr/>
        </p:nvSpPr>
        <p:spPr>
          <a:xfrm>
            <a:off x="7372499" y="5769918"/>
            <a:ext cx="266551" cy="3286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50" dirty="0"/>
          </a:p>
        </p:txBody>
      </p:sp>
      <p:sp>
        <p:nvSpPr>
          <p:cNvPr id="31" name="Text 15"/>
          <p:cNvSpPr txBox="1"/>
          <p:nvPr/>
        </p:nvSpPr>
        <p:spPr>
          <a:xfrm>
            <a:off x="7753350" y="5591919"/>
            <a:ext cx="3087103" cy="61332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用熟悉笑話開場</a:t>
            </a: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😆</a:t>
            </a:r>
            <a:b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650" b="1" dirty="0" err="1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大家一笑，你就放鬆了</a:t>
            </a:r>
            <a:endParaRPr lang="en-US" sz="225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B07CD96-94E9-4C88-91B7-CA9664E674E0}"/>
              </a:ext>
            </a:extLst>
          </p:cNvPr>
          <p:cNvSpPr txBox="1"/>
          <p:nvPr/>
        </p:nvSpPr>
        <p:spPr>
          <a:xfrm>
            <a:off x="387432" y="6317218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記得</a:t>
            </a:r>
            <a:r>
              <a:rPr lang="en-HK" altLang="zh-TW" dirty="0">
                <a:latin typeface="KaiTi" panose="02010609060101010101" pitchFamily="49" charset="-122"/>
                <a:ea typeface="KaiTi" panose="02010609060101010101" pitchFamily="49" charset="-122"/>
              </a:rPr>
              <a:t>:</a:t>
            </a:r>
            <a:r>
              <a:rPr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破折號有</a:t>
            </a:r>
            <a:r>
              <a:rPr lang="en-HK" altLang="zh-TW" dirty="0">
                <a:latin typeface="KaiTi" panose="02010609060101010101" pitchFamily="49" charset="-122"/>
                <a:ea typeface="KaiTi" panose="02010609060101010101" pitchFamily="49" charset="-122"/>
              </a:rPr>
              <a:t>6</a:t>
            </a:r>
            <a:r>
              <a:rPr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點</a:t>
            </a:r>
            <a:endParaRPr lang="en-HK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0550" y="400050"/>
            <a:ext cx="11144250" cy="5656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5"/>
              </a:lnSpc>
              <a:buNone/>
            </a:pPr>
            <a:r>
              <a:rPr lang="en-US" sz="4050" b="1" dirty="0">
                <a:solidFill>
                  <a:srgbClr val="FFFFFF"/>
                </a:solidFill>
                <a:highlight>
                  <a:srgbClr val="BE885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聲音魔法1</a:t>
            </a:r>
            <a:r>
              <a:rPr lang="en-US" sz="405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語速 </a:t>
            </a:r>
            <a:r>
              <a:rPr lang="en-US" sz="405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🎤💨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37196"/>
            <a:ext cx="1947118" cy="28765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7700" y="1375321"/>
            <a:ext cx="1566118" cy="4667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70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2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35" y="1899196"/>
            <a:ext cx="647849" cy="39052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21135" y="1965871"/>
            <a:ext cx="419249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7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正常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647700" y="2346871"/>
            <a:ext cx="1565970" cy="8001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120-150</a:t>
            </a:r>
            <a:endParaRPr lang="en-US" sz="3150" dirty="0"/>
          </a:p>
        </p:txBody>
      </p:sp>
      <p:sp>
        <p:nvSpPr>
          <p:cNvPr id="8" name="Text 4"/>
          <p:cNvSpPr txBox="1"/>
          <p:nvPr/>
        </p:nvSpPr>
        <p:spPr>
          <a:xfrm>
            <a:off x="647700" y="3204121"/>
            <a:ext cx="1565970" cy="619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38"/>
              </a:lnSpc>
              <a:spcBef>
                <a:spcPts val="450"/>
              </a:spcBef>
              <a:buNone/>
            </a:pPr>
            <a:r>
              <a:rPr lang="en-US" sz="1950" b="1" dirty="0">
                <a:solidFill>
                  <a:srgbClr val="3A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字/分鐘</a:t>
            </a:r>
            <a:endParaRPr lang="en-US" sz="1950" dirty="0"/>
          </a:p>
          <a:p>
            <a:pPr marL="0" indent="0" algn="ctr">
              <a:lnSpc>
                <a:spcPts val="2438"/>
              </a:lnSpc>
              <a:buNone/>
            </a:pPr>
            <a:r>
              <a:rPr lang="en-US" sz="1950" b="1" dirty="0">
                <a:solidFill>
                  <a:srgbClr val="3A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最清楚</a:t>
            </a:r>
            <a:endParaRPr lang="en-US" sz="1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7668" y="1137196"/>
            <a:ext cx="1947267" cy="287655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728168" y="1375321"/>
            <a:ext cx="1566118" cy="4667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70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🏃‍♂️</a:t>
            </a:r>
            <a:endParaRPr lang="en-US" sz="2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7303" y="1899196"/>
            <a:ext cx="647849" cy="39052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301603" y="1965871"/>
            <a:ext cx="419249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7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太快</a:t>
            </a:r>
            <a:endParaRPr lang="en-US" sz="1650" dirty="0"/>
          </a:p>
        </p:txBody>
      </p:sp>
      <p:sp>
        <p:nvSpPr>
          <p:cNvPr id="13" name="Text 7"/>
          <p:cNvSpPr txBox="1"/>
          <p:nvPr/>
        </p:nvSpPr>
        <p:spPr>
          <a:xfrm>
            <a:off x="2643947" y="2600749"/>
            <a:ext cx="1566118" cy="619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342900" indent="-342900" algn="ctr">
              <a:lnSpc>
                <a:spcPts val="2438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3A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聽不懂</a:t>
            </a:r>
            <a:br>
              <a:rPr lang="en-US" sz="2000" b="1" dirty="0">
                <a:solidFill>
                  <a:srgbClr val="3A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endParaRPr lang="en-US" sz="2000" dirty="0"/>
          </a:p>
          <a:p>
            <a:pPr marL="342900" indent="-342900" algn="ctr">
              <a:lnSpc>
                <a:spcPts val="2438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A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像怯場</a:t>
            </a:r>
            <a:endParaRPr lang="en-US" sz="2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8286" y="1137196"/>
            <a:ext cx="1947267" cy="287655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808786" y="1375321"/>
            <a:ext cx="1566118" cy="4667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70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🐢</a:t>
            </a:r>
            <a:endParaRPr lang="en-US" sz="27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7920" y="1899196"/>
            <a:ext cx="647849" cy="39052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382220" y="1965871"/>
            <a:ext cx="419249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7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太慢</a:t>
            </a:r>
            <a:endParaRPr lang="en-US" sz="1650" dirty="0"/>
          </a:p>
        </p:txBody>
      </p:sp>
      <p:sp>
        <p:nvSpPr>
          <p:cNvPr id="18" name="Text 10"/>
          <p:cNvSpPr txBox="1"/>
          <p:nvPr/>
        </p:nvSpPr>
        <p:spPr>
          <a:xfrm>
            <a:off x="4656385" y="2575683"/>
            <a:ext cx="1566118" cy="619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342900" indent="-342900" algn="ctr">
              <a:lnSpc>
                <a:spcPts val="2438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950" b="1" dirty="0" err="1">
                <a:solidFill>
                  <a:srgbClr val="3A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愚蠢遲鈍</a:t>
            </a:r>
            <a:br>
              <a:rPr lang="en-US" sz="1950" b="1" dirty="0">
                <a:solidFill>
                  <a:srgbClr val="3A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endParaRPr lang="en-US" sz="1950" dirty="0"/>
          </a:p>
          <a:p>
            <a:pPr marL="342900" indent="-342900" algn="ctr">
              <a:lnSpc>
                <a:spcPts val="2438"/>
              </a:lnSpc>
              <a:buFont typeface="Arial" panose="020B0604020202020204" pitchFamily="34" charset="0"/>
              <a:buChar char="•"/>
            </a:pPr>
            <a:r>
              <a:rPr lang="en-US" sz="1950" b="1" dirty="0">
                <a:solidFill>
                  <a:srgbClr val="3A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冗長</a:t>
            </a:r>
            <a:endParaRPr lang="en-US" sz="19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313" y="4111823"/>
            <a:ext cx="6108353" cy="1771650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4356646"/>
            <a:ext cx="1478310" cy="4191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819150" y="4423321"/>
            <a:ext cx="1249710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5A42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 </a:t>
            </a:r>
            <a:r>
              <a:rPr lang="en-US" sz="1800" b="1" dirty="0" err="1">
                <a:solidFill>
                  <a:srgbClr val="5A42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重點</a:t>
            </a:r>
            <a:endParaRPr lang="en-US" sz="1800" dirty="0"/>
          </a:p>
        </p:txBody>
      </p:sp>
      <p:sp>
        <p:nvSpPr>
          <p:cNvPr id="22" name="Text 12"/>
          <p:cNvSpPr txBox="1"/>
          <p:nvPr/>
        </p:nvSpPr>
        <p:spPr>
          <a:xfrm>
            <a:off x="853982" y="4908534"/>
            <a:ext cx="5613053" cy="8572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7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在演說</a:t>
            </a:r>
            <a:r>
              <a:rPr lang="zh-TW" alt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的過程</a:t>
            </a:r>
            <a:r>
              <a:rPr 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中，</a:t>
            </a:r>
            <a:br>
              <a:rPr 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zh-TW" alt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往往</a:t>
            </a:r>
            <a:r>
              <a:rPr lang="en-US" sz="27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就有可能會時快時慢</a:t>
            </a:r>
            <a:endParaRPr lang="en-US" sz="27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7003" y="1137196"/>
            <a:ext cx="4997797" cy="2631728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6965603" y="1346746"/>
            <a:ext cx="4540597" cy="4857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25"/>
              </a:lnSpc>
              <a:buNone/>
            </a:pPr>
            <a:r>
              <a:rPr lang="en-US" sz="2550" b="1" dirty="0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⚡️ </a:t>
            </a:r>
            <a:r>
              <a:rPr lang="en-US" sz="2550" b="1" dirty="0" err="1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快的</a:t>
            </a:r>
            <a:r>
              <a:rPr lang="zh-TW" altLang="en-US" sz="2550" b="1" dirty="0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時候</a:t>
            </a:r>
            <a:r>
              <a:rPr lang="en-US" altLang="zh-TW" sz="2550" b="1" dirty="0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    </a:t>
            </a:r>
            <a:r>
              <a:rPr lang="zh-TW" altLang="en-US" sz="2550" b="1" dirty="0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仿佛緊張激動</a:t>
            </a:r>
            <a:endParaRPr lang="en-US" sz="255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8260" y="2675365"/>
            <a:ext cx="685949" cy="398115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304461" y="2710000"/>
            <a:ext cx="5335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4A445E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緊張</a:t>
            </a:r>
            <a:endParaRPr lang="en-US" sz="21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75476" y="2052563"/>
            <a:ext cx="685949" cy="398115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8032552" y="2071480"/>
            <a:ext cx="5335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4A445E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急促</a:t>
            </a:r>
            <a:endParaRPr lang="en-US" sz="21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18574" y="2550829"/>
            <a:ext cx="685949" cy="398115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8797974" y="2598454"/>
            <a:ext cx="5335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4A445E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激動</a:t>
            </a:r>
            <a:endParaRPr lang="en-US" sz="210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43380" y="2401691"/>
            <a:ext cx="685949" cy="398115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9819581" y="2423209"/>
            <a:ext cx="5335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興奮</a:t>
            </a:r>
            <a:endParaRPr lang="en-US" sz="210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37003" y="3902273"/>
            <a:ext cx="4997797" cy="2631877"/>
          </a:xfrm>
          <a:prstGeom prst="rect">
            <a:avLst/>
          </a:prstGeom>
        </p:spPr>
      </p:pic>
      <p:sp>
        <p:nvSpPr>
          <p:cNvPr id="34" name="Text 18"/>
          <p:cNvSpPr txBox="1"/>
          <p:nvPr/>
        </p:nvSpPr>
        <p:spPr>
          <a:xfrm>
            <a:off x="6965603" y="4111823"/>
            <a:ext cx="4540597" cy="4857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25"/>
              </a:lnSpc>
              <a:buNone/>
            </a:pPr>
            <a:r>
              <a:rPr lang="en-US" sz="2550" b="1" dirty="0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🌙 </a:t>
            </a:r>
            <a:r>
              <a:rPr lang="en-US" sz="2550" b="1" dirty="0" err="1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慢的時候</a:t>
            </a:r>
            <a:r>
              <a:rPr lang="en-US" sz="2550" b="1" dirty="0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    </a:t>
            </a:r>
            <a:r>
              <a:rPr lang="zh-TW" altLang="en-US" sz="2550" b="1" dirty="0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似是沉重悲傷</a:t>
            </a:r>
            <a:endParaRPr lang="en-US" sz="2550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41926" y="5653581"/>
            <a:ext cx="685949" cy="398115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7518127" y="5701206"/>
            <a:ext cx="5335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4A445E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猶豫</a:t>
            </a:r>
            <a:endParaRPr lang="en-US" sz="21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61805" y="5194398"/>
            <a:ext cx="685949" cy="398115"/>
          </a:xfrm>
          <a:prstGeom prst="rect">
            <a:avLst/>
          </a:prstGeom>
        </p:spPr>
      </p:pic>
      <p:sp>
        <p:nvSpPr>
          <p:cNvPr id="38" name="Text 20"/>
          <p:cNvSpPr txBox="1"/>
          <p:nvPr/>
        </p:nvSpPr>
        <p:spPr>
          <a:xfrm>
            <a:off x="8577567" y="5218211"/>
            <a:ext cx="5335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4A445E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沉重</a:t>
            </a:r>
            <a:endParaRPr lang="en-US" sz="2100" dirty="0"/>
          </a:p>
        </p:txBody>
      </p:sp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11662" y="5542914"/>
            <a:ext cx="685949" cy="398115"/>
          </a:xfrm>
          <a:prstGeom prst="rect">
            <a:avLst/>
          </a:prstGeom>
        </p:spPr>
      </p:pic>
      <p:sp>
        <p:nvSpPr>
          <p:cNvPr id="40" name="Text 21"/>
          <p:cNvSpPr txBox="1"/>
          <p:nvPr/>
        </p:nvSpPr>
        <p:spPr>
          <a:xfrm>
            <a:off x="9404523" y="5590539"/>
            <a:ext cx="5335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4A445E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沮喪</a:t>
            </a:r>
            <a:endParaRPr lang="en-US" sz="2100" dirty="0"/>
          </a:p>
        </p:txBody>
      </p:sp>
      <p:pic>
        <p:nvPicPr>
          <p:cNvPr id="41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74387" y="5111231"/>
            <a:ext cx="685949" cy="398115"/>
          </a:xfrm>
          <a:prstGeom prst="rect">
            <a:avLst/>
          </a:prstGeom>
        </p:spPr>
      </p:pic>
      <p:sp>
        <p:nvSpPr>
          <p:cNvPr id="42" name="Text 22"/>
          <p:cNvSpPr txBox="1"/>
          <p:nvPr/>
        </p:nvSpPr>
        <p:spPr>
          <a:xfrm>
            <a:off x="10650588" y="5158790"/>
            <a:ext cx="5335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4A4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悲哀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2450" y="342900"/>
            <a:ext cx="11220450" cy="5200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dirty="0">
                <a:solidFill>
                  <a:srgbClr val="FFFFFF"/>
                </a:solidFill>
                <a:highlight>
                  <a:srgbClr val="BE885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聲音魔法2</a:t>
            </a:r>
            <a:r>
              <a:rPr lang="en-US" sz="390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停頓與重音 🎵 </a:t>
            </a:r>
            <a:r>
              <a:rPr lang="en-US" sz="210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讓聽眾聽得懂、記得住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015305"/>
            <a:ext cx="5572125" cy="55378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04850" y="1282005"/>
            <a:ext cx="5000625" cy="4399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⏸️ 停頓 </a:t>
            </a:r>
            <a:r>
              <a:rPr lang="en-US" sz="1500" b="1" dirty="0">
                <a:solidFill>
                  <a:srgbClr val="FFFFFF"/>
                </a:solidFill>
                <a:highlight>
                  <a:srgbClr val="29273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換氣＋思考</a:t>
            </a:r>
            <a:endParaRPr lang="en-US" sz="3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1912441"/>
            <a:ext cx="342900" cy="3429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9293" y="1976735"/>
            <a:ext cx="249882" cy="2500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💨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1162050" y="1874341"/>
            <a:ext cx="4362301" cy="8572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語法停頓＋生理停頓</a:t>
            </a:r>
            <a:endParaRPr lang="en-US" sz="2700" dirty="0"/>
          </a:p>
          <a:p>
            <a:pPr marL="0" indent="0" algn="l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              </a:t>
            </a:r>
            <a:r>
              <a:rPr lang="en-US" sz="27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要配合</a:t>
            </a:r>
            <a:r>
              <a:rPr 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2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2883991"/>
            <a:ext cx="5000625" cy="149155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85825" y="3074491"/>
            <a:ext cx="4638675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6B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 </a:t>
            </a:r>
            <a:r>
              <a:rPr lang="en-US" sz="1650" b="1" dirty="0" err="1">
                <a:solidFill>
                  <a:srgbClr val="6B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停頓長度口訣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885825" y="3426916"/>
            <a:ext cx="4638526" cy="3866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段落 </a:t>
            </a:r>
            <a:r>
              <a:rPr lang="en-US" sz="2400" b="1" dirty="0">
                <a:solidFill>
                  <a:srgbClr val="BE8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＞</a:t>
            </a:r>
            <a:r>
              <a:rPr lang="en-US" sz="24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zh-TW" altLang="en-US" sz="24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r>
              <a:rPr lang="en-US" sz="24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？！ </a:t>
            </a:r>
            <a:r>
              <a:rPr lang="en-US" sz="2400" b="1" dirty="0">
                <a:solidFill>
                  <a:srgbClr val="BE8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＞</a:t>
            </a:r>
            <a:r>
              <a:rPr lang="en-US" sz="24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逗號 </a:t>
            </a:r>
            <a:r>
              <a:rPr lang="en-US" sz="2400" b="1" dirty="0">
                <a:solidFill>
                  <a:srgbClr val="BE8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＞</a:t>
            </a:r>
            <a:r>
              <a:rPr lang="en-US" sz="24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頓號</a:t>
            </a:r>
            <a:endParaRPr lang="en-US" sz="2400" dirty="0"/>
          </a:p>
        </p:txBody>
      </p:sp>
      <p:sp>
        <p:nvSpPr>
          <p:cNvPr id="11" name="Text 6"/>
          <p:cNvSpPr txBox="1"/>
          <p:nvPr/>
        </p:nvSpPr>
        <p:spPr>
          <a:xfrm>
            <a:off x="885825" y="3899297"/>
            <a:ext cx="4638526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450"/>
              </a:spcBef>
              <a:buNone/>
            </a:pPr>
            <a:r>
              <a:rPr lang="en-US" sz="1800" b="1" dirty="0">
                <a:solidFill>
                  <a:srgbClr val="6B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🫁 越重要的句子，停越久</a:t>
            </a:r>
            <a:endParaRPr lang="en-US" sz="1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775" y="1015305"/>
            <a:ext cx="5572125" cy="553789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486525" y="1282005"/>
            <a:ext cx="5000625" cy="4399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💥 重音 </a:t>
            </a:r>
            <a:r>
              <a:rPr lang="en-US" sz="1500" b="1" dirty="0">
                <a:solidFill>
                  <a:srgbClr val="FFFFFF"/>
                </a:solidFill>
                <a:highlight>
                  <a:srgbClr val="29273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聲音強弱對比</a:t>
            </a:r>
            <a:endParaRPr lang="en-US" sz="3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1912441"/>
            <a:ext cx="342900" cy="3429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550968" y="1976735"/>
            <a:ext cx="249882" cy="2500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🔊</a:t>
            </a:r>
            <a:endParaRPr lang="en-US" sz="1350" dirty="0"/>
          </a:p>
        </p:txBody>
      </p:sp>
      <p:sp>
        <p:nvSpPr>
          <p:cNvPr id="16" name="Text 9"/>
          <p:cNvSpPr txBox="1"/>
          <p:nvPr/>
        </p:nvSpPr>
        <p:spPr>
          <a:xfrm>
            <a:off x="6943725" y="1874341"/>
            <a:ext cx="3086249" cy="8572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把最重要的詞</a:t>
            </a:r>
            <a:endParaRPr lang="en-US" sz="2700" dirty="0"/>
          </a:p>
          <a:p>
            <a:pPr marL="0" indent="0" algn="l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說得重一點、慢一點</a:t>
            </a:r>
            <a:endParaRPr lang="en-US" sz="27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883991"/>
            <a:ext cx="5000625" cy="1653183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6550" y="2779216"/>
            <a:ext cx="823020" cy="33337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6800850" y="2845891"/>
            <a:ext cx="59442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📌 舉例</a:t>
            </a:r>
            <a:endParaRPr lang="en-US" sz="1350" dirty="0"/>
          </a:p>
        </p:txBody>
      </p:sp>
      <p:sp>
        <p:nvSpPr>
          <p:cNvPr id="20" name="Text 11"/>
          <p:cNvSpPr txBox="1"/>
          <p:nvPr/>
        </p:nvSpPr>
        <p:spPr>
          <a:xfrm>
            <a:off x="6686550" y="3141166"/>
            <a:ext cx="4600575" cy="121503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40"/>
              </a:lnSpc>
              <a:spcBef>
                <a:spcPts val="450"/>
              </a:spcBef>
              <a:buNone/>
            </a:pPr>
            <a:r>
              <a:rPr lang="en-US" sz="24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「成功是不會從天掉下來的</a:t>
            </a:r>
            <a:endParaRPr lang="en-US" sz="2400" dirty="0"/>
          </a:p>
          <a:p>
            <a:pPr marL="0" indent="0" algn="l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 …</a:t>
            </a:r>
            <a:r>
              <a:rPr lang="en-HK" sz="24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r>
              <a:rPr lang="en-US" sz="24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而是在今天</a:t>
            </a:r>
            <a:r>
              <a:rPr lang="en-US" sz="24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。」</a:t>
            </a:r>
            <a:endParaRPr lang="en-US" sz="2400" dirty="0"/>
          </a:p>
          <a:p>
            <a:pPr marL="0" indent="0" algn="l">
              <a:lnSpc>
                <a:spcPts val="3240"/>
              </a:lnSpc>
              <a:buNone/>
            </a:pPr>
            <a:r>
              <a:rPr lang="en-US" sz="1800" b="1" dirty="0">
                <a:solidFill>
                  <a:srgbClr val="6A7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👉 重音在【今天】，馬上就有力量！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61950"/>
            <a:ext cx="2133600" cy="67240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457200"/>
            <a:ext cx="1752600" cy="4819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95"/>
              </a:lnSpc>
              <a:buNone/>
            </a:pPr>
            <a:r>
              <a:rPr lang="en-US" sz="3450" b="1" dirty="0">
                <a:solidFill>
                  <a:srgbClr val="2927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合作原則</a:t>
            </a:r>
            <a:endParaRPr lang="en-US" sz="3450" dirty="0"/>
          </a:p>
        </p:txBody>
      </p:sp>
      <p:sp>
        <p:nvSpPr>
          <p:cNvPr id="4" name="Text 1"/>
          <p:cNvSpPr txBox="1"/>
          <p:nvPr/>
        </p:nvSpPr>
        <p:spPr>
          <a:xfrm>
            <a:off x="2705100" y="415230"/>
            <a:ext cx="3614886" cy="5656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5"/>
              </a:lnSpc>
              <a:buNone/>
            </a:pPr>
            <a:r>
              <a:rPr lang="zh-TW" altLang="en-US" sz="4050" b="1" dirty="0">
                <a:solidFill>
                  <a:srgbClr val="BE8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４項</a:t>
            </a:r>
            <a:r>
              <a:rPr lang="en-US" sz="4050" b="1" dirty="0" err="1">
                <a:solidFill>
                  <a:srgbClr val="BE8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準則</a:t>
            </a:r>
            <a:r>
              <a:rPr lang="en-US" sz="405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🤝</a:t>
            </a:r>
            <a:endParaRPr lang="en-US" sz="4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186755"/>
            <a:ext cx="5600700" cy="239271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1091505"/>
            <a:ext cx="1415058" cy="42862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16471" y="1153417"/>
            <a:ext cx="1110258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量的準則</a:t>
            </a:r>
            <a:endParaRPr lang="en-US" sz="16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095" y="1574894"/>
            <a:ext cx="552450" cy="55245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769441" y="1596330"/>
            <a:ext cx="449759" cy="552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25"/>
              </a:lnSpc>
              <a:buNone/>
            </a:pPr>
            <a:r>
              <a:rPr lang="en-US" sz="25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📏</a:t>
            </a:r>
            <a:endParaRPr lang="en-US" sz="2550" dirty="0"/>
          </a:p>
        </p:txBody>
      </p:sp>
      <p:sp>
        <p:nvSpPr>
          <p:cNvPr id="10" name="Text 4"/>
          <p:cNvSpPr txBox="1"/>
          <p:nvPr/>
        </p:nvSpPr>
        <p:spPr>
          <a:xfrm>
            <a:off x="1371600" y="1669145"/>
            <a:ext cx="2400449" cy="3771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提供合適信息量</a:t>
            </a:r>
            <a:endParaRPr lang="en-US" sz="2700" dirty="0"/>
          </a:p>
        </p:txBody>
      </p:sp>
      <p:sp>
        <p:nvSpPr>
          <p:cNvPr id="11" name="Text 5"/>
          <p:cNvSpPr txBox="1"/>
          <p:nvPr/>
        </p:nvSpPr>
        <p:spPr>
          <a:xfrm>
            <a:off x="1371600" y="2292251"/>
            <a:ext cx="3875562" cy="6676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13"/>
              </a:lnSpc>
              <a:buNone/>
            </a:pPr>
            <a:r>
              <a:rPr lang="en-US" sz="2250" b="1" dirty="0" err="1">
                <a:solidFill>
                  <a:srgbClr val="3A3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不多不少，剛剛好就好</a:t>
            </a:r>
            <a:br>
              <a:rPr lang="en-US" sz="2250" b="1" dirty="0">
                <a:solidFill>
                  <a:srgbClr val="3A3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b="1" dirty="0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太少讓人猜，太多讓人累</a:t>
            </a:r>
            <a:endParaRPr lang="en-US" sz="22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186755"/>
            <a:ext cx="5600700" cy="239271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091505"/>
            <a:ext cx="1393031" cy="42862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556177" y="1147754"/>
            <a:ext cx="108823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 質的準則</a:t>
            </a:r>
            <a:endParaRPr lang="en-US" sz="16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2620" y="1528754"/>
            <a:ext cx="552450" cy="55245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6508686" y="1573202"/>
            <a:ext cx="449759" cy="4429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25"/>
              </a:lnSpc>
              <a:buNone/>
            </a:pPr>
            <a:r>
              <a:rPr lang="en-US" sz="25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2550" dirty="0"/>
          </a:p>
        </p:txBody>
      </p:sp>
      <p:sp>
        <p:nvSpPr>
          <p:cNvPr id="17" name="Text 8"/>
          <p:cNvSpPr txBox="1"/>
          <p:nvPr/>
        </p:nvSpPr>
        <p:spPr>
          <a:xfrm>
            <a:off x="7096125" y="1683990"/>
            <a:ext cx="1714649" cy="3771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說話要真實</a:t>
            </a:r>
            <a:endParaRPr lang="en-US" sz="2700" dirty="0"/>
          </a:p>
        </p:txBody>
      </p:sp>
      <p:sp>
        <p:nvSpPr>
          <p:cNvPr id="18" name="Text 9"/>
          <p:cNvSpPr txBox="1"/>
          <p:nvPr/>
        </p:nvSpPr>
        <p:spPr>
          <a:xfrm>
            <a:off x="7176654" y="2246663"/>
            <a:ext cx="3125190" cy="6676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13"/>
              </a:lnSpc>
              <a:buNone/>
            </a:pPr>
            <a:r>
              <a:rPr lang="en-US" sz="2250" b="1" dirty="0" err="1">
                <a:solidFill>
                  <a:srgbClr val="3A3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努力使你說的話是真的</a:t>
            </a:r>
            <a:br>
              <a:rPr lang="en-US" sz="2250" b="1" dirty="0">
                <a:solidFill>
                  <a:srgbClr val="3A3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b="1" dirty="0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不說謊、不誇大</a:t>
            </a:r>
            <a:endParaRPr lang="en-US" sz="22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3704086"/>
            <a:ext cx="5600700" cy="2392710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636615"/>
            <a:ext cx="1409551" cy="42862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830209" y="3674715"/>
            <a:ext cx="110475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 關係準則</a:t>
            </a:r>
            <a:endParaRPr lang="en-US" sz="165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355" y="4033601"/>
            <a:ext cx="552450" cy="55245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740866" y="4041428"/>
            <a:ext cx="449759" cy="4429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25"/>
              </a:lnSpc>
              <a:buNone/>
            </a:pPr>
            <a:r>
              <a:rPr lang="en-US" sz="25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🔗</a:t>
            </a:r>
            <a:endParaRPr lang="en-US" sz="2550" dirty="0"/>
          </a:p>
        </p:txBody>
      </p:sp>
      <p:sp>
        <p:nvSpPr>
          <p:cNvPr id="24" name="Text 12"/>
          <p:cNvSpPr txBox="1"/>
          <p:nvPr/>
        </p:nvSpPr>
        <p:spPr>
          <a:xfrm>
            <a:off x="1371105" y="4141440"/>
            <a:ext cx="1371749" cy="3771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要有關聯</a:t>
            </a:r>
            <a:endParaRPr lang="en-US" sz="2700" dirty="0"/>
          </a:p>
        </p:txBody>
      </p:sp>
      <p:sp>
        <p:nvSpPr>
          <p:cNvPr id="25" name="Text 13"/>
          <p:cNvSpPr txBox="1"/>
          <p:nvPr/>
        </p:nvSpPr>
        <p:spPr>
          <a:xfrm>
            <a:off x="1729781" y="4747196"/>
            <a:ext cx="3159199" cy="6676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13"/>
              </a:lnSpc>
              <a:buNone/>
            </a:pPr>
            <a:r>
              <a:rPr lang="en-US" sz="2250" b="1" dirty="0" err="1">
                <a:solidFill>
                  <a:srgbClr val="3A3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緊扣主題，不離題</a:t>
            </a:r>
            <a:br>
              <a:rPr lang="en-US" sz="2250" b="1" dirty="0">
                <a:solidFill>
                  <a:srgbClr val="3A3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b="1" dirty="0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每句話都為主線服務</a:t>
            </a:r>
            <a:endParaRPr lang="en-US" sz="225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051" y="3703803"/>
            <a:ext cx="5600700" cy="2392710"/>
          </a:xfrm>
          <a:prstGeom prst="rect">
            <a:avLst/>
          </a:prstGeom>
        </p:spPr>
      </p:pic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636615"/>
            <a:ext cx="1396008" cy="428625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6572250" y="3686776"/>
            <a:ext cx="1091208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D. 方式準則</a:t>
            </a:r>
            <a:endParaRPr lang="en-US" sz="165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5976" y="3989553"/>
            <a:ext cx="552450" cy="552450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6547321" y="4013126"/>
            <a:ext cx="449759" cy="4429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25"/>
              </a:lnSpc>
              <a:buNone/>
            </a:pPr>
            <a:r>
              <a:rPr lang="en-US" sz="25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</a:t>
            </a:r>
            <a:endParaRPr lang="en-US" sz="2550" dirty="0"/>
          </a:p>
        </p:txBody>
      </p:sp>
      <p:sp>
        <p:nvSpPr>
          <p:cNvPr id="31" name="Text 16"/>
          <p:cNvSpPr txBox="1"/>
          <p:nvPr/>
        </p:nvSpPr>
        <p:spPr>
          <a:xfrm>
            <a:off x="7124551" y="4115092"/>
            <a:ext cx="1714649" cy="3771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要清楚明白</a:t>
            </a:r>
            <a:endParaRPr lang="en-US" sz="2700" dirty="0"/>
          </a:p>
        </p:txBody>
      </p:sp>
      <p:sp>
        <p:nvSpPr>
          <p:cNvPr id="32" name="Text 17"/>
          <p:cNvSpPr txBox="1"/>
          <p:nvPr/>
        </p:nvSpPr>
        <p:spPr>
          <a:xfrm>
            <a:off x="7407167" y="4700976"/>
            <a:ext cx="3193225" cy="6676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13"/>
              </a:lnSpc>
              <a:buNone/>
            </a:pPr>
            <a:r>
              <a:rPr lang="en-US" sz="2250" b="1" dirty="0" err="1">
                <a:solidFill>
                  <a:srgbClr val="3A3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避免晦澀、歧義、模糊</a:t>
            </a:r>
            <a:br>
              <a:rPr lang="en-US" sz="2250" b="1" dirty="0">
                <a:solidFill>
                  <a:srgbClr val="3A3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b="1" dirty="0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井井有條，一聽就懂</a:t>
            </a:r>
            <a:endParaRPr lang="en-US" sz="2250" dirty="0"/>
          </a:p>
        </p:txBody>
      </p:sp>
      <p:sp>
        <p:nvSpPr>
          <p:cNvPr id="33" name="Text 18"/>
          <p:cNvSpPr txBox="1"/>
          <p:nvPr/>
        </p:nvSpPr>
        <p:spPr>
          <a:xfrm>
            <a:off x="419100" y="6305550"/>
            <a:ext cx="1135365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 黃色重點：說人話、說真話、說相關的話、說清楚的話 ⭐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42900"/>
            <a:ext cx="2000399" cy="77152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9125" y="428625"/>
            <a:ext cx="1600349" cy="600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5A421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禮貌原則</a:t>
            </a:r>
            <a:endParaRPr lang="en-US" sz="3150" dirty="0"/>
          </a:p>
        </p:txBody>
      </p:sp>
      <p:sp>
        <p:nvSpPr>
          <p:cNvPr id="4" name="Text 1"/>
          <p:cNvSpPr txBox="1"/>
          <p:nvPr/>
        </p:nvSpPr>
        <p:spPr>
          <a:xfrm>
            <a:off x="2552849" y="426690"/>
            <a:ext cx="5139779" cy="6037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5"/>
              </a:lnSpc>
              <a:buNone/>
            </a:pPr>
            <a:r>
              <a:rPr lang="en-US" sz="4050" b="1" dirty="0">
                <a:solidFill>
                  <a:srgbClr val="BE8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Leech</a:t>
            </a:r>
            <a:r>
              <a:rPr lang="en-US" sz="4050" b="1" dirty="0">
                <a:solidFill>
                  <a:srgbClr val="E9EBE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 六大準則 🤝✨</a:t>
            </a:r>
            <a:endParaRPr lang="en-US" sz="4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247775"/>
            <a:ext cx="3695700" cy="219551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48670" y="1419225"/>
            <a:ext cx="332780" cy="3619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E9EBE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🎁</a:t>
            </a:r>
            <a:endParaRPr lang="en-US" sz="2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1438275"/>
            <a:ext cx="419100" cy="4191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50243" y="1504950"/>
            <a:ext cx="297507" cy="3524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1480245"/>
            <a:ext cx="609749" cy="3351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得體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628650" y="2304061"/>
            <a:ext cx="3276600" cy="96202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b="1" dirty="0" err="1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減少有損他人觀點</a:t>
            </a:r>
            <a:r>
              <a:rPr lang="en-US" sz="28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👂</a:t>
            </a:r>
            <a:endParaRPr lang="en-US" sz="2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8150" y="1247775"/>
            <a:ext cx="3695700" cy="2195513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477720" y="1419225"/>
            <a:ext cx="332780" cy="3619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E9EBE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🤲</a:t>
            </a:r>
            <a:endParaRPr lang="en-US" sz="2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7700" y="1438275"/>
            <a:ext cx="419100" cy="4191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591199" y="1504950"/>
            <a:ext cx="285601" cy="3524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8"/>
          <p:cNvSpPr txBox="1"/>
          <p:nvPr/>
        </p:nvSpPr>
        <p:spPr>
          <a:xfrm>
            <a:off x="4972050" y="1480245"/>
            <a:ext cx="609749" cy="3351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慷慨</a:t>
            </a:r>
            <a:endParaRPr lang="en-US" sz="2400" dirty="0"/>
          </a:p>
        </p:txBody>
      </p:sp>
      <p:sp>
        <p:nvSpPr>
          <p:cNvPr id="16" name="Text 9"/>
          <p:cNvSpPr txBox="1"/>
          <p:nvPr/>
        </p:nvSpPr>
        <p:spPr>
          <a:xfrm>
            <a:off x="4876800" y="2285101"/>
            <a:ext cx="2402774" cy="68849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減少利己觀點</a:t>
            </a:r>
            <a:endParaRPr lang="en-US" sz="2800" dirty="0"/>
          </a:p>
          <a:p>
            <a:pPr marL="0" indent="0" algn="l">
              <a:lnSpc>
                <a:spcPts val="2250"/>
              </a:lnSpc>
              <a:buNone/>
            </a:pPr>
            <a:br>
              <a:rPr lang="en-US" sz="24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endParaRPr lang="en-US" sz="24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1247775"/>
            <a:ext cx="3695700" cy="2195513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1306770" y="1419225"/>
            <a:ext cx="332780" cy="3619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E9EBE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👏</a:t>
            </a:r>
            <a:endParaRPr lang="en-US" sz="21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6750" y="1438275"/>
            <a:ext cx="419100" cy="4191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8411170" y="1504950"/>
            <a:ext cx="294680" cy="3524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2"/>
          <p:cNvSpPr txBox="1"/>
          <p:nvPr/>
        </p:nvSpPr>
        <p:spPr>
          <a:xfrm>
            <a:off x="8801100" y="1480245"/>
            <a:ext cx="609749" cy="3351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讚譽</a:t>
            </a:r>
            <a:endParaRPr lang="en-US" sz="2400" dirty="0"/>
          </a:p>
        </p:txBody>
      </p:sp>
      <p:sp>
        <p:nvSpPr>
          <p:cNvPr id="22" name="Text 13"/>
          <p:cNvSpPr txBox="1"/>
          <p:nvPr/>
        </p:nvSpPr>
        <p:spPr>
          <a:xfrm>
            <a:off x="8362950" y="2048953"/>
            <a:ext cx="3276600" cy="96144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 err="1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減少對他人貶損</a:t>
            </a:r>
            <a:r>
              <a:rPr lang="en-US" sz="24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br>
              <a:rPr lang="en-US" sz="24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br>
              <a:rPr lang="en-US" sz="24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400" b="1" dirty="0" err="1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多讚美</a:t>
            </a:r>
            <a:endParaRPr lang="en-US" sz="24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549848"/>
            <a:ext cx="3695700" cy="2195513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3648670" y="3748087"/>
            <a:ext cx="332780" cy="3619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E9EBE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🙇</a:t>
            </a:r>
            <a:endParaRPr lang="en-US" sz="21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" y="3767138"/>
            <a:ext cx="419100" cy="4191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755600" y="3833812"/>
            <a:ext cx="292150" cy="3524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Text 16"/>
          <p:cNvSpPr txBox="1"/>
          <p:nvPr/>
        </p:nvSpPr>
        <p:spPr>
          <a:xfrm>
            <a:off x="1143000" y="3809107"/>
            <a:ext cx="609749" cy="3351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謙遜</a:t>
            </a:r>
            <a:endParaRPr lang="en-US" sz="2400" dirty="0"/>
          </a:p>
        </p:txBody>
      </p:sp>
      <p:sp>
        <p:nvSpPr>
          <p:cNvPr id="28" name="Text 17"/>
          <p:cNvSpPr txBox="1"/>
          <p:nvPr/>
        </p:nvSpPr>
        <p:spPr>
          <a:xfrm>
            <a:off x="1204604" y="4336624"/>
            <a:ext cx="1924199" cy="10411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 err="1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減少對自己表揚</a:t>
            </a:r>
            <a:r>
              <a:rPr lang="en-US" sz="24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br>
              <a:rPr lang="en-US" sz="24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br>
              <a:rPr lang="en-US" sz="24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400" b="1" dirty="0" err="1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謙虛點</a:t>
            </a:r>
            <a:endParaRPr lang="en-US" sz="24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8150" y="3576638"/>
            <a:ext cx="3695700" cy="2195513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7477720" y="3748087"/>
            <a:ext cx="332780" cy="3619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E9EBE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🤝</a:t>
            </a:r>
            <a:endParaRPr lang="en-US" sz="21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7700" y="3767138"/>
            <a:ext cx="419100" cy="41910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4597450" y="3833812"/>
            <a:ext cx="279350" cy="3524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800" dirty="0"/>
          </a:p>
        </p:txBody>
      </p:sp>
      <p:sp>
        <p:nvSpPr>
          <p:cNvPr id="33" name="Text 20"/>
          <p:cNvSpPr txBox="1"/>
          <p:nvPr/>
        </p:nvSpPr>
        <p:spPr>
          <a:xfrm>
            <a:off x="4972050" y="3809107"/>
            <a:ext cx="609749" cy="3351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一致</a:t>
            </a:r>
            <a:endParaRPr lang="en-US" sz="2400" dirty="0"/>
          </a:p>
        </p:txBody>
      </p:sp>
      <p:sp>
        <p:nvSpPr>
          <p:cNvPr id="34" name="Text 21"/>
          <p:cNvSpPr txBox="1"/>
          <p:nvPr/>
        </p:nvSpPr>
        <p:spPr>
          <a:xfrm>
            <a:off x="4800600" y="4379428"/>
            <a:ext cx="3276600" cy="571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 err="1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減少觀點不一致</a:t>
            </a:r>
            <a:r>
              <a:rPr lang="en-US" sz="24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br>
              <a:rPr lang="en-US" sz="24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br>
              <a:rPr lang="en-US" sz="24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400" b="1" dirty="0" err="1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求同</a:t>
            </a:r>
            <a:r>
              <a:rPr lang="zh-TW" altLang="en-US" sz="24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存異</a:t>
            </a:r>
            <a:endParaRPr lang="en-US" sz="24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7200" y="3576638"/>
            <a:ext cx="3695700" cy="2195513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11306770" y="3748087"/>
            <a:ext cx="332780" cy="3619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E9EBE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💛</a:t>
            </a:r>
            <a:endParaRPr lang="en-US" sz="21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86750" y="3767138"/>
            <a:ext cx="419100" cy="419100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8429327" y="3833812"/>
            <a:ext cx="276523" cy="3524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1800" dirty="0"/>
          </a:p>
        </p:txBody>
      </p:sp>
      <p:sp>
        <p:nvSpPr>
          <p:cNvPr id="39" name="Text 24"/>
          <p:cNvSpPr txBox="1"/>
          <p:nvPr/>
        </p:nvSpPr>
        <p:spPr>
          <a:xfrm>
            <a:off x="8801100" y="3809107"/>
            <a:ext cx="609749" cy="3351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同情</a:t>
            </a:r>
            <a:endParaRPr lang="en-US" sz="2400" dirty="0"/>
          </a:p>
        </p:txBody>
      </p:sp>
      <p:sp>
        <p:nvSpPr>
          <p:cNvPr id="40" name="Text 25"/>
          <p:cNvSpPr txBox="1"/>
          <p:nvPr/>
        </p:nvSpPr>
        <p:spPr>
          <a:xfrm>
            <a:off x="8801100" y="4397860"/>
            <a:ext cx="3276600" cy="571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 err="1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減少感情對立</a:t>
            </a:r>
            <a:br>
              <a:rPr lang="en-US" sz="24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endParaRPr lang="en-US" sz="2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多理解對方</a:t>
            </a:r>
            <a:endParaRPr lang="en-US" sz="2400" dirty="0"/>
          </a:p>
        </p:txBody>
      </p:sp>
      <p:sp>
        <p:nvSpPr>
          <p:cNvPr id="41" name="Shape 26"/>
          <p:cNvSpPr/>
          <p:nvPr/>
        </p:nvSpPr>
        <p:spPr>
          <a:xfrm>
            <a:off x="419100" y="5905500"/>
            <a:ext cx="11353800" cy="685800"/>
          </a:xfrm>
          <a:prstGeom prst="roundRect">
            <a:avLst>
              <a:gd name="adj" fmla="val 25000"/>
            </a:avLst>
          </a:prstGeom>
          <a:solidFill>
            <a:srgbClr val="BE885A"/>
          </a:solidFill>
          <a:ln/>
        </p:spPr>
      </p:sp>
      <p:sp>
        <p:nvSpPr>
          <p:cNvPr id="42" name="Text 27"/>
          <p:cNvSpPr txBox="1"/>
          <p:nvPr/>
        </p:nvSpPr>
        <p:spPr>
          <a:xfrm>
            <a:off x="628650" y="6057900"/>
            <a:ext cx="380405" cy="419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endParaRPr lang="en-US" sz="2400" dirty="0"/>
          </a:p>
        </p:txBody>
      </p:sp>
      <p:sp>
        <p:nvSpPr>
          <p:cNvPr id="43" name="Text 28"/>
          <p:cNvSpPr txBox="1"/>
          <p:nvPr/>
        </p:nvSpPr>
        <p:spPr>
          <a:xfrm>
            <a:off x="1142405" y="6065490"/>
            <a:ext cx="4876949" cy="3656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總結：多給方便，多吃虧，互相尊重</a:t>
            </a:r>
            <a:endParaRPr lang="en-US" sz="2400" dirty="0"/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28063" y="6034088"/>
            <a:ext cx="2535287" cy="428625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9161413" y="6119813"/>
            <a:ext cx="2268587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6A4420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💛 40號大字卡通可愛版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19350" y="342900"/>
            <a:ext cx="9353550" cy="571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3"/>
              </a:lnSpc>
              <a:buNone/>
            </a:pPr>
            <a:r>
              <a:rPr lang="en-US" sz="3000" b="1" dirty="0">
                <a:solidFill>
                  <a:srgbClr val="5A4210"/>
                </a:solidFill>
                <a:highlight>
                  <a:srgbClr val="FFF6DD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說話策略</a:t>
            </a:r>
            <a:r>
              <a:rPr lang="en-US" sz="405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扼要＋對象 兩把鑰匙 🔑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066800"/>
            <a:ext cx="6150173" cy="503872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314450"/>
            <a:ext cx="495300" cy="4953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48010" y="1400175"/>
            <a:ext cx="414040" cy="409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✂️</a:t>
            </a:r>
            <a:endParaRPr lang="en-US" sz="2100" dirty="0"/>
          </a:p>
        </p:txBody>
      </p:sp>
      <p:sp>
        <p:nvSpPr>
          <p:cNvPr id="6" name="Text 2"/>
          <p:cNvSpPr txBox="1"/>
          <p:nvPr/>
        </p:nvSpPr>
        <p:spPr>
          <a:xfrm>
            <a:off x="1257300" y="1362968"/>
            <a:ext cx="2533799" cy="3981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35"/>
              </a:lnSpc>
              <a:buNone/>
            </a:pPr>
            <a:r>
              <a:rPr lang="en-US" sz="2850" b="1" u="sng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簡潔扼要是王道</a:t>
            </a:r>
            <a:endParaRPr lang="en-US" sz="2850" u="sng" dirty="0"/>
          </a:p>
        </p:txBody>
      </p:sp>
      <p:sp>
        <p:nvSpPr>
          <p:cNvPr id="7" name="Shape 3"/>
          <p:cNvSpPr/>
          <p:nvPr/>
        </p:nvSpPr>
        <p:spPr>
          <a:xfrm>
            <a:off x="666750" y="20383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BE885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952500" y="1933575"/>
            <a:ext cx="5050334" cy="3561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250" b="1" dirty="0">
                <a:solidFill>
                  <a:srgbClr val="2C2A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有時間限制</a:t>
            </a: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最短時間最少話語達溝通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666750" y="25146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BE885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95350" y="2413546"/>
            <a:ext cx="4514850" cy="3561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扣</a:t>
            </a:r>
            <a:r>
              <a:rPr lang="en-US" sz="2250" b="1" dirty="0">
                <a:solidFill>
                  <a:srgbClr val="2C2A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一個中心</a:t>
            </a: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、一定範圍，</a:t>
            </a:r>
            <a:r>
              <a:rPr lang="en-US" sz="2250" b="1" dirty="0">
                <a:solidFill>
                  <a:srgbClr val="2C2A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不要旁枝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666750" y="30003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BE885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95350" y="2893516"/>
            <a:ext cx="4114800" cy="3561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有組織：</a:t>
            </a:r>
            <a:r>
              <a:rPr lang="en-US" sz="2250" b="1" dirty="0">
                <a:solidFill>
                  <a:srgbClr val="2C2A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總分、主次</a:t>
            </a: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，前後連貫</a:t>
            </a:r>
            <a:endParaRPr lang="en-US" sz="2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3402062"/>
            <a:ext cx="647700" cy="4191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0100" y="3497312"/>
            <a:ext cx="3810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7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第一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650" y="3402062"/>
            <a:ext cx="647700" cy="4191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524000" y="3497312"/>
            <a:ext cx="3810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7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其次</a:t>
            </a:r>
            <a:endParaRPr lang="en-US" sz="15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4550" y="3402062"/>
            <a:ext cx="647700" cy="4191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47900" y="3497312"/>
            <a:ext cx="3810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7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再者</a:t>
            </a:r>
            <a:endParaRPr lang="en-US" sz="15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8450" y="3402062"/>
            <a:ext cx="647700" cy="4191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2971800" y="3497312"/>
            <a:ext cx="3810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7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最後</a:t>
            </a:r>
            <a:endParaRPr lang="en-US" sz="15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2350" y="3402062"/>
            <a:ext cx="838200" cy="4191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3695700" y="3497312"/>
            <a:ext cx="5715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7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承上題</a:t>
            </a:r>
            <a:endParaRPr lang="en-US" sz="15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0" y="3402062"/>
            <a:ext cx="838200" cy="4191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4610100" y="3497312"/>
            <a:ext cx="5715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7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接下來</a:t>
            </a:r>
            <a:endParaRPr lang="en-US" sz="15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0723" y="1066800"/>
            <a:ext cx="5032177" cy="5038725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8373" y="1314450"/>
            <a:ext cx="495300" cy="49530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7069634" y="1400175"/>
            <a:ext cx="414040" cy="409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</a:t>
            </a:r>
            <a:endParaRPr lang="en-US" sz="2100" dirty="0"/>
          </a:p>
        </p:txBody>
      </p:sp>
      <p:sp>
        <p:nvSpPr>
          <p:cNvPr id="28" name="Text 16"/>
          <p:cNvSpPr txBox="1"/>
          <p:nvPr/>
        </p:nvSpPr>
        <p:spPr>
          <a:xfrm>
            <a:off x="7578923" y="1362968"/>
            <a:ext cx="1809899" cy="3981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35"/>
              </a:lnSpc>
              <a:buNone/>
            </a:pPr>
            <a:r>
              <a:rPr lang="en-US" sz="285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看對象說話</a:t>
            </a:r>
            <a:endParaRPr lang="en-US" sz="2850" dirty="0"/>
          </a:p>
        </p:txBody>
      </p:sp>
      <p:sp>
        <p:nvSpPr>
          <p:cNvPr id="29" name="Shape 17"/>
          <p:cNvSpPr/>
          <p:nvPr/>
        </p:nvSpPr>
        <p:spPr>
          <a:xfrm>
            <a:off x="6991350" y="20383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5A7CA6"/>
          </a:solidFill>
          <a:ln/>
        </p:spPr>
      </p:sp>
      <p:sp>
        <p:nvSpPr>
          <p:cNvPr id="30" name="Text 18"/>
          <p:cNvSpPr txBox="1"/>
          <p:nvPr/>
        </p:nvSpPr>
        <p:spPr>
          <a:xfrm>
            <a:off x="7216973" y="1933575"/>
            <a:ext cx="3829050" cy="3561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同一話題，</a:t>
            </a:r>
            <a:r>
              <a:rPr lang="en-US" sz="2250" b="1" dirty="0">
                <a:solidFill>
                  <a:srgbClr val="2C2A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對象不同內容不同</a:t>
            </a:r>
            <a:endParaRPr lang="en-US" sz="2250" dirty="0"/>
          </a:p>
        </p:txBody>
      </p:sp>
      <p:sp>
        <p:nvSpPr>
          <p:cNvPr id="31" name="Shape 19"/>
          <p:cNvSpPr/>
          <p:nvPr/>
        </p:nvSpPr>
        <p:spPr>
          <a:xfrm>
            <a:off x="6991350" y="25146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5A7CA6"/>
          </a:solidFill>
          <a:ln/>
        </p:spPr>
      </p:sp>
      <p:sp>
        <p:nvSpPr>
          <p:cNvPr id="32" name="Text 20"/>
          <p:cNvSpPr txBox="1"/>
          <p:nvPr/>
        </p:nvSpPr>
        <p:spPr>
          <a:xfrm>
            <a:off x="7216973" y="2413546"/>
            <a:ext cx="2571750" cy="3561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場合敏感度很重要：</a:t>
            </a:r>
            <a:endParaRPr lang="en-US" sz="225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8373" y="2922091"/>
            <a:ext cx="1378744" cy="41910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7121723" y="3017341"/>
            <a:ext cx="1112044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7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正式 / 非正式</a:t>
            </a:r>
            <a:endParaRPr lang="en-US" sz="15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43317" y="2922091"/>
            <a:ext cx="1188244" cy="41910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8576667" y="3017341"/>
            <a:ext cx="921544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7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莊重 / 輕鬆</a:t>
            </a:r>
            <a:endParaRPr lang="en-US" sz="15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07761" y="2922091"/>
            <a:ext cx="1188244" cy="419100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9841111" y="3017341"/>
            <a:ext cx="921544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7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私人 / 公開</a:t>
            </a:r>
            <a:endParaRPr lang="en-US" sz="1500" dirty="0"/>
          </a:p>
        </p:txBody>
      </p:sp>
      <p:sp>
        <p:nvSpPr>
          <p:cNvPr id="39" name="Shape 24"/>
          <p:cNvSpPr/>
          <p:nvPr/>
        </p:nvSpPr>
        <p:spPr>
          <a:xfrm>
            <a:off x="6991350" y="3514725"/>
            <a:ext cx="45339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</p:spPr>
      </p:sp>
      <p:sp>
        <p:nvSpPr>
          <p:cNvPr id="40" name="Text 25"/>
          <p:cNvSpPr txBox="1"/>
          <p:nvPr/>
        </p:nvSpPr>
        <p:spPr>
          <a:xfrm>
            <a:off x="7121723" y="3655516"/>
            <a:ext cx="4270177" cy="657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F3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</a:t>
            </a:r>
            <a:r>
              <a:rPr lang="en-US" sz="1800" b="1" dirty="0" err="1">
                <a:solidFill>
                  <a:srgbClr val="1F3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例：對小學生要講故事</a:t>
            </a:r>
            <a:r>
              <a:rPr lang="en-US" sz="1800" b="1" dirty="0">
                <a:solidFill>
                  <a:srgbClr val="1F3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br>
              <a:rPr lang="en-US" sz="1800" b="1" dirty="0">
                <a:solidFill>
                  <a:srgbClr val="1F3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800" b="1" dirty="0">
                <a:solidFill>
                  <a:srgbClr val="1F3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</a:t>
            </a:r>
            <a:r>
              <a:rPr lang="en-US" sz="1800" b="1" dirty="0" err="1">
                <a:solidFill>
                  <a:srgbClr val="1F3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對專家要講數據</a:t>
            </a:r>
            <a:endParaRPr lang="en-US" sz="1800" dirty="0"/>
          </a:p>
        </p:txBody>
      </p:sp>
      <p:sp>
        <p:nvSpPr>
          <p:cNvPr id="41" name="Text 26"/>
          <p:cNvSpPr txBox="1"/>
          <p:nvPr/>
        </p:nvSpPr>
        <p:spPr>
          <a:xfrm>
            <a:off x="419100" y="6286500"/>
            <a:ext cx="1135365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⭐️ </a:t>
            </a:r>
            <a:r>
              <a:rPr lang="en-US" sz="1650" b="1" dirty="0" err="1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重點</a:t>
            </a:r>
            <a:r>
              <a:rPr lang="en-US" sz="165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r>
              <a:rPr lang="zh-TW" altLang="en-US" sz="165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緊</a:t>
            </a:r>
            <a:r>
              <a:rPr lang="en-US" sz="1650" b="1" dirty="0" err="1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扣中心＋看對象，就是演說的</a:t>
            </a:r>
            <a:r>
              <a:rPr lang="zh-TW" altLang="en-US" sz="165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要義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2450" y="1012627"/>
            <a:ext cx="4545211" cy="5200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highlight>
                  <a:srgbClr val="BE885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態勢語</a:t>
            </a: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儀態三寶 👀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665982"/>
            <a:ext cx="4678561" cy="145524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837432"/>
            <a:ext cx="1562100" cy="3619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42950" y="1904107"/>
            <a:ext cx="13335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什麼是態勢語？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628650" y="2266057"/>
            <a:ext cx="4259461" cy="68371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儀態與風度，視覺配合口語</a:t>
            </a: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b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        </a:t>
            </a:r>
            <a:r>
              <a:rPr lang="en-US" sz="21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補充輔助演說</a:t>
            </a: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✨</a:t>
            </a:r>
            <a:endParaRPr lang="en-US" sz="2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3254573"/>
            <a:ext cx="4678561" cy="81915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3368873"/>
            <a:ext cx="400050" cy="40005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716905" y="3440311"/>
            <a:ext cx="330845" cy="3286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😊</a:t>
            </a:r>
            <a:endParaRPr lang="en-US" sz="1650" dirty="0"/>
          </a:p>
        </p:txBody>
      </p:sp>
      <p:sp>
        <p:nvSpPr>
          <p:cNvPr id="10" name="Text 4"/>
          <p:cNvSpPr txBox="1"/>
          <p:nvPr/>
        </p:nvSpPr>
        <p:spPr>
          <a:xfrm>
            <a:off x="1200150" y="3368873"/>
            <a:ext cx="3336224" cy="590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5"/>
              </a:lnSpc>
              <a:buNone/>
            </a:pPr>
            <a:r>
              <a:rPr lang="en-US" sz="2100" b="1" dirty="0" err="1">
                <a:solidFill>
                  <a:srgbClr val="8A4510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表情</a:t>
            </a:r>
            <a:r>
              <a:rPr lang="en-US" sz="21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：臉、嘴、眉目</a:t>
            </a: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b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</a:t>
            </a:r>
            <a:r>
              <a:rPr lang="en-US" sz="1500" b="1" dirty="0" err="1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喜怒哀懼愛惡都寫在臉上</a:t>
            </a:r>
            <a:endParaRPr lang="en-US" sz="2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4168973"/>
            <a:ext cx="4678561" cy="819150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283273"/>
            <a:ext cx="400050" cy="400050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716905" y="4354711"/>
            <a:ext cx="330845" cy="3286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👁️</a:t>
            </a:r>
            <a:endParaRPr lang="en-US" sz="1650" dirty="0"/>
          </a:p>
        </p:txBody>
      </p:sp>
      <p:sp>
        <p:nvSpPr>
          <p:cNvPr id="14" name="Text 6"/>
          <p:cNvSpPr txBox="1"/>
          <p:nvPr/>
        </p:nvSpPr>
        <p:spPr>
          <a:xfrm>
            <a:off x="1200150" y="4283273"/>
            <a:ext cx="3769673" cy="590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5"/>
              </a:lnSpc>
              <a:buNone/>
            </a:pPr>
            <a:r>
              <a:rPr lang="en-US" sz="2100" b="1" dirty="0" err="1">
                <a:solidFill>
                  <a:srgbClr val="8A4510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眼神</a:t>
            </a:r>
            <a:r>
              <a:rPr lang="en-US" sz="21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：用眼睛表達感情</a:t>
            </a:r>
            <a:b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500" b="1" dirty="0" err="1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對視法</a:t>
            </a:r>
            <a:r>
              <a:rPr lang="en-US" sz="1500" b="1" dirty="0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(1人)｜環視法(多人)｜虛視法(群眾)</a:t>
            </a:r>
            <a:endParaRPr lang="en-US" sz="21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5083373"/>
            <a:ext cx="4678561" cy="819150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5197673"/>
            <a:ext cx="400050" cy="400050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716905" y="5269111"/>
            <a:ext cx="330845" cy="3286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💃</a:t>
            </a:r>
            <a:endParaRPr lang="en-US" sz="1650" dirty="0"/>
          </a:p>
        </p:txBody>
      </p:sp>
      <p:sp>
        <p:nvSpPr>
          <p:cNvPr id="18" name="Text 8"/>
          <p:cNvSpPr txBox="1"/>
          <p:nvPr/>
        </p:nvSpPr>
        <p:spPr>
          <a:xfrm>
            <a:off x="1200149" y="5197673"/>
            <a:ext cx="3532167" cy="590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5"/>
              </a:lnSpc>
              <a:buNone/>
            </a:pPr>
            <a:r>
              <a:rPr lang="en-US" sz="2100" b="1" dirty="0" err="1">
                <a:solidFill>
                  <a:srgbClr val="8A4510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儀態</a:t>
            </a:r>
            <a:r>
              <a:rPr lang="en-US" sz="21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：動作與身姿</a:t>
            </a:r>
            <a:b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</a:t>
            </a:r>
            <a:r>
              <a:rPr lang="en-US" sz="1500" b="1" dirty="0" err="1">
                <a:solidFill>
                  <a:srgbClr val="6A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表情＋眼神＋手勢，缺一不可</a:t>
            </a:r>
            <a:endParaRPr lang="en-US" sz="21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4361" y="0"/>
            <a:ext cx="6827639" cy="6858000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 rotWithShape="1">
          <a:blip r:embed="rId11"/>
          <a:srcRect t="28372"/>
          <a:stretch/>
        </p:blipFill>
        <p:spPr>
          <a:xfrm>
            <a:off x="5573911" y="1904106"/>
            <a:ext cx="6465689" cy="4229993"/>
          </a:xfrm>
          <a:prstGeom prst="rect">
            <a:avLst/>
          </a:prstGeom>
        </p:spPr>
      </p:pic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5341" y="1306009"/>
            <a:ext cx="3784699" cy="400050"/>
          </a:xfrm>
          <a:prstGeom prst="rect">
            <a:avLst/>
          </a:prstGeom>
        </p:spPr>
      </p:pic>
      <p:sp>
        <p:nvSpPr>
          <p:cNvPr id="22" name="Text 9"/>
          <p:cNvSpPr txBox="1"/>
          <p:nvPr/>
        </p:nvSpPr>
        <p:spPr>
          <a:xfrm>
            <a:off x="7243699" y="1377446"/>
            <a:ext cx="3517999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spcBef>
                <a:spcPts val="75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 </a:t>
            </a:r>
            <a:r>
              <a:rPr lang="en-US" sz="1500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眼神保持自然・溫柔・微笑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42900"/>
            <a:ext cx="2000399" cy="77152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9125" y="485775"/>
            <a:ext cx="1600349" cy="542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5A42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儀態進階</a:t>
            </a:r>
            <a:endParaRPr lang="en-US" sz="3150" dirty="0"/>
          </a:p>
        </p:txBody>
      </p:sp>
      <p:sp>
        <p:nvSpPr>
          <p:cNvPr id="4" name="Text 1"/>
          <p:cNvSpPr txBox="1"/>
          <p:nvPr/>
        </p:nvSpPr>
        <p:spPr>
          <a:xfrm>
            <a:off x="2552849" y="468660"/>
            <a:ext cx="5307062" cy="5200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頭部、身姿、</a:t>
            </a:r>
            <a:r>
              <a:rPr lang="en-US" sz="3900" b="1" dirty="0">
                <a:solidFill>
                  <a:srgbClr val="BE8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風度</a:t>
            </a:r>
            <a:r>
              <a:rPr lang="en-US" sz="390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🧍✨</a:t>
            </a:r>
            <a:endParaRPr lang="en-US" sz="3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247775"/>
            <a:ext cx="5610225" cy="2865537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17" y="1506438"/>
            <a:ext cx="457200" cy="4572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09910" y="1524000"/>
            <a:ext cx="366415" cy="3619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🙂</a:t>
            </a:r>
            <a:endParaRPr lang="en-US" sz="2100" dirty="0"/>
          </a:p>
        </p:txBody>
      </p:sp>
      <p:sp>
        <p:nvSpPr>
          <p:cNvPr id="8" name="Text 3"/>
          <p:cNvSpPr txBox="1"/>
          <p:nvPr/>
        </p:nvSpPr>
        <p:spPr>
          <a:xfrm>
            <a:off x="1200150" y="1506438"/>
            <a:ext cx="2238524" cy="35897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u="sng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頭部動作</a:t>
            </a: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2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2374" y="1592163"/>
            <a:ext cx="876300" cy="27324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2657624" y="1630263"/>
            <a:ext cx="685800" cy="1970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不宜太多</a:t>
            </a:r>
            <a:endParaRPr lang="en-US" sz="1350" dirty="0"/>
          </a:p>
        </p:txBody>
      </p:sp>
      <p:sp>
        <p:nvSpPr>
          <p:cNvPr id="11" name="Text 5"/>
          <p:cNvSpPr txBox="1"/>
          <p:nvPr/>
        </p:nvSpPr>
        <p:spPr>
          <a:xfrm>
            <a:off x="1483667" y="2181372"/>
            <a:ext cx="5153025" cy="2628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👉 搖頭＝不同意，點頭＝同意</a:t>
            </a:r>
            <a:endParaRPr lang="en-US" sz="1650" dirty="0"/>
          </a:p>
        </p:txBody>
      </p:sp>
      <p:sp>
        <p:nvSpPr>
          <p:cNvPr id="12" name="Text 6"/>
          <p:cNvSpPr txBox="1"/>
          <p:nvPr/>
        </p:nvSpPr>
        <p:spPr>
          <a:xfrm>
            <a:off x="1483667" y="2590055"/>
            <a:ext cx="5153025" cy="2628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👉 微側頭＝懷疑思考 🤔</a:t>
            </a:r>
            <a:endParaRPr lang="en-US" sz="1650" dirty="0"/>
          </a:p>
        </p:txBody>
      </p:sp>
      <p:sp>
        <p:nvSpPr>
          <p:cNvPr id="13" name="Text 7"/>
          <p:cNvSpPr txBox="1"/>
          <p:nvPr/>
        </p:nvSpPr>
        <p:spPr>
          <a:xfrm>
            <a:off x="1300460" y="3261568"/>
            <a:ext cx="5153025" cy="2875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spcBef>
                <a:spcPts val="150"/>
              </a:spcBef>
              <a:buNone/>
            </a:pPr>
            <a:r>
              <a:rPr lang="en-US" sz="18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少而精，一個動作說一句話</a:t>
            </a:r>
            <a:endParaRPr lang="en-US" sz="1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2675" y="1247775"/>
            <a:ext cx="5610225" cy="2865537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275" y="1457325"/>
            <a:ext cx="457200" cy="4572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6436667" y="1480467"/>
            <a:ext cx="366415" cy="3619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🧍</a:t>
            </a:r>
            <a:endParaRPr lang="en-US" sz="2100" dirty="0"/>
          </a:p>
        </p:txBody>
      </p:sp>
      <p:sp>
        <p:nvSpPr>
          <p:cNvPr id="17" name="Text 9"/>
          <p:cNvSpPr txBox="1"/>
          <p:nvPr/>
        </p:nvSpPr>
        <p:spPr>
          <a:xfrm>
            <a:off x="6943725" y="1510605"/>
            <a:ext cx="12193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u="sng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身姿站法</a:t>
            </a:r>
            <a:endParaRPr lang="en-US" sz="2400" u="sng" dirty="0"/>
          </a:p>
        </p:txBody>
      </p:sp>
      <p:sp>
        <p:nvSpPr>
          <p:cNvPr id="18" name="Text 10"/>
          <p:cNvSpPr txBox="1"/>
          <p:nvPr/>
        </p:nvSpPr>
        <p:spPr>
          <a:xfrm>
            <a:off x="7175047" y="2240608"/>
            <a:ext cx="5153025" cy="2628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直立、雙肩放平、雙手拿稿放胸前</a:t>
            </a:r>
            <a:endParaRPr lang="en-US" sz="1650" dirty="0"/>
          </a:p>
        </p:txBody>
      </p:sp>
      <p:sp>
        <p:nvSpPr>
          <p:cNvPr id="19" name="Text 11"/>
          <p:cNvSpPr txBox="1"/>
          <p:nvPr/>
        </p:nvSpPr>
        <p:spPr>
          <a:xfrm>
            <a:off x="7175047" y="2654796"/>
            <a:ext cx="5153025" cy="2628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</a:t>
            </a:r>
            <a:r>
              <a:rPr lang="en-US" sz="16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有講台放台面，</a:t>
            </a:r>
            <a:r>
              <a:rPr lang="en-US" sz="1650" b="1" dirty="0" err="1">
                <a:solidFill>
                  <a:srgbClr val="8A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勿</a:t>
            </a:r>
            <a:r>
              <a:rPr lang="zh-TW" altLang="en-US" sz="1650" b="1" dirty="0">
                <a:solidFill>
                  <a:srgbClr val="8A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按</a:t>
            </a:r>
            <a:r>
              <a:rPr lang="en-HK" altLang="zh-TW" sz="1650" b="1" dirty="0">
                <a:solidFill>
                  <a:srgbClr val="8A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</a:t>
            </a:r>
            <a:r>
              <a:rPr lang="en-US" sz="1650" b="1" dirty="0">
                <a:solidFill>
                  <a:srgbClr val="8A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🎤</a:t>
            </a:r>
            <a:endParaRPr lang="en-US" sz="1650" dirty="0"/>
          </a:p>
        </p:txBody>
      </p:sp>
      <p:sp>
        <p:nvSpPr>
          <p:cNvPr id="20" name="Text 12"/>
          <p:cNvSpPr txBox="1"/>
          <p:nvPr/>
        </p:nvSpPr>
        <p:spPr>
          <a:xfrm>
            <a:off x="6819900" y="3220342"/>
            <a:ext cx="5153025" cy="2875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站如松，穩住全場目光</a:t>
            </a:r>
            <a:endParaRPr lang="en-US" sz="18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4246662"/>
            <a:ext cx="5610225" cy="2344638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4456212"/>
            <a:ext cx="457200" cy="4572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09910" y="4456212"/>
            <a:ext cx="366415" cy="3619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🚫</a:t>
            </a:r>
            <a:endParaRPr lang="en-US" sz="2100" dirty="0"/>
          </a:p>
        </p:txBody>
      </p:sp>
      <p:sp>
        <p:nvSpPr>
          <p:cNvPr id="24" name="Text 14"/>
          <p:cNvSpPr txBox="1"/>
          <p:nvPr/>
        </p:nvSpPr>
        <p:spPr>
          <a:xfrm>
            <a:off x="1200150" y="4509492"/>
            <a:ext cx="15241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u="sng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小動作止步</a:t>
            </a:r>
            <a:endParaRPr lang="en-US" sz="2400" u="sng" dirty="0"/>
          </a:p>
        </p:txBody>
      </p:sp>
      <p:sp>
        <p:nvSpPr>
          <p:cNvPr id="25" name="Text 15"/>
          <p:cNvSpPr txBox="1"/>
          <p:nvPr/>
        </p:nvSpPr>
        <p:spPr>
          <a:xfrm>
            <a:off x="1238249" y="5130552"/>
            <a:ext cx="5153025" cy="2628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</a:t>
            </a:r>
            <a:r>
              <a:rPr lang="en-US" sz="16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弄筆、拉衣角、撥頭髮</a:t>
            </a:r>
            <a:r>
              <a:rPr lang="zh-TW" altLang="en-US" sz="16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、插褲袋</a:t>
            </a:r>
            <a:endParaRPr lang="en-US" sz="1650" dirty="0"/>
          </a:p>
        </p:txBody>
      </p:sp>
      <p:sp>
        <p:nvSpPr>
          <p:cNvPr id="26" name="Text 16"/>
          <p:cNvSpPr txBox="1"/>
          <p:nvPr/>
        </p:nvSpPr>
        <p:spPr>
          <a:xfrm>
            <a:off x="1238250" y="5614318"/>
            <a:ext cx="5153025" cy="2875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姿勢表情自然，手勢有目的、不要快</a:t>
            </a:r>
            <a:endParaRPr lang="en-US" sz="18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2675" y="4246662"/>
            <a:ext cx="5610225" cy="2344638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8092" y="4521995"/>
            <a:ext cx="457200" cy="457200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6453485" y="4522887"/>
            <a:ext cx="366415" cy="3619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🌸</a:t>
            </a:r>
            <a:endParaRPr lang="en-US" sz="2100" dirty="0"/>
          </a:p>
        </p:txBody>
      </p:sp>
      <p:sp>
        <p:nvSpPr>
          <p:cNvPr id="30" name="Text 18"/>
          <p:cNvSpPr txBox="1"/>
          <p:nvPr/>
        </p:nvSpPr>
        <p:spPr>
          <a:xfrm>
            <a:off x="6943725" y="4509492"/>
            <a:ext cx="1219349" cy="3504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風度總結</a:t>
            </a:r>
            <a:endParaRPr lang="en-US" sz="2400" dirty="0"/>
          </a:p>
        </p:txBody>
      </p:sp>
      <p:sp>
        <p:nvSpPr>
          <p:cNvPr id="31" name="Text 19"/>
          <p:cNvSpPr txBox="1"/>
          <p:nvPr/>
        </p:nvSpPr>
        <p:spPr>
          <a:xfrm>
            <a:off x="6848475" y="4981130"/>
            <a:ext cx="5153025" cy="2628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🌟 態度</a:t>
            </a:r>
            <a:r>
              <a:rPr lang="en-US" sz="1650" b="1" dirty="0">
                <a:solidFill>
                  <a:srgbClr val="8A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謙和有禮、真誠大方</a:t>
            </a:r>
            <a:endParaRPr lang="en-US" sz="1650" dirty="0"/>
          </a:p>
        </p:txBody>
      </p:sp>
      <p:sp>
        <p:nvSpPr>
          <p:cNvPr id="32" name="Text 20"/>
          <p:cNvSpPr txBox="1"/>
          <p:nvPr/>
        </p:nvSpPr>
        <p:spPr>
          <a:xfrm>
            <a:off x="7175047" y="5368607"/>
            <a:ext cx="3031796" cy="2628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🌟 </a:t>
            </a:r>
            <a:r>
              <a:rPr lang="zh-TW" altLang="en-US" sz="16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重點</a:t>
            </a:r>
            <a:r>
              <a:rPr lang="en-US" sz="16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r>
              <a:rPr lang="en-US" sz="1650" b="1" dirty="0">
                <a:solidFill>
                  <a:srgbClr val="8A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尊重別人</a:t>
            </a:r>
            <a:r>
              <a:rPr lang="en-US" sz="16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＝尊重自己</a:t>
            </a:r>
            <a:endParaRPr lang="en-US" sz="1650" dirty="0"/>
          </a:p>
        </p:txBody>
      </p:sp>
      <p:sp>
        <p:nvSpPr>
          <p:cNvPr id="33" name="Text 21"/>
          <p:cNvSpPr txBox="1"/>
          <p:nvPr/>
        </p:nvSpPr>
        <p:spPr>
          <a:xfrm>
            <a:off x="893117" y="5615915"/>
            <a:ext cx="894237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6A4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43650" cy="6858000"/>
          </a:xfrm>
          <a:prstGeom prst="rect">
            <a:avLst/>
          </a:prstGeom>
          <a:solidFill>
            <a:srgbClr val="FFF9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133350"/>
            <a:ext cx="1413570" cy="44767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85750" y="257175"/>
            <a:ext cx="110877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🎨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" y="89065"/>
            <a:ext cx="6034980" cy="6511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343650" y="0"/>
            <a:ext cx="5848350" cy="6858000"/>
          </a:xfrm>
          <a:prstGeom prst="rect">
            <a:avLst/>
          </a:prstGeom>
          <a:solidFill>
            <a:srgbClr val="29273A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720780" y="1035397"/>
            <a:ext cx="5204520" cy="5200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dirty="0">
                <a:solidFill>
                  <a:srgbClr val="FFFFFF"/>
                </a:solidFill>
                <a:highlight>
                  <a:srgbClr val="BE885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說明技巧</a:t>
            </a: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四法 ✨</a:t>
            </a:r>
            <a:endParaRPr lang="en-US" sz="3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480" y="1688753"/>
            <a:ext cx="2607022" cy="40005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720780" y="1774478"/>
            <a:ext cx="2378422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📚 讓抽象變具體，聽眾秒懂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480" y="2222153"/>
            <a:ext cx="2602260" cy="177165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6980" y="2412653"/>
            <a:ext cx="400050" cy="40005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866186" y="2484090"/>
            <a:ext cx="302270" cy="3000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⚖️</a:t>
            </a:r>
            <a:endParaRPr lang="en-US" sz="1650" dirty="0"/>
          </a:p>
        </p:txBody>
      </p:sp>
      <p:sp>
        <p:nvSpPr>
          <p:cNvPr id="13" name="Text 6"/>
          <p:cNvSpPr txBox="1"/>
          <p:nvPr/>
        </p:nvSpPr>
        <p:spPr>
          <a:xfrm>
            <a:off x="7273230" y="2455515"/>
            <a:ext cx="1143000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比較說明</a:t>
            </a:r>
            <a:endParaRPr lang="en-US" sz="2250" dirty="0"/>
          </a:p>
        </p:txBody>
      </p:sp>
      <p:sp>
        <p:nvSpPr>
          <p:cNvPr id="14" name="Text 7"/>
          <p:cNvSpPr txBox="1"/>
          <p:nvPr/>
        </p:nvSpPr>
        <p:spPr>
          <a:xfrm>
            <a:off x="7337148" y="2857946"/>
            <a:ext cx="1260428" cy="523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63"/>
              </a:lnSpc>
              <a:buNone/>
            </a:pPr>
            <a:r>
              <a:rPr lang="en-US" sz="165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類比、對比</a:t>
            </a:r>
            <a:endParaRPr lang="en-US" sz="1650" dirty="0"/>
          </a:p>
          <a:p>
            <a:pPr marL="0" indent="0" algn="l">
              <a:lnSpc>
                <a:spcPts val="2063"/>
              </a:lnSpc>
              <a:buNone/>
            </a:pPr>
            <a:r>
              <a:rPr lang="en-US" sz="165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r>
              <a:rPr lang="en-US" sz="1650" b="1" dirty="0" err="1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突出特色</a:t>
            </a:r>
            <a:endParaRPr lang="en-US" sz="16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6980" y="3469928"/>
            <a:ext cx="2221260" cy="33337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6873180" y="3536603"/>
            <a:ext cx="206886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spcBef>
                <a:spcPts val="150"/>
              </a:spcBef>
              <a:buNone/>
            </a:pPr>
            <a:r>
              <a:rPr lang="en-US" sz="1350" b="1" dirty="0" err="1">
                <a:solidFill>
                  <a:srgbClr val="6B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例：A</a:t>
            </a:r>
            <a:r>
              <a:rPr lang="en-US" sz="1350" b="1" dirty="0">
                <a:solidFill>
                  <a:srgbClr val="6B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比 B 更……</a:t>
            </a:r>
            <a:endParaRPr lang="en-US" sz="13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3040" y="2222153"/>
            <a:ext cx="2602260" cy="177165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13540" y="2412653"/>
            <a:ext cx="400050" cy="40005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582745" y="2484090"/>
            <a:ext cx="302270" cy="3000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1650" dirty="0"/>
          </a:p>
        </p:txBody>
      </p:sp>
      <p:sp>
        <p:nvSpPr>
          <p:cNvPr id="20" name="Text 10"/>
          <p:cNvSpPr txBox="1"/>
          <p:nvPr/>
        </p:nvSpPr>
        <p:spPr>
          <a:xfrm>
            <a:off x="9989790" y="2455515"/>
            <a:ext cx="1143000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數字說明</a:t>
            </a:r>
            <a:endParaRPr lang="en-US" sz="2250" dirty="0"/>
          </a:p>
        </p:txBody>
      </p:sp>
      <p:sp>
        <p:nvSpPr>
          <p:cNvPr id="21" name="Text 11"/>
          <p:cNvSpPr txBox="1"/>
          <p:nvPr/>
        </p:nvSpPr>
        <p:spPr>
          <a:xfrm>
            <a:off x="9860567" y="2846040"/>
            <a:ext cx="1839270" cy="523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63"/>
              </a:lnSpc>
              <a:buNone/>
            </a:pPr>
            <a:r>
              <a:rPr lang="en-US" sz="165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出兵人數、失業率</a:t>
            </a:r>
            <a:endParaRPr lang="en-US" sz="1650" dirty="0"/>
          </a:p>
          <a:p>
            <a:pPr marL="0" indent="0" algn="l">
              <a:lnSpc>
                <a:spcPts val="2063"/>
              </a:lnSpc>
              <a:buNone/>
            </a:pPr>
            <a:r>
              <a:rPr lang="en-US" sz="165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</a:t>
            </a:r>
            <a:r>
              <a:rPr lang="en-US" sz="1650" b="1" dirty="0" err="1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加強說服</a:t>
            </a:r>
            <a:r>
              <a:rPr lang="zh-TW" altLang="en-US" sz="165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力</a:t>
            </a:r>
            <a:r>
              <a:rPr lang="en-US" sz="165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💪</a:t>
            </a:r>
            <a:endParaRPr lang="en-US" sz="16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3540" y="3469928"/>
            <a:ext cx="2221260" cy="333375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9589740" y="3536603"/>
            <a:ext cx="206886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6B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例：</a:t>
            </a:r>
            <a:r>
              <a:rPr lang="en-HK" sz="1350" b="1" dirty="0">
                <a:solidFill>
                  <a:srgbClr val="6B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</a:t>
            </a:r>
            <a:r>
              <a:rPr lang="en-US" sz="1350" b="1" dirty="0">
                <a:solidFill>
                  <a:srgbClr val="6B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</a:t>
            </a:r>
            <a:r>
              <a:rPr lang="en-US" sz="1350" b="1" dirty="0" err="1">
                <a:solidFill>
                  <a:srgbClr val="6B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的人都</a:t>
            </a:r>
            <a:r>
              <a:rPr lang="en-US" sz="1350" b="1" dirty="0">
                <a:solidFill>
                  <a:srgbClr val="6B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……</a:t>
            </a:r>
            <a:endParaRPr lang="en-US" sz="135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6480" y="4108103"/>
            <a:ext cx="2602260" cy="1771650"/>
          </a:xfrm>
          <a:prstGeom prst="rect">
            <a:avLst/>
          </a:prstGeom>
        </p:spPr>
      </p:pic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6980" y="4298603"/>
            <a:ext cx="400050" cy="400050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6866186" y="4370040"/>
            <a:ext cx="302270" cy="3000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endParaRPr lang="en-US" sz="1650" dirty="0"/>
          </a:p>
        </p:txBody>
      </p:sp>
      <p:sp>
        <p:nvSpPr>
          <p:cNvPr id="27" name="Text 14"/>
          <p:cNvSpPr txBox="1"/>
          <p:nvPr/>
        </p:nvSpPr>
        <p:spPr>
          <a:xfrm>
            <a:off x="7273230" y="4341465"/>
            <a:ext cx="1143000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舉例說明</a:t>
            </a:r>
            <a:endParaRPr lang="en-US" sz="2250" dirty="0"/>
          </a:p>
        </p:txBody>
      </p:sp>
      <p:sp>
        <p:nvSpPr>
          <p:cNvPr id="28" name="Text 15"/>
          <p:cNvSpPr txBox="1"/>
          <p:nvPr/>
        </p:nvSpPr>
        <p:spPr>
          <a:xfrm>
            <a:off x="7046565" y="4736753"/>
            <a:ext cx="1971675" cy="523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063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失敗乃成功之母</a:t>
            </a:r>
            <a:endParaRPr lang="en-US" sz="1650" dirty="0"/>
          </a:p>
          <a:p>
            <a:pPr marL="285750" indent="-285750" algn="l">
              <a:lnSpc>
                <a:spcPts val="2063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用名人例子</a:t>
            </a:r>
            <a:endParaRPr lang="en-US" sz="165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6980" y="5355878"/>
            <a:ext cx="2221260" cy="333375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6873180" y="5422553"/>
            <a:ext cx="206886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spcBef>
                <a:spcPts val="150"/>
              </a:spcBef>
              <a:buNone/>
            </a:pPr>
            <a:r>
              <a:rPr lang="en-US" sz="1350" b="1" dirty="0" err="1">
                <a:solidFill>
                  <a:srgbClr val="6B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例：愛迪生</a:t>
            </a:r>
            <a:r>
              <a:rPr lang="zh-TW" altLang="en-US" sz="1350" b="1" dirty="0">
                <a:solidFill>
                  <a:srgbClr val="6B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試了一千</a:t>
            </a:r>
            <a:r>
              <a:rPr lang="en-US" sz="1350" b="1" dirty="0">
                <a:solidFill>
                  <a:srgbClr val="6B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次</a:t>
            </a:r>
            <a:endParaRPr lang="en-US" sz="135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3040" y="4108103"/>
            <a:ext cx="2602260" cy="1771650"/>
          </a:xfrm>
          <a:prstGeom prst="rect">
            <a:avLst/>
          </a:prstGeom>
        </p:spPr>
      </p:pic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13540" y="4298603"/>
            <a:ext cx="400050" cy="400050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9582745" y="4370040"/>
            <a:ext cx="302270" cy="3000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🍲</a:t>
            </a:r>
            <a:endParaRPr lang="en-US" sz="1650" dirty="0"/>
          </a:p>
        </p:txBody>
      </p:sp>
      <p:sp>
        <p:nvSpPr>
          <p:cNvPr id="34" name="Text 18"/>
          <p:cNvSpPr txBox="1"/>
          <p:nvPr/>
        </p:nvSpPr>
        <p:spPr>
          <a:xfrm>
            <a:off x="9989790" y="4341465"/>
            <a:ext cx="1143000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比喻說明</a:t>
            </a:r>
            <a:endParaRPr lang="en-US" sz="2250" dirty="0"/>
          </a:p>
        </p:txBody>
      </p:sp>
      <p:sp>
        <p:nvSpPr>
          <p:cNvPr id="35" name="Text 19"/>
          <p:cNvSpPr txBox="1"/>
          <p:nvPr/>
        </p:nvSpPr>
        <p:spPr>
          <a:xfrm>
            <a:off x="9913590" y="4755803"/>
            <a:ext cx="2221260" cy="523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63"/>
              </a:lnSpc>
              <a:buNone/>
            </a:pPr>
            <a:r>
              <a:rPr lang="en-US" sz="165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抽象→具體</a:t>
            </a:r>
            <a:endParaRPr lang="en-US" sz="1650" dirty="0"/>
          </a:p>
          <a:p>
            <a:pPr marL="0" indent="0" algn="l">
              <a:lnSpc>
                <a:spcPts val="2063"/>
              </a:lnSpc>
              <a:buNone/>
            </a:pPr>
            <a:r>
              <a:rPr lang="en-US" sz="165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豆腐、湯丸喻人格</a:t>
            </a:r>
            <a:endParaRPr lang="en-US" sz="1650" dirty="0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3540" y="5355878"/>
            <a:ext cx="2221260" cy="333375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9589740" y="5417790"/>
            <a:ext cx="2068860" cy="2333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6B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例：人格像豆腐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42900"/>
            <a:ext cx="1962299" cy="77152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0075" y="428625"/>
            <a:ext cx="1600349" cy="600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5A421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注意事項</a:t>
            </a:r>
            <a:endParaRPr lang="en-US" sz="3150" dirty="0"/>
          </a:p>
        </p:txBody>
      </p:sp>
      <p:sp>
        <p:nvSpPr>
          <p:cNvPr id="4" name="Text 1"/>
          <p:cNvSpPr txBox="1"/>
          <p:nvPr/>
        </p:nvSpPr>
        <p:spPr>
          <a:xfrm>
            <a:off x="2514749" y="442020"/>
            <a:ext cx="5264944" cy="5732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dirty="0" err="1">
                <a:solidFill>
                  <a:srgbClr val="E9EBE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口頭報告</a:t>
            </a:r>
            <a:r>
              <a:rPr lang="zh-TW" altLang="en-US" sz="3900" b="1" dirty="0">
                <a:solidFill>
                  <a:srgbClr val="E9EBE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心得</a:t>
            </a:r>
            <a:r>
              <a:rPr lang="en-US" sz="3900" b="1" dirty="0">
                <a:solidFill>
                  <a:srgbClr val="E9EBE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 📊✨</a:t>
            </a:r>
            <a:endParaRPr lang="en-US" sz="3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247775"/>
            <a:ext cx="5610225" cy="130954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1457325"/>
            <a:ext cx="419100" cy="4191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14524" y="1524000"/>
            <a:ext cx="352276" cy="3524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1162050" y="1480691"/>
            <a:ext cx="1619250" cy="3723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3"/>
              </a:lnSpc>
              <a:buNone/>
            </a:pPr>
            <a:r>
              <a:rPr lang="en-US" sz="255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主題要清晰</a:t>
            </a:r>
            <a:endParaRPr lang="en-US" sz="2550" dirty="0"/>
          </a:p>
        </p:txBody>
      </p:sp>
      <p:sp>
        <p:nvSpPr>
          <p:cNvPr id="9" name="Text 4"/>
          <p:cNvSpPr txBox="1"/>
          <p:nvPr/>
        </p:nvSpPr>
        <p:spPr>
          <a:xfrm>
            <a:off x="1171575" y="1952426"/>
            <a:ext cx="5153025" cy="2875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開頭就建主線，一句話說清楚你要講什麼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675" y="1247775"/>
            <a:ext cx="5610225" cy="1192411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1457325"/>
            <a:ext cx="419100" cy="4191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458099" y="1524000"/>
            <a:ext cx="352276" cy="3524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💪</a:t>
            </a:r>
            <a:endParaRPr lang="en-US" sz="1800" dirty="0"/>
          </a:p>
        </p:txBody>
      </p:sp>
      <p:sp>
        <p:nvSpPr>
          <p:cNvPr id="13" name="Text 6"/>
          <p:cNvSpPr txBox="1"/>
          <p:nvPr/>
        </p:nvSpPr>
        <p:spPr>
          <a:xfrm>
            <a:off x="6905625" y="1480691"/>
            <a:ext cx="1943100" cy="3723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3"/>
              </a:lnSpc>
              <a:buNone/>
            </a:pPr>
            <a:r>
              <a:rPr lang="en-US" sz="255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說辭要給信心</a:t>
            </a:r>
            <a:endParaRPr lang="en-US" sz="2550" dirty="0"/>
          </a:p>
        </p:txBody>
      </p:sp>
      <p:sp>
        <p:nvSpPr>
          <p:cNvPr id="14" name="Text 7"/>
          <p:cNvSpPr txBox="1"/>
          <p:nvPr/>
        </p:nvSpPr>
        <p:spPr>
          <a:xfrm>
            <a:off x="6905625" y="1943100"/>
            <a:ext cx="5153025" cy="2875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 err="1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用數字、圖表、引用論證，不要空口</a:t>
            </a:r>
            <a:r>
              <a:rPr lang="zh-TW" altLang="en-US" sz="18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說</a:t>
            </a:r>
            <a:r>
              <a:rPr lang="en-US" sz="1800" b="1" dirty="0" err="1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白話</a:t>
            </a:r>
            <a:endParaRPr lang="en-US" sz="18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2790178"/>
            <a:ext cx="5610225" cy="1622335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90" y="3025973"/>
            <a:ext cx="419100" cy="41910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762149" y="3076575"/>
            <a:ext cx="352276" cy="3524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</a:t>
            </a:r>
            <a:endParaRPr lang="en-US" sz="1800" dirty="0"/>
          </a:p>
        </p:txBody>
      </p:sp>
      <p:sp>
        <p:nvSpPr>
          <p:cNvPr id="18" name="Text 9"/>
          <p:cNvSpPr txBox="1"/>
          <p:nvPr/>
        </p:nvSpPr>
        <p:spPr>
          <a:xfrm>
            <a:off x="1281112" y="2979966"/>
            <a:ext cx="1943100" cy="3723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3"/>
              </a:lnSpc>
              <a:buNone/>
            </a:pPr>
            <a:r>
              <a:rPr lang="zh-TW" altLang="en-US" sz="255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適度運用</a:t>
            </a:r>
            <a:r>
              <a:rPr lang="en-US" sz="2550" b="1" dirty="0" err="1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專業語言</a:t>
            </a:r>
            <a:r>
              <a:rPr lang="zh-TW" altLang="en-US" sz="255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（加以說明）</a:t>
            </a:r>
            <a:endParaRPr lang="en-US" sz="2550" dirty="0"/>
          </a:p>
        </p:txBody>
      </p:sp>
      <p:sp>
        <p:nvSpPr>
          <p:cNvPr id="19" name="Text 10"/>
          <p:cNvSpPr txBox="1"/>
          <p:nvPr/>
        </p:nvSpPr>
        <p:spPr>
          <a:xfrm>
            <a:off x="1798517" y="3702326"/>
            <a:ext cx="3249881" cy="2875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zh-TW" altLang="en-US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表現內行，</a:t>
            </a:r>
            <a:r>
              <a:rPr lang="en-US" sz="1800" b="1" dirty="0" err="1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但不賣弄術語</a:t>
            </a:r>
            <a:endParaRPr lang="en-US" sz="18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675" y="2573536"/>
            <a:ext cx="5610225" cy="1984455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687" y="2886889"/>
            <a:ext cx="419100" cy="41910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491511" y="2919018"/>
            <a:ext cx="352276" cy="3817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💛</a:t>
            </a:r>
            <a:endParaRPr lang="en-US" sz="1800" dirty="0"/>
          </a:p>
        </p:txBody>
      </p:sp>
      <p:sp>
        <p:nvSpPr>
          <p:cNvPr id="23" name="Text 12"/>
          <p:cNvSpPr txBox="1"/>
          <p:nvPr/>
        </p:nvSpPr>
        <p:spPr>
          <a:xfrm>
            <a:off x="6996236" y="2960979"/>
            <a:ext cx="3704978" cy="3723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3"/>
              </a:lnSpc>
              <a:buNone/>
            </a:pPr>
            <a:r>
              <a:rPr lang="zh-TW" altLang="en-US" sz="255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需要時可運用</a:t>
            </a:r>
            <a:r>
              <a:rPr lang="en-US" sz="2550" b="1" dirty="0" err="1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文學語言</a:t>
            </a:r>
            <a:endParaRPr lang="en-US" sz="2550" dirty="0"/>
          </a:p>
        </p:txBody>
      </p:sp>
      <p:sp>
        <p:nvSpPr>
          <p:cNvPr id="24" name="Text 13"/>
          <p:cNvSpPr txBox="1"/>
          <p:nvPr/>
        </p:nvSpPr>
        <p:spPr>
          <a:xfrm>
            <a:off x="7044420" y="3474982"/>
            <a:ext cx="4461658" cy="2875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zh-TW" altLang="en-US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如：要遊說政府增加綜援金，</a:t>
            </a:r>
            <a:br>
              <a:rPr lang="en-HK" altLang="zh-TW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HK" altLang="zh-TW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</a:t>
            </a:r>
            <a:r>
              <a:rPr lang="en-US" sz="18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</a:t>
            </a:r>
            <a:r>
              <a:rPr lang="en-US" sz="1800" b="1" dirty="0" err="1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路有凍死骨</a:t>
            </a:r>
            <a:r>
              <a:rPr lang="en-US" sz="18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」</a:t>
            </a:r>
            <a:r>
              <a:rPr lang="zh-TW" altLang="en-US" sz="1800" b="1" dirty="0">
                <a:solidFill>
                  <a:srgbClr val="4A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也許比數據更有表現力</a:t>
            </a:r>
            <a:endParaRPr lang="en-US" sz="18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25" y="4799417"/>
            <a:ext cx="11353800" cy="971550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" y="5090647"/>
            <a:ext cx="1333500" cy="361950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647700" y="5143036"/>
            <a:ext cx="11430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開場對比公式</a:t>
            </a:r>
            <a:endParaRPr lang="en-US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05099" y="5037534"/>
            <a:ext cx="2762250" cy="561975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2200424" y="5104935"/>
            <a:ext cx="2571601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差：平淡開場</a:t>
            </a:r>
            <a:endParaRPr lang="en-US" sz="1950" dirty="0"/>
          </a:p>
        </p:txBody>
      </p:sp>
      <p:sp>
        <p:nvSpPr>
          <p:cNvPr id="30" name="Text 16"/>
          <p:cNvSpPr txBox="1"/>
          <p:nvPr/>
        </p:nvSpPr>
        <p:spPr>
          <a:xfrm>
            <a:off x="4915048" y="5143036"/>
            <a:ext cx="266700" cy="3619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62500" y="5016084"/>
            <a:ext cx="2762250" cy="590550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5334222" y="5103049"/>
            <a:ext cx="2571601" cy="3619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好：提問題</a:t>
            </a:r>
            <a:endParaRPr lang="en-US" sz="2100" dirty="0"/>
          </a:p>
        </p:txBody>
      </p:sp>
      <p:sp>
        <p:nvSpPr>
          <p:cNvPr id="33" name="Text 18"/>
          <p:cNvSpPr txBox="1"/>
          <p:nvPr/>
        </p:nvSpPr>
        <p:spPr>
          <a:xfrm>
            <a:off x="8267624" y="5130384"/>
            <a:ext cx="266700" cy="3619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96326" y="4922074"/>
            <a:ext cx="2762250" cy="723900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8848725" y="5051110"/>
            <a:ext cx="2571750" cy="419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更佳：講故事 ⭐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62300" y="342900"/>
            <a:ext cx="8572500" cy="5200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highlight>
                  <a:srgbClr val="BE885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口頭報告策略</a:t>
            </a:r>
            <a:r>
              <a:rPr lang="en-US" sz="390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內容＋演出 兩手抓 🎬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15305"/>
            <a:ext cx="6441430" cy="51092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23900" y="1262955"/>
            <a:ext cx="5908030" cy="3771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 內容設計 </a:t>
            </a:r>
            <a:r>
              <a:rPr lang="en-US" sz="1350" b="1" dirty="0">
                <a:solidFill>
                  <a:srgbClr val="FFFFFF"/>
                </a:solidFill>
                <a:highlight>
                  <a:srgbClr val="2C2A3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一眼看懂</a:t>
            </a:r>
            <a:endParaRPr lang="en-US" sz="2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773436"/>
            <a:ext cx="304800" cy="304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81199" y="1830586"/>
            <a:ext cx="218926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1123950" y="1754386"/>
            <a:ext cx="4000500" cy="3571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盡量簡單，用詞易懂，視覺簡潔</a:t>
            </a:r>
            <a:endParaRPr lang="en-US" sz="2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225873"/>
            <a:ext cx="304800" cy="3048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81199" y="2283023"/>
            <a:ext cx="218926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1123950" y="2206823"/>
            <a:ext cx="3143250" cy="3571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13"/>
              </a:lnSpc>
              <a:buNone/>
            </a:pPr>
            <a:r>
              <a:rPr lang="en-US" sz="22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證據簡</a:t>
            </a:r>
            <a:r>
              <a:rPr lang="zh-TW" alt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明</a:t>
            </a: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，圖表一目了然</a:t>
            </a:r>
            <a:endParaRPr lang="en-US" sz="2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678311"/>
            <a:ext cx="304800" cy="3048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81199" y="2735461"/>
            <a:ext cx="218926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1123950" y="2659261"/>
            <a:ext cx="3543300" cy="3571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</a:t>
            </a:r>
            <a:r>
              <a:rPr lang="en-US" sz="2250" b="1" dirty="0">
                <a:solidFill>
                  <a:srgbClr val="2C2A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開頭結尾</a:t>
            </a:r>
            <a:r>
              <a:rPr lang="en-US" sz="22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，觀眾最記得</a:t>
            </a:r>
            <a:endParaRPr lang="en-US" sz="2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149798"/>
            <a:ext cx="5908030" cy="103822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3916" y="3273623"/>
            <a:ext cx="879574" cy="79057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2407741" y="3359348"/>
            <a:ext cx="631775" cy="3429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2A7A2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5個</a:t>
            </a:r>
            <a:endParaRPr lang="en-US" sz="2700" dirty="0"/>
          </a:p>
        </p:txBody>
      </p:sp>
      <p:sp>
        <p:nvSpPr>
          <p:cNvPr id="17" name="Text 9"/>
          <p:cNvSpPr txBox="1"/>
          <p:nvPr/>
        </p:nvSpPr>
        <p:spPr>
          <a:xfrm>
            <a:off x="2407741" y="3749873"/>
            <a:ext cx="631924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25"/>
              </a:lnSpc>
              <a:spcBef>
                <a:spcPts val="150"/>
              </a:spcBef>
              <a:buNone/>
            </a:pPr>
            <a:r>
              <a:rPr lang="en-US" sz="13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最 好</a:t>
            </a:r>
            <a:r>
              <a:rPr lang="en-US" sz="135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⭐️</a:t>
            </a:r>
            <a:endParaRPr lang="en-US" sz="13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8266" y="3273623"/>
            <a:ext cx="838200" cy="79057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3382566" y="3359348"/>
            <a:ext cx="590401" cy="3429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8A6D1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7個</a:t>
            </a:r>
            <a:endParaRPr lang="en-US" sz="2700" dirty="0"/>
          </a:p>
        </p:txBody>
      </p:sp>
      <p:sp>
        <p:nvSpPr>
          <p:cNvPr id="20" name="Text 11"/>
          <p:cNvSpPr txBox="1"/>
          <p:nvPr/>
        </p:nvSpPr>
        <p:spPr>
          <a:xfrm>
            <a:off x="3382566" y="3749873"/>
            <a:ext cx="5905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25"/>
              </a:lnSpc>
              <a:spcBef>
                <a:spcPts val="150"/>
              </a:spcBef>
              <a:buNone/>
            </a:pPr>
            <a:r>
              <a:rPr lang="en-US" sz="13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可處理</a:t>
            </a:r>
            <a:endParaRPr lang="en-US" sz="13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2191" y="3273623"/>
            <a:ext cx="879574" cy="790575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4316016" y="3359348"/>
            <a:ext cx="631775" cy="3429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9E2A5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9個</a:t>
            </a:r>
            <a:endParaRPr lang="en-US" sz="2700" dirty="0"/>
          </a:p>
        </p:txBody>
      </p:sp>
      <p:sp>
        <p:nvSpPr>
          <p:cNvPr id="23" name="Text 13"/>
          <p:cNvSpPr txBox="1"/>
          <p:nvPr/>
        </p:nvSpPr>
        <p:spPr>
          <a:xfrm>
            <a:off x="4316016" y="3749873"/>
            <a:ext cx="631924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25"/>
              </a:lnSpc>
              <a:spcBef>
                <a:spcPts val="150"/>
              </a:spcBef>
              <a:buNone/>
            </a:pPr>
            <a:r>
              <a:rPr lang="en-US" sz="13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太 多 </a:t>
            </a:r>
            <a:r>
              <a:rPr lang="en-US" sz="1350" b="1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endParaRPr lang="en-US" sz="1350" dirty="0"/>
          </a:p>
        </p:txBody>
      </p:sp>
      <p:sp>
        <p:nvSpPr>
          <p:cNvPr id="24" name="Text 14"/>
          <p:cNvSpPr txBox="1"/>
          <p:nvPr/>
        </p:nvSpPr>
        <p:spPr>
          <a:xfrm>
            <a:off x="723900" y="4330898"/>
            <a:ext cx="590803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B5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Magic Seven 記憶法則</a:t>
            </a:r>
            <a:endParaRPr lang="en-US" sz="15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0080" y="1015305"/>
            <a:ext cx="4664571" cy="510927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7336780" y="1262955"/>
            <a:ext cx="4131171" cy="3771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🔥 演出效果</a:t>
            </a:r>
            <a:endParaRPr lang="en-US" sz="27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6780" y="1773436"/>
            <a:ext cx="304800" cy="30480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7394079" y="1830586"/>
            <a:ext cx="218926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🙈</a:t>
            </a:r>
            <a:endParaRPr lang="en-US" sz="1200" dirty="0"/>
          </a:p>
        </p:txBody>
      </p:sp>
      <p:sp>
        <p:nvSpPr>
          <p:cNvPr id="29" name="Text 17"/>
          <p:cNvSpPr txBox="1"/>
          <p:nvPr/>
        </p:nvSpPr>
        <p:spPr>
          <a:xfrm>
            <a:off x="7736830" y="1754386"/>
            <a:ext cx="2667149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25"/>
              </a:lnSpc>
              <a:buNone/>
            </a:pPr>
            <a:r>
              <a:rPr lang="en-US" sz="21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不要</a:t>
            </a:r>
            <a:r>
              <a:rPr lang="zh-TW" alt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同時展</a:t>
            </a:r>
            <a:r>
              <a:rPr lang="en-US" sz="21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示所有文</a:t>
            </a:r>
            <a:r>
              <a:rPr lang="zh-TW" alt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字</a:t>
            </a:r>
            <a:endParaRPr lang="en-US" sz="21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6780" y="2202061"/>
            <a:ext cx="304800" cy="304800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7394079" y="2259211"/>
            <a:ext cx="218926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🧍</a:t>
            </a:r>
            <a:endParaRPr lang="en-US" sz="1200" dirty="0"/>
          </a:p>
        </p:txBody>
      </p:sp>
      <p:sp>
        <p:nvSpPr>
          <p:cNvPr id="32" name="Text 19"/>
          <p:cNvSpPr txBox="1"/>
          <p:nvPr/>
        </p:nvSpPr>
        <p:spPr>
          <a:xfrm>
            <a:off x="7736830" y="2183011"/>
            <a:ext cx="3731121" cy="666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5"/>
              </a:lnSpc>
              <a:buNone/>
            </a:pPr>
            <a:r>
              <a:rPr lang="en-US" sz="21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一定要站著講</a:t>
            </a: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b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1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保持熱情＋肢體</a:t>
            </a:r>
            <a:r>
              <a:rPr lang="zh-TW" alt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語言</a:t>
            </a:r>
            <a:endParaRPr lang="en-US" sz="21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6780" y="2964060"/>
            <a:ext cx="4131171" cy="2142329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8705" y="3087886"/>
            <a:ext cx="1028849" cy="371475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7593955" y="3145036"/>
            <a:ext cx="838349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道具加分</a:t>
            </a:r>
            <a:endParaRPr lang="en-US" sz="1650" dirty="0"/>
          </a:p>
        </p:txBody>
      </p:sp>
      <p:sp>
        <p:nvSpPr>
          <p:cNvPr id="36" name="Text 21"/>
          <p:cNvSpPr txBox="1"/>
          <p:nvPr/>
        </p:nvSpPr>
        <p:spPr>
          <a:xfrm>
            <a:off x="7593955" y="3682306"/>
            <a:ext cx="3807321" cy="10203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📄投影片圖解＋📱</a:t>
            </a:r>
            <a:r>
              <a:rPr lang="en-US" sz="19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樣品</a:t>
            </a:r>
            <a:b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endParaRPr lang="en-US" sz="1950" dirty="0"/>
          </a:p>
          <a:p>
            <a:pPr marL="0" indent="0" algn="l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🎨</a:t>
            </a:r>
            <a:r>
              <a:rPr lang="en-US" sz="19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插圖道具</a:t>
            </a: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＋</a:t>
            </a:r>
            <a:r>
              <a:rPr lang="zh-TW" alt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需要時可配隊服</a:t>
            </a:r>
            <a:endParaRPr lang="en-US" sz="1950" dirty="0"/>
          </a:p>
        </p:txBody>
      </p:sp>
      <p:sp>
        <p:nvSpPr>
          <p:cNvPr id="37" name="Text 22"/>
          <p:cNvSpPr txBox="1"/>
          <p:nvPr/>
        </p:nvSpPr>
        <p:spPr>
          <a:xfrm>
            <a:off x="457200" y="6305550"/>
            <a:ext cx="1127745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 </a:t>
            </a:r>
            <a:r>
              <a:rPr lang="en-US" sz="1650" b="1" dirty="0" err="1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站著講</a:t>
            </a:r>
            <a:r>
              <a:rPr lang="en-US" sz="165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＋</a:t>
            </a:r>
            <a:r>
              <a:rPr lang="zh-TW" altLang="en-US" sz="165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資料</a:t>
            </a:r>
            <a:r>
              <a:rPr lang="en-US" sz="1650" b="1" dirty="0" err="1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藏一手</a:t>
            </a:r>
            <a:r>
              <a:rPr lang="zh-TW" altLang="en-US" sz="165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（手機其實不夠大方得體）</a:t>
            </a:r>
            <a:r>
              <a:rPr lang="en-US" sz="165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＋5 </a:t>
            </a:r>
            <a:r>
              <a:rPr lang="en-US" sz="1650" b="1" dirty="0" err="1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點最好記</a:t>
            </a:r>
            <a:r>
              <a:rPr lang="en-US" sz="165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專業報告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42900"/>
            <a:ext cx="1981349" cy="79057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438150"/>
            <a:ext cx="1600349" cy="600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9273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實戰必學</a:t>
            </a:r>
            <a:endParaRPr lang="en-US" sz="3150" dirty="0"/>
          </a:p>
        </p:txBody>
      </p:sp>
      <p:sp>
        <p:nvSpPr>
          <p:cNvPr id="4" name="Text 1"/>
          <p:cNvSpPr txBox="1"/>
          <p:nvPr/>
        </p:nvSpPr>
        <p:spPr>
          <a:xfrm>
            <a:off x="2533799" y="463897"/>
            <a:ext cx="4827240" cy="548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95"/>
              </a:lnSpc>
              <a:buNone/>
            </a:pPr>
            <a:r>
              <a:rPr lang="en-US" sz="3900" b="1" dirty="0" err="1">
                <a:solidFill>
                  <a:srgbClr val="E9EBE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回應</a:t>
            </a:r>
            <a:r>
              <a:rPr lang="zh-TW" altLang="en-US" sz="3900" b="1" dirty="0">
                <a:solidFill>
                  <a:srgbClr val="E9EBE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與提問</a:t>
            </a:r>
            <a:r>
              <a:rPr lang="en-US" sz="3900" b="1" dirty="0" err="1">
                <a:solidFill>
                  <a:srgbClr val="E9EBE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技巧</a:t>
            </a:r>
            <a:r>
              <a:rPr lang="en-US" sz="3900" b="1" dirty="0">
                <a:solidFill>
                  <a:srgbClr val="E9EBE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 💬🙋</a:t>
            </a:r>
            <a:endParaRPr lang="en-US" sz="3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285875"/>
            <a:ext cx="5591175" cy="48387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514475"/>
            <a:ext cx="457200" cy="4572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40718" y="1595438"/>
            <a:ext cx="383232" cy="3762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endParaRPr lang="en-US" sz="1950" dirty="0"/>
          </a:p>
        </p:txBody>
      </p:sp>
      <p:sp>
        <p:nvSpPr>
          <p:cNvPr id="8" name="Text 3"/>
          <p:cNvSpPr txBox="1"/>
          <p:nvPr/>
        </p:nvSpPr>
        <p:spPr>
          <a:xfrm>
            <a:off x="1219200" y="1554510"/>
            <a:ext cx="1329035" cy="3771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dirty="0" err="1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回應</a:t>
            </a:r>
            <a:r>
              <a:rPr lang="zh-TW" altLang="en-US" sz="27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方式</a:t>
            </a:r>
            <a:endParaRPr lang="en-US" sz="2700" dirty="0"/>
          </a:p>
        </p:txBody>
      </p:sp>
      <p:sp>
        <p:nvSpPr>
          <p:cNvPr id="9" name="Shape 4"/>
          <p:cNvSpPr/>
          <p:nvPr/>
        </p:nvSpPr>
        <p:spPr>
          <a:xfrm>
            <a:off x="666750" y="2085975"/>
            <a:ext cx="5095875" cy="52387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800100" y="2228850"/>
            <a:ext cx="26149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spcBef>
                <a:spcPts val="150"/>
              </a:spcBef>
              <a:buNone/>
            </a:pPr>
            <a:r>
              <a:rPr lang="en-US" sz="16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</a:t>
            </a:r>
            <a:endParaRPr lang="en-US" sz="1650" dirty="0"/>
          </a:p>
        </p:txBody>
      </p:sp>
      <p:sp>
        <p:nvSpPr>
          <p:cNvPr id="11" name="Text 6"/>
          <p:cNvSpPr txBox="1"/>
          <p:nvPr/>
        </p:nvSpPr>
        <p:spPr>
          <a:xfrm>
            <a:off x="1080641" y="2240310"/>
            <a:ext cx="4548634" cy="3123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zh-TW" altLang="en-US" sz="1950" b="1" dirty="0">
                <a:solidFill>
                  <a:srgbClr val="2C2A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如回應成本控制</a:t>
            </a:r>
            <a:r>
              <a:rPr lang="en-US" sz="1950" b="1" dirty="0">
                <a:solidFill>
                  <a:srgbClr val="2C2A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代價少報酬大，易成功</a:t>
            </a:r>
            <a:endParaRPr lang="en-US" sz="1950" dirty="0"/>
          </a:p>
        </p:txBody>
      </p:sp>
      <p:sp>
        <p:nvSpPr>
          <p:cNvPr id="12" name="Shape 7"/>
          <p:cNvSpPr/>
          <p:nvPr/>
        </p:nvSpPr>
        <p:spPr>
          <a:xfrm>
            <a:off x="666750" y="2705099"/>
            <a:ext cx="5095875" cy="13430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69838" y="2887401"/>
            <a:ext cx="26149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spcBef>
                <a:spcPts val="150"/>
              </a:spcBef>
              <a:buNone/>
            </a:pPr>
            <a:r>
              <a:rPr lang="en-US" sz="16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💛</a:t>
            </a:r>
            <a:endParaRPr lang="en-US" sz="1650" dirty="0"/>
          </a:p>
        </p:txBody>
      </p:sp>
      <p:sp>
        <p:nvSpPr>
          <p:cNvPr id="14" name="Text 9"/>
          <p:cNvSpPr txBox="1"/>
          <p:nvPr/>
        </p:nvSpPr>
        <p:spPr>
          <a:xfrm>
            <a:off x="1326579" y="2911822"/>
            <a:ext cx="4472434" cy="63430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1950" b="1" dirty="0" err="1">
                <a:solidFill>
                  <a:srgbClr val="2C2A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同理心</a:t>
            </a:r>
            <a:r>
              <a:rPr lang="en-US" sz="1950" b="1" dirty="0">
                <a:solidFill>
                  <a:srgbClr val="2C2A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r>
              <a:rPr lang="zh-TW" altLang="en-US" sz="1950" b="1" dirty="0">
                <a:solidFill>
                  <a:srgbClr val="2C2A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閣下</a:t>
            </a:r>
            <a:r>
              <a:rPr lang="en-US" sz="19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的問題問得很好</a:t>
            </a: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b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我</a:t>
            </a:r>
            <a:r>
              <a:rPr lang="zh-TW" alt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們</a:t>
            </a:r>
            <a:r>
              <a:rPr lang="en-US" sz="19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理解</a:t>
            </a:r>
            <a:r>
              <a:rPr lang="zh-TW" alt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閣下</a:t>
            </a:r>
            <a:r>
              <a:rPr lang="en-US" sz="19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的疑慮</a:t>
            </a: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b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</a:t>
            </a:r>
            <a:r>
              <a:rPr lang="zh-TW" alt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您的</a:t>
            </a:r>
            <a:r>
              <a:rPr lang="en-US" sz="19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眼光很好</a:t>
            </a:r>
            <a:endParaRPr lang="en-US" sz="1950" dirty="0"/>
          </a:p>
        </p:txBody>
      </p:sp>
      <p:sp>
        <p:nvSpPr>
          <p:cNvPr id="15" name="Shape 10"/>
          <p:cNvSpPr/>
          <p:nvPr/>
        </p:nvSpPr>
        <p:spPr>
          <a:xfrm>
            <a:off x="703138" y="4150867"/>
            <a:ext cx="5095875" cy="125240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800100" y="4207858"/>
            <a:ext cx="26149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spcBef>
                <a:spcPts val="150"/>
              </a:spcBef>
              <a:buNone/>
            </a:pPr>
            <a:r>
              <a:rPr lang="en-US" sz="16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endParaRPr lang="en-US" sz="1650" dirty="0"/>
          </a:p>
        </p:txBody>
      </p:sp>
      <p:sp>
        <p:nvSpPr>
          <p:cNvPr id="17" name="Text 12"/>
          <p:cNvSpPr txBox="1"/>
          <p:nvPr/>
        </p:nvSpPr>
        <p:spPr>
          <a:xfrm>
            <a:off x="1213990" y="4252815"/>
            <a:ext cx="3215505" cy="91925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2C2A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保持主控：</a:t>
            </a: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重定義問題</a:t>
            </a:r>
            <a:endParaRPr lang="en-US" sz="1950" dirty="0"/>
          </a:p>
          <a:p>
            <a:pPr marL="0" indent="0" algn="l">
              <a:lnSpc>
                <a:spcPts val="2535"/>
              </a:lnSpc>
              <a:buNone/>
            </a:pPr>
            <a:r>
              <a:rPr lang="en-US" sz="1500" b="1" dirty="0">
                <a:solidFill>
                  <a:srgbClr val="6A6680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「</a:t>
            </a:r>
            <a:r>
              <a:rPr lang="zh-TW" altLang="en-US" sz="1500" b="1" dirty="0">
                <a:solidFill>
                  <a:srgbClr val="6A6680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這個想法很有道理，再仔細想想，</a:t>
            </a:r>
            <a:br>
              <a:rPr lang="en-HK" altLang="zh-TW" sz="1500" b="1" dirty="0">
                <a:solidFill>
                  <a:srgbClr val="6A6680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HK" altLang="zh-TW" sz="1500" b="1" dirty="0">
                <a:solidFill>
                  <a:srgbClr val="6A6680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    </a:t>
            </a:r>
            <a:r>
              <a:rPr lang="en-US" sz="1500" b="1" dirty="0">
                <a:solidFill>
                  <a:srgbClr val="6A6680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我</a:t>
            </a:r>
            <a:r>
              <a:rPr lang="zh-TW" altLang="en-US" sz="1500" b="1" dirty="0">
                <a:solidFill>
                  <a:srgbClr val="6A6680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們</a:t>
            </a:r>
            <a:r>
              <a:rPr lang="en-US" sz="1500" b="1" dirty="0" err="1">
                <a:solidFill>
                  <a:srgbClr val="6A6680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認為重點在於</a:t>
            </a:r>
            <a:r>
              <a:rPr lang="en-US" sz="1500" b="1" dirty="0">
                <a:solidFill>
                  <a:srgbClr val="6A6680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…...」</a:t>
            </a:r>
            <a:endParaRPr lang="en-US" sz="19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1285875"/>
            <a:ext cx="5591175" cy="4838700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1514475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503343" y="1595438"/>
            <a:ext cx="383232" cy="3762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❓</a:t>
            </a:r>
            <a:endParaRPr lang="en-US" sz="1950" dirty="0"/>
          </a:p>
        </p:txBody>
      </p:sp>
      <p:sp>
        <p:nvSpPr>
          <p:cNvPr id="21" name="Text 14"/>
          <p:cNvSpPr txBox="1"/>
          <p:nvPr/>
        </p:nvSpPr>
        <p:spPr>
          <a:xfrm>
            <a:off x="6981825" y="1554510"/>
            <a:ext cx="1682800" cy="3771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提問 4守則</a:t>
            </a:r>
            <a:endParaRPr lang="en-US" sz="2700" dirty="0"/>
          </a:p>
        </p:txBody>
      </p:sp>
      <p:sp>
        <p:nvSpPr>
          <p:cNvPr id="22" name="Shape 15"/>
          <p:cNvSpPr/>
          <p:nvPr/>
        </p:nvSpPr>
        <p:spPr>
          <a:xfrm>
            <a:off x="6429375" y="2085975"/>
            <a:ext cx="5095875" cy="52387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562725" y="2228850"/>
            <a:ext cx="26149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spcBef>
                <a:spcPts val="150"/>
              </a:spcBef>
              <a:buNone/>
            </a:pPr>
            <a:r>
              <a:rPr lang="en-US" sz="16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☝️</a:t>
            </a:r>
            <a:endParaRPr lang="en-US" sz="1650" dirty="0"/>
          </a:p>
        </p:txBody>
      </p:sp>
      <p:sp>
        <p:nvSpPr>
          <p:cNvPr id="24" name="Text 17"/>
          <p:cNvSpPr txBox="1"/>
          <p:nvPr/>
        </p:nvSpPr>
        <p:spPr>
          <a:xfrm>
            <a:off x="6976616" y="2190750"/>
            <a:ext cx="3402418" cy="3123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1950" b="1" dirty="0" err="1">
                <a:solidFill>
                  <a:srgbClr val="2C2A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一次問一個</a:t>
            </a:r>
            <a:r>
              <a:rPr lang="zh-TW" altLang="en-US" sz="1950" b="1" dirty="0">
                <a:solidFill>
                  <a:srgbClr val="2C2A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問題</a:t>
            </a: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，不要連珠炮</a:t>
            </a:r>
            <a:endParaRPr lang="en-US" sz="1950" dirty="0"/>
          </a:p>
        </p:txBody>
      </p:sp>
      <p:sp>
        <p:nvSpPr>
          <p:cNvPr id="25" name="Shape 18"/>
          <p:cNvSpPr/>
          <p:nvPr/>
        </p:nvSpPr>
        <p:spPr>
          <a:xfrm>
            <a:off x="6429375" y="2705100"/>
            <a:ext cx="5095875" cy="52387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6572461" y="2785895"/>
            <a:ext cx="26149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spcBef>
                <a:spcPts val="150"/>
              </a:spcBef>
              <a:buNone/>
            </a:pPr>
            <a:r>
              <a:rPr lang="en-US" sz="16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⏸️</a:t>
            </a:r>
            <a:endParaRPr lang="en-US" sz="1650" dirty="0"/>
          </a:p>
        </p:txBody>
      </p:sp>
      <p:sp>
        <p:nvSpPr>
          <p:cNvPr id="27" name="Text 20"/>
          <p:cNvSpPr txBox="1"/>
          <p:nvPr/>
        </p:nvSpPr>
        <p:spPr>
          <a:xfrm>
            <a:off x="6919466" y="2809875"/>
            <a:ext cx="3086546" cy="3123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19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問完</a:t>
            </a:r>
            <a:r>
              <a:rPr lang="en-US" sz="1950" b="1" dirty="0" err="1">
                <a:solidFill>
                  <a:srgbClr val="2C2A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停頓一下</a:t>
            </a: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r>
              <a:rPr lang="zh-TW" alt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讓</a:t>
            </a:r>
            <a:r>
              <a:rPr lang="en-US" sz="19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對方思考</a:t>
            </a:r>
            <a:endParaRPr lang="en-US" sz="1950" dirty="0"/>
          </a:p>
        </p:txBody>
      </p:sp>
      <p:sp>
        <p:nvSpPr>
          <p:cNvPr id="28" name="Shape 21"/>
          <p:cNvSpPr/>
          <p:nvPr/>
        </p:nvSpPr>
        <p:spPr>
          <a:xfrm>
            <a:off x="6429375" y="3324225"/>
            <a:ext cx="5095875" cy="52387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6630970" y="3443287"/>
            <a:ext cx="26149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spcBef>
                <a:spcPts val="150"/>
              </a:spcBef>
              <a:buNone/>
            </a:pPr>
            <a:r>
              <a:rPr lang="en-US" sz="16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👂</a:t>
            </a:r>
            <a:endParaRPr lang="en-US" sz="1650" dirty="0"/>
          </a:p>
        </p:txBody>
      </p:sp>
      <p:sp>
        <p:nvSpPr>
          <p:cNvPr id="30" name="Text 23"/>
          <p:cNvSpPr txBox="1"/>
          <p:nvPr/>
        </p:nvSpPr>
        <p:spPr>
          <a:xfrm>
            <a:off x="6978186" y="3471618"/>
            <a:ext cx="4077146" cy="3123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19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學習</a:t>
            </a:r>
            <a:r>
              <a:rPr lang="en-US" sz="1950" b="1" dirty="0" err="1">
                <a:solidFill>
                  <a:srgbClr val="2C2A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聆聽</a:t>
            </a: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＋</a:t>
            </a:r>
            <a:r>
              <a:rPr lang="zh-TW" alt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再</a:t>
            </a:r>
            <a:r>
              <a:rPr lang="en-US" sz="19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提問＋適當</a:t>
            </a:r>
            <a:r>
              <a:rPr lang="zh-TW" alt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時再</a:t>
            </a:r>
            <a:r>
              <a:rPr lang="en-US" sz="19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問為什麼</a:t>
            </a:r>
            <a:endParaRPr lang="en-US" sz="1950" dirty="0"/>
          </a:p>
        </p:txBody>
      </p:sp>
      <p:sp>
        <p:nvSpPr>
          <p:cNvPr id="31" name="Shape 24"/>
          <p:cNvSpPr/>
          <p:nvPr/>
        </p:nvSpPr>
        <p:spPr>
          <a:xfrm>
            <a:off x="6429375" y="3943350"/>
            <a:ext cx="5095875" cy="1103663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6754920" y="4181218"/>
            <a:ext cx="26149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spcBef>
                <a:spcPts val="150"/>
              </a:spcBef>
              <a:buNone/>
            </a:pPr>
            <a:r>
              <a:rPr lang="en-US" sz="1650" dirty="0">
                <a:solidFill>
                  <a:srgbClr val="E9EB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😊</a:t>
            </a:r>
            <a:endParaRPr lang="en-US" sz="1650" dirty="0"/>
          </a:p>
        </p:txBody>
      </p:sp>
      <p:sp>
        <p:nvSpPr>
          <p:cNvPr id="33" name="Text 26"/>
          <p:cNvSpPr txBox="1"/>
          <p:nvPr/>
        </p:nvSpPr>
        <p:spPr>
          <a:xfrm>
            <a:off x="7102136" y="4181218"/>
            <a:ext cx="3276898" cy="3123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1950" b="1" dirty="0" err="1">
                <a:solidFill>
                  <a:srgbClr val="2C2A3A"/>
                </a:solidFill>
                <a:highlight>
                  <a:srgbClr val="FFF3B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注意態度</a:t>
            </a: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r>
              <a:rPr lang="zh-TW" alt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持抱</a:t>
            </a:r>
            <a:r>
              <a:rPr lang="en-US" sz="19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溫柔好奇</a:t>
            </a:r>
            <a:r>
              <a:rPr lang="zh-TW" alt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心態</a:t>
            </a: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b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</a:t>
            </a:r>
            <a:r>
              <a:rPr lang="zh-TW" altLang="en-US" sz="195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謙遜恭敬和善，</a:t>
            </a:r>
            <a:r>
              <a:rPr lang="en-US" sz="195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不審問</a:t>
            </a:r>
            <a:endParaRPr lang="en-US" sz="1950" dirty="0"/>
          </a:p>
        </p:txBody>
      </p:sp>
      <p:sp>
        <p:nvSpPr>
          <p:cNvPr id="34" name="Text 27"/>
          <p:cNvSpPr txBox="1"/>
          <p:nvPr/>
        </p:nvSpPr>
        <p:spPr>
          <a:xfrm>
            <a:off x="419100" y="6305550"/>
            <a:ext cx="1135365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919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 黃色重點：先接住情緒，再引導內容 ⭐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9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800" y="209550"/>
            <a:ext cx="1444972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25"/>
              </a:lnSpc>
              <a:buNone/>
            </a:pPr>
            <a:r>
              <a:rPr lang="en-US" sz="1950" dirty="0">
                <a:solidFill>
                  <a:srgbClr val="E9EBE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⭐️ ✨ 💬 🎤</a:t>
            </a:r>
            <a:endParaRPr lang="en-US" sz="1950" dirty="0"/>
          </a:p>
        </p:txBody>
      </p:sp>
      <p:sp>
        <p:nvSpPr>
          <p:cNvPr id="3" name="Text 1"/>
          <p:cNvSpPr txBox="1"/>
          <p:nvPr/>
        </p:nvSpPr>
        <p:spPr>
          <a:xfrm>
            <a:off x="10820846" y="209550"/>
            <a:ext cx="1066354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25"/>
              </a:lnSpc>
              <a:buNone/>
            </a:pPr>
            <a:r>
              <a:rPr lang="en-US" sz="1950" dirty="0">
                <a:solidFill>
                  <a:srgbClr val="E9EBE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💛 👀 🌟</a:t>
            </a:r>
            <a:endParaRPr lang="en-US" sz="1950" dirty="0"/>
          </a:p>
        </p:txBody>
      </p:sp>
      <p:sp>
        <p:nvSpPr>
          <p:cNvPr id="4" name="Text 2"/>
          <p:cNvSpPr txBox="1"/>
          <p:nvPr/>
        </p:nvSpPr>
        <p:spPr>
          <a:xfrm>
            <a:off x="304800" y="6400800"/>
            <a:ext cx="1508224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75"/>
              </a:lnSpc>
              <a:buNone/>
            </a:pPr>
            <a:r>
              <a:rPr lang="en-US" sz="1650" dirty="0">
                <a:solidFill>
                  <a:srgbClr val="E9EBE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📚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9943207" y="6400800"/>
            <a:ext cx="1943993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75"/>
              </a:lnSpc>
              <a:buNone/>
            </a:pP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2841402" y="907852"/>
            <a:ext cx="6614220" cy="544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90"/>
              </a:lnSpc>
              <a:buNone/>
            </a:pPr>
            <a:r>
              <a:rPr lang="en-US" sz="3000" b="1" dirty="0" err="1">
                <a:solidFill>
                  <a:srgbClr val="5A4210"/>
                </a:solidFill>
                <a:highlight>
                  <a:srgbClr val="FFF6DD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總結</a:t>
            </a:r>
            <a:r>
              <a:rPr lang="en-US" sz="3000" b="1" dirty="0">
                <a:solidFill>
                  <a:srgbClr val="5A4210"/>
                </a:solidFill>
                <a:highlight>
                  <a:srgbClr val="FFF6DD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3900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良好語言習慣</a:t>
            </a: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3900" b="1" dirty="0">
                <a:solidFill>
                  <a:srgbClr val="BE8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＋課堂練習</a:t>
            </a:r>
            <a:endParaRPr lang="en-US" sz="3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20143"/>
            <a:ext cx="5468094" cy="3429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0600" y="1867793"/>
            <a:ext cx="5010894" cy="419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🌸 </a:t>
            </a:r>
            <a:r>
              <a:rPr lang="en-US" sz="2400" b="1" dirty="0" err="1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說話讓人舒服</a:t>
            </a:r>
            <a:r>
              <a:rPr lang="en-US" sz="240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zh-TW" altLang="en-US" sz="2800" b="1" dirty="0">
                <a:solidFill>
                  <a:srgbClr val="FFFFFF"/>
                </a:solidFill>
                <a:highlight>
                  <a:srgbClr val="29273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４</a:t>
            </a:r>
            <a:r>
              <a:rPr lang="en-US" sz="2800" b="1" dirty="0">
                <a:solidFill>
                  <a:srgbClr val="FFFFFF"/>
                </a:solidFill>
                <a:highlight>
                  <a:srgbClr val="29273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招</a:t>
            </a:r>
            <a:endParaRPr lang="en-US" sz="2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382143"/>
            <a:ext cx="304800" cy="304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05049" y="2427387"/>
            <a:ext cx="190351" cy="259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390650" y="2363093"/>
            <a:ext cx="2781746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25"/>
              </a:lnSpc>
              <a:buNone/>
            </a:pP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語言</a:t>
            </a:r>
            <a:r>
              <a:rPr lang="en-US" sz="2100" b="1" dirty="0">
                <a:solidFill>
                  <a:srgbClr val="2C2A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柔和愉快</a:t>
            </a: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，不爭論</a:t>
            </a:r>
            <a:endParaRPr lang="en-US" sz="2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791718"/>
            <a:ext cx="304800" cy="3048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88231" y="2836962"/>
            <a:ext cx="207169" cy="259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447800" y="2772668"/>
            <a:ext cx="2991148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25"/>
              </a:lnSpc>
              <a:buNone/>
            </a:pPr>
            <a:r>
              <a:rPr lang="en-US" sz="2100" b="1" dirty="0">
                <a:solidFill>
                  <a:srgbClr val="2C2A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商量口吻</a:t>
            </a: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，不命令不乞求</a:t>
            </a:r>
            <a:endParaRPr lang="en-US" sz="2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201293"/>
            <a:ext cx="304800" cy="3048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86594" y="3246537"/>
            <a:ext cx="208806" cy="259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1390650" y="3182243"/>
            <a:ext cx="3315146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25"/>
              </a:lnSpc>
              <a:buNone/>
            </a:pP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善用</a:t>
            </a:r>
            <a:r>
              <a:rPr lang="en-US" sz="2100" b="1" dirty="0">
                <a:solidFill>
                  <a:srgbClr val="2C2A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停頓重複</a:t>
            </a: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，讓重點沉澱</a:t>
            </a:r>
            <a:endParaRPr lang="en-US" sz="2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3610868"/>
            <a:ext cx="304800" cy="3048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83915" y="3656112"/>
            <a:ext cx="211485" cy="259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1390650" y="3591818"/>
            <a:ext cx="4610844" cy="666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5"/>
              </a:lnSpc>
              <a:buNone/>
            </a:pPr>
            <a:r>
              <a:rPr lang="en-US" sz="21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</a:t>
            </a:r>
            <a:r>
              <a:rPr lang="en-US" sz="2100" b="1" dirty="0" err="1">
                <a:solidFill>
                  <a:srgbClr val="2C2A3A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對方為中心</a:t>
            </a: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b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</a:t>
            </a:r>
            <a:r>
              <a:rPr lang="en-US" sz="2100" b="1" dirty="0" err="1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您是否認為</a:t>
            </a:r>
            <a:r>
              <a:rPr lang="en-US" sz="2100" b="1" dirty="0">
                <a:solidFill>
                  <a:srgbClr val="2C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……？您看怎樣？</a:t>
            </a:r>
            <a:endParaRPr lang="en-US" sz="2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4372868"/>
            <a:ext cx="5010894" cy="46672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123950" y="4477643"/>
            <a:ext cx="4744194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spcBef>
                <a:spcPts val="300"/>
              </a:spcBef>
              <a:buNone/>
            </a:pPr>
            <a:r>
              <a:rPr lang="en-US" sz="1650" b="1" dirty="0">
                <a:solidFill>
                  <a:srgbClr val="5A42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</a:t>
            </a:r>
            <a:r>
              <a:rPr lang="en-US" sz="1650" b="1" dirty="0" err="1">
                <a:solidFill>
                  <a:srgbClr val="5A42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記住</a:t>
            </a:r>
            <a:r>
              <a:rPr lang="en-US" sz="1650" b="1" dirty="0">
                <a:solidFill>
                  <a:srgbClr val="5A42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r>
              <a:rPr lang="zh-TW" altLang="en-US" sz="1650" b="1" dirty="0">
                <a:solidFill>
                  <a:srgbClr val="5A42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對 方</a:t>
            </a:r>
            <a:r>
              <a:rPr lang="en-US" sz="1650" b="1" dirty="0">
                <a:solidFill>
                  <a:srgbClr val="5A42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比 我 更 重 要</a:t>
            </a:r>
            <a:endParaRPr lang="en-US" sz="16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494" y="1620143"/>
            <a:ext cx="5047506" cy="34290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555409" y="2137321"/>
            <a:ext cx="2701677" cy="3561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5"/>
              </a:lnSpc>
              <a:buNone/>
            </a:pPr>
            <a:r>
              <a:rPr lang="en-US" sz="2550" b="1" dirty="0">
                <a:solidFill>
                  <a:srgbClr val="1F3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 </a:t>
            </a:r>
            <a:r>
              <a:rPr lang="en-US" sz="2550" b="1" dirty="0" err="1">
                <a:solidFill>
                  <a:srgbClr val="1F3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現場實戰</a:t>
            </a:r>
            <a:endParaRPr lang="en-US" sz="25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5818" y="2645866"/>
            <a:ext cx="3678382" cy="96202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625482" y="2806334"/>
            <a:ext cx="3743771" cy="714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13"/>
              </a:lnSpc>
              <a:spcBef>
                <a:spcPts val="600"/>
              </a:spcBef>
              <a:buNone/>
            </a:pPr>
            <a:r>
              <a:rPr lang="en-US" sz="225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題目：我最常使用的</a:t>
            </a:r>
            <a:endParaRPr lang="en-US" sz="2250" dirty="0"/>
          </a:p>
          <a:p>
            <a:pPr marL="0" indent="0" algn="ctr">
              <a:lnSpc>
                <a:spcPts val="2813"/>
              </a:lnSpc>
              <a:spcAft>
                <a:spcPts val="600"/>
              </a:spcAft>
              <a:buNone/>
            </a:pPr>
            <a:r>
              <a:rPr lang="en-US" sz="225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</a:t>
            </a:r>
            <a:r>
              <a:rPr lang="en-US" sz="2250" b="1" dirty="0" err="1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電腦軟件</a:t>
            </a:r>
            <a:r>
              <a:rPr lang="zh-TW" altLang="en-US" sz="225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／手機</a:t>
            </a:r>
            <a:r>
              <a:rPr lang="en-HK" altLang="zh-TW" sz="2250" b="1" dirty="0">
                <a:solidFill>
                  <a:srgbClr val="2927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</a:t>
            </a:r>
            <a:endParaRPr lang="en-US" sz="2250" dirty="0"/>
          </a:p>
        </p:txBody>
      </p:sp>
      <p:sp>
        <p:nvSpPr>
          <p:cNvPr id="27" name="Text 17"/>
          <p:cNvSpPr txBox="1"/>
          <p:nvPr/>
        </p:nvSpPr>
        <p:spPr>
          <a:xfrm>
            <a:off x="7500491" y="3769816"/>
            <a:ext cx="2811363" cy="7620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✅ 用：簡潔扼要＋</a:t>
            </a:r>
            <a:r>
              <a:rPr lang="en-US" sz="14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Magic Seven</a:t>
            </a:r>
            <a:endParaRPr lang="en-US" sz="1500" dirty="0"/>
          </a:p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✅ 用：停頓重音＋眼神交流</a:t>
            </a:r>
            <a:endParaRPr lang="en-US" sz="1500" dirty="0"/>
          </a:p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✅ </a:t>
            </a:r>
            <a:r>
              <a:rPr lang="en-US" sz="1500" b="1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用：數字舉例＋比較比喻</a:t>
            </a:r>
            <a:r>
              <a:rPr lang="zh-TW" altLang="en-US" sz="15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等</a:t>
            </a:r>
            <a:r>
              <a:rPr lang="en-US" sz="15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500" dirty="0"/>
          </a:p>
        </p:txBody>
      </p:sp>
      <p:sp>
        <p:nvSpPr>
          <p:cNvPr id="28" name="Shape 18"/>
          <p:cNvSpPr/>
          <p:nvPr/>
        </p:nvSpPr>
        <p:spPr>
          <a:xfrm>
            <a:off x="762000" y="5181600"/>
            <a:ext cx="10668000" cy="771525"/>
          </a:xfrm>
          <a:prstGeom prst="roundRect">
            <a:avLst>
              <a:gd name="adj" fmla="val 22222"/>
            </a:avLst>
          </a:prstGeom>
          <a:solidFill>
            <a:srgbClr val="BE885A"/>
          </a:solidFill>
          <a:ln/>
        </p:spPr>
      </p:sp>
      <p:sp>
        <p:nvSpPr>
          <p:cNvPr id="29" name="Text 19"/>
          <p:cNvSpPr txBox="1"/>
          <p:nvPr/>
        </p:nvSpPr>
        <p:spPr>
          <a:xfrm>
            <a:off x="1555552" y="5296793"/>
            <a:ext cx="5337125" cy="542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75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🎉 </a:t>
            </a:r>
            <a:r>
              <a:rPr lang="en-US" sz="2850" b="1" dirty="0" err="1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你已經可以上台了</a:t>
            </a:r>
            <a:r>
              <a:rPr lang="en-US" sz="2850" b="1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💪</a:t>
            </a:r>
            <a:endParaRPr lang="en-US" sz="2850" dirty="0"/>
          </a:p>
        </p:txBody>
      </p:sp>
      <p:sp>
        <p:nvSpPr>
          <p:cNvPr id="30" name="Text 20"/>
          <p:cNvSpPr txBox="1"/>
          <p:nvPr/>
        </p:nvSpPr>
        <p:spPr>
          <a:xfrm>
            <a:off x="7006977" y="5439668"/>
            <a:ext cx="362947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｜從我口說我心，到打動20人的</a:t>
            </a:r>
            <a:r>
              <a:rPr lang="zh-TW" altLang="en-US" sz="165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現場</a:t>
            </a:r>
            <a:r>
              <a:rPr lang="en-US" sz="165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｜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1184</Words>
  <Application>Microsoft Office PowerPoint</Application>
  <PresentationFormat>寬螢幕</PresentationFormat>
  <Paragraphs>395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6" baseType="lpstr">
      <vt:lpstr>Inter</vt:lpstr>
      <vt:lpstr>KaiTi</vt:lpstr>
      <vt:lpstr>Spectral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單元一：口頭傳意技巧-100分鐘精華演說課</dc:title>
  <dc:subject>PptxGenJS Presentation</dc:subject>
  <dc:creator>PptxGenJS</dc:creator>
  <cp:lastModifiedBy>YAU, Yuetyee [CLC]</cp:lastModifiedBy>
  <cp:revision>8</cp:revision>
  <dcterms:created xsi:type="dcterms:W3CDTF">2026-09-22T14:00:14Z</dcterms:created>
  <dcterms:modified xsi:type="dcterms:W3CDTF">2026-09-22T14:48:38Z</dcterms:modified>
</cp:coreProperties>
</file>