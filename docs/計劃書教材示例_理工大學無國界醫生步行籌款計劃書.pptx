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18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4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986" y="1074390"/>
            <a:ext cx="4886027" cy="619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46166" y="1931640"/>
            <a:ext cx="4899518" cy="1381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37"/>
              </a:lnSpc>
            </a:pPr>
            <a:r>
              <a:rPr sz="4350" b="0" i="0" u="none">
                <a:solidFill>
                  <a:srgbClr val="0F172A"/>
                </a:solidFill>
                <a:latin typeface="Noto Sans TC Black"/>
              </a:rPr>
              <a:t>20XX年無國界醫生</a:t>
            </a:r>
            <a:r>
              <a:t>
</a:t>
            </a:r>
            <a:r>
              <a:rPr sz="4350" b="0" i="0" u="none">
                <a:solidFill>
                  <a:srgbClr val="0F172A"/>
                </a:solidFill>
                <a:latin typeface="Noto Sans TC Black"/>
              </a:rPr>
              <a:t> 步行籌款計劃書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5550" y="3455640"/>
            <a:ext cx="72009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sz="2700" b="1" i="0" u="none">
                <a:solidFill>
                  <a:srgbClr val="475569"/>
                </a:solidFill>
                <a:latin typeface="Noto Sans TC"/>
              </a:rPr>
              <a:t>為全球戰火、天災與疫症災民籌集醫療救援力量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2437" y="4364235"/>
            <a:ext cx="36671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64748B"/>
                </a:solidFill>
                <a:latin typeface="Noto Sans TC"/>
              </a:rPr>
              <a:t>呈：香港理工大學學生會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7628" y="1149985"/>
            <a:ext cx="1052922" cy="1353155"/>
          </a:xfrm>
          <a:prstGeom prst="rect">
            <a:avLst/>
          </a:prstGeom>
        </p:spPr>
      </p:pic>
      <p:pic>
        <p:nvPicPr>
          <p:cNvPr id="1026" name="Picture 2" descr="無國界醫生組織(香港) - 支持無國界醫生緊急應對全球疫情【01心意慈善捐款｜香港01】">
            <a:extLst>
              <a:ext uri="{FF2B5EF4-FFF2-40B4-BE49-F238E27FC236}">
                <a16:creationId xmlns:a16="http://schemas.microsoft.com/office/drawing/2014/main" id="{FB443BA7-734E-4478-B9BC-5ED10427C1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19" b="24802"/>
          <a:stretch/>
        </p:blipFill>
        <p:spPr bwMode="auto">
          <a:xfrm>
            <a:off x="9269599" y="271166"/>
            <a:ext cx="2398428" cy="1160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27758"/>
            <a:ext cx="533400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1562100"/>
            <a:ext cx="5095875" cy="1859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1" i="0" u="none" dirty="0" err="1">
                <a:solidFill>
                  <a:srgbClr val="334155"/>
                </a:solidFill>
                <a:latin typeface="Noto Sans TC"/>
              </a:rPr>
              <a:t>無國界醫生使命</a:t>
            </a:r>
            <a:r>
              <a:rPr sz="2625" b="1" i="0" u="none" dirty="0">
                <a:solidFill>
                  <a:srgbClr val="334155"/>
                </a:solidFill>
                <a:latin typeface="Noto Sans TC"/>
              </a:rPr>
              <a:t>：</a:t>
            </a:r>
            <a:br>
              <a:rPr lang="en-HK" sz="2625" b="1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每年派出逾3,000名志願人員，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前往80多個戰火、天災及疫症地區提供緊急醫療救援。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828008"/>
            <a:ext cx="4905375" cy="2334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1" i="0" u="none" dirty="0" err="1">
                <a:solidFill>
                  <a:srgbClr val="334155"/>
                </a:solidFill>
                <a:latin typeface="Noto Sans TC"/>
              </a:rPr>
              <a:t>理大學生響應</a:t>
            </a:r>
            <a:r>
              <a:rPr sz="2625" b="1" i="0" u="none" dirty="0">
                <a:solidFill>
                  <a:srgbClr val="334155"/>
                </a:solidFill>
                <a:latin typeface="Noto Sans TC"/>
              </a:rPr>
              <a:t>：</a:t>
            </a:r>
            <a:br>
              <a:rPr lang="en-HK" sz="2625" b="1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雖然未能親赴海外救援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但透過舉辦步行籌款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集結理大師生力量</a:t>
            </a:r>
            <a:r>
              <a:rPr lang="zh-TW" altLang="en-US" sz="2625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altLang="zh-TW" sz="2625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支持醫療救援工作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592460"/>
            <a:ext cx="5334000" cy="400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11" y="1592460"/>
            <a:ext cx="237083" cy="352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851820"/>
            <a:ext cx="237083" cy="352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7024" y="476250"/>
            <a:ext cx="10944649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活動背景與宗旨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84908"/>
            <a:ext cx="5381625" cy="1752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28008"/>
            <a:ext cx="5381625" cy="1752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38875" y="2551658"/>
            <a:ext cx="5650706" cy="466725"/>
          </a:xfrm>
          <a:prstGeom prst="rect">
            <a:avLst/>
          </a:prstGeom>
          <a:noFill/>
        </p:spPr>
        <p:txBody>
          <a:bodyPr wrap="square" lIns="259407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1" i="0" u="none">
                <a:solidFill>
                  <a:srgbClr val="1E293B"/>
                </a:solidFill>
                <a:latin typeface="Noto Sans TC"/>
              </a:rPr>
              <a:t>活動參與對象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2170658"/>
            <a:ext cx="47339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sz="4875" b="0" i="0" u="none">
                <a:solidFill>
                  <a:srgbClr val="DC2626"/>
                </a:solidFill>
                <a:latin typeface="Poppins Black"/>
              </a:rPr>
              <a:t>$350,000+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2885033"/>
            <a:ext cx="47339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1E293B"/>
                </a:solidFill>
                <a:latin typeface="Noto Sans TC"/>
              </a:rPr>
              <a:t>港幣籌款目標金額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4113758"/>
            <a:ext cx="47339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sz="4875" b="0" i="0" u="none">
                <a:solidFill>
                  <a:srgbClr val="0369A1"/>
                </a:solidFill>
                <a:latin typeface="Poppins Black"/>
              </a:rPr>
              <a:t>700人+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4828133"/>
            <a:ext cx="473392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1E293B"/>
                </a:solidFill>
                <a:latin typeface="Noto Sans TC"/>
              </a:rPr>
              <a:t>預計參與總人數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2627858"/>
            <a:ext cx="259407" cy="333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500" y="3132683"/>
            <a:ext cx="49530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0" i="0" u="none">
                <a:solidFill>
                  <a:srgbClr val="334155"/>
                </a:solidFill>
                <a:latin typeface="Noto Sans TC"/>
              </a:rPr>
              <a:t>香港理工大學全體學生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0" y="3789908"/>
            <a:ext cx="49530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0" i="0" u="none">
                <a:solidFill>
                  <a:srgbClr val="334155"/>
                </a:solidFill>
                <a:latin typeface="Noto Sans TC"/>
              </a:rPr>
              <a:t>香港理工大學全體教職員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0" y="4447133"/>
            <a:ext cx="49530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0" i="0" u="none">
                <a:solidFill>
                  <a:srgbClr val="334155"/>
                </a:solidFill>
                <a:latin typeface="Noto Sans TC"/>
              </a:rPr>
              <a:t>學生及教職員之親屬與朋友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3156495"/>
            <a:ext cx="237083" cy="3524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3813720"/>
            <a:ext cx="237083" cy="3524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4470945"/>
            <a:ext cx="237083" cy="3524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97024" y="476250"/>
            <a:ext cx="10944649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籌款目標與服務對象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97024" y="476250"/>
            <a:ext cx="5143924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活動詳情與路線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274415"/>
            <a:ext cx="5524500" cy="466725"/>
          </a:xfrm>
          <a:prstGeom prst="rect">
            <a:avLst/>
          </a:prstGeom>
          <a:noFill/>
        </p:spPr>
        <p:txBody>
          <a:bodyPr wrap="square" lIns="259407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1" i="0" u="none">
                <a:solidFill>
                  <a:srgbClr val="334155"/>
                </a:solidFill>
                <a:latin typeface="Noto Sans TC"/>
              </a:rPr>
              <a:t>活動地點：</a:t>
            </a:r>
            <a:r>
              <a:rPr sz="2625" b="0" i="0" u="none">
                <a:solidFill>
                  <a:srgbClr val="334155"/>
                </a:solidFill>
                <a:latin typeface="Noto Sans TC"/>
              </a:rPr>
              <a:t>香港大潭水塘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31640"/>
            <a:ext cx="5524500" cy="1400175"/>
          </a:xfrm>
          <a:prstGeom prst="rect">
            <a:avLst/>
          </a:prstGeom>
          <a:noFill/>
        </p:spPr>
        <p:txBody>
          <a:bodyPr wrap="square" lIns="259407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1" i="0" u="none" dirty="0" err="1">
                <a:solidFill>
                  <a:srgbClr val="334155"/>
                </a:solidFill>
                <a:latin typeface="Noto Sans TC"/>
              </a:rPr>
              <a:t>活動日期時間</a:t>
            </a:r>
            <a:r>
              <a:rPr sz="2625" b="1" i="0" u="none" dirty="0">
                <a:solidFill>
                  <a:srgbClr val="334155"/>
                </a:solidFill>
                <a:latin typeface="Noto Sans TC"/>
              </a:rPr>
              <a:t>：</a:t>
            </a:r>
            <a:r>
              <a:rPr dirty="0"/>
              <a:t>
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 20XX年2月14日 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10:00 a.m. – 1:30 p.m.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522315"/>
            <a:ext cx="5524500" cy="1400175"/>
          </a:xfrm>
          <a:prstGeom prst="rect">
            <a:avLst/>
          </a:prstGeom>
          <a:noFill/>
        </p:spPr>
        <p:txBody>
          <a:bodyPr wrap="square" lIns="259407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1" i="0" u="none" dirty="0" err="1">
                <a:solidFill>
                  <a:srgbClr val="334155"/>
                </a:solidFill>
                <a:latin typeface="Noto Sans TC"/>
              </a:rPr>
              <a:t>專車接送</a:t>
            </a:r>
            <a:r>
              <a:rPr sz="2625" b="1" i="0" u="none" dirty="0">
                <a:solidFill>
                  <a:srgbClr val="334155"/>
                </a:solidFill>
                <a:latin typeface="Noto Sans TC"/>
              </a:rPr>
              <a:t>：</a:t>
            </a:r>
            <a:r>
              <a:rPr dirty="0"/>
              <a:t>
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 9:00 a.m. </a:t>
            </a: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理大噴水池集合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9:10 a.m. </a:t>
            </a: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準時出發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50615"/>
            <a:ext cx="259407" cy="333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07840"/>
            <a:ext cx="259407" cy="3333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98515"/>
            <a:ext cx="259407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4180"/>
            <a:ext cx="2619375" cy="41076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1774180"/>
            <a:ext cx="2619375" cy="410765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774180"/>
            <a:ext cx="2619375" cy="41076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25" y="1774180"/>
            <a:ext cx="2619375" cy="410765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6040" y="2812405"/>
            <a:ext cx="2350293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0F172A"/>
                </a:solidFill>
                <a:latin typeface="Noto Sans TC"/>
              </a:rPr>
              <a:t>A組：統籌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674" y="3393430"/>
            <a:ext cx="2428875" cy="1763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43"/>
              </a:lnSpc>
            </a:pPr>
            <a:r>
              <a:rPr sz="2625" b="1" i="0" u="none" dirty="0">
                <a:solidFill>
                  <a:srgbClr val="475569"/>
                </a:solidFill>
                <a:latin typeface="Noto Sans TC"/>
              </a:rPr>
              <a:t>編制：5人</a:t>
            </a:r>
            <a:r>
              <a:rPr dirty="0"/>
              <a:t>
</a:t>
            </a:r>
            <a:r>
              <a:rPr sz="2625" b="0" i="0" u="none" dirty="0">
                <a:solidFill>
                  <a:srgbClr val="475569"/>
                </a:solidFill>
                <a:latin typeface="Noto Sans TC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負責</a:t>
            </a:r>
            <a:r>
              <a:rPr lang="zh-TW" altLang="en-US" sz="2000" b="0" i="0" u="none" dirty="0">
                <a:solidFill>
                  <a:srgbClr val="475569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整</a:t>
            </a: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體程序</a:t>
            </a:r>
            <a:r>
              <a:rPr sz="2000" b="0" i="0" u="none" dirty="0">
                <a:solidFill>
                  <a:srgbClr val="475569"/>
                </a:solidFill>
                <a:latin typeface="Noto Sans TC"/>
              </a:rPr>
              <a:t>、</a:t>
            </a:r>
            <a:br>
              <a:rPr lang="en-HK" sz="2000" b="0" i="0" u="none" dirty="0">
                <a:solidFill>
                  <a:srgbClr val="475569"/>
                </a:solidFill>
                <a:latin typeface="Noto Sans TC"/>
              </a:rPr>
            </a:b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物品採購及</a:t>
            </a:r>
            <a:br>
              <a:rPr lang="en-HK" sz="2000" b="0" i="0" u="none" dirty="0">
                <a:solidFill>
                  <a:srgbClr val="475569"/>
                </a:solidFill>
                <a:latin typeface="Noto Sans TC"/>
              </a:rPr>
            </a:b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當日交通安排</a:t>
            </a:r>
            <a:r>
              <a:rPr sz="2000" b="0" i="0" u="none" dirty="0">
                <a:solidFill>
                  <a:srgbClr val="475569"/>
                </a:solidFill>
                <a:latin typeface="Noto Sans TC"/>
              </a:rPr>
              <a:t>。</a:t>
            </a:r>
            <a:endParaRPr sz="2625" b="0" i="0" u="none" dirty="0">
              <a:solidFill>
                <a:srgbClr val="475569"/>
              </a:solidFill>
              <a:latin typeface="Noto Sans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15915" y="2812405"/>
            <a:ext cx="2350293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0F172A"/>
                </a:solidFill>
                <a:latin typeface="Noto Sans TC"/>
              </a:rPr>
              <a:t>B組：聯絡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1875" y="3393430"/>
            <a:ext cx="2428875" cy="2193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43"/>
              </a:lnSpc>
            </a:pPr>
            <a:r>
              <a:rPr sz="2625" b="1" i="0" u="none" dirty="0">
                <a:solidFill>
                  <a:srgbClr val="475569"/>
                </a:solidFill>
                <a:latin typeface="Noto Sans TC"/>
              </a:rPr>
              <a:t>編制：6人</a:t>
            </a:r>
            <a:r>
              <a:rPr dirty="0"/>
              <a:t>
</a:t>
            </a:r>
            <a:r>
              <a:rPr sz="2625" b="0" i="0" u="none" dirty="0">
                <a:solidFill>
                  <a:srgbClr val="475569"/>
                </a:solidFill>
                <a:latin typeface="Noto Sans TC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聯絡贊助機構</a:t>
            </a:r>
            <a:r>
              <a:rPr sz="2000" b="0" i="0" u="none" dirty="0">
                <a:solidFill>
                  <a:srgbClr val="475569"/>
                </a:solidFill>
                <a:latin typeface="Noto Sans TC"/>
              </a:rPr>
              <a:t>、</a:t>
            </a:r>
            <a:br>
              <a:rPr lang="en-HK" sz="2000" b="0" i="0" u="none" dirty="0">
                <a:solidFill>
                  <a:srgbClr val="475569"/>
                </a:solidFill>
                <a:latin typeface="Noto Sans TC"/>
              </a:rPr>
            </a:b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警方</a:t>
            </a:r>
            <a:br>
              <a:rPr lang="en-HK" sz="2000" dirty="0">
                <a:solidFill>
                  <a:srgbClr val="475569"/>
                </a:solidFill>
                <a:latin typeface="Noto Sans TC"/>
              </a:rPr>
            </a:b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及聖約翰救傷隊</a:t>
            </a:r>
            <a:br>
              <a:rPr lang="en-HK" sz="2000" b="0" i="0" u="none" dirty="0">
                <a:solidFill>
                  <a:srgbClr val="475569"/>
                </a:solidFill>
                <a:latin typeface="Noto Sans TC"/>
              </a:rPr>
            </a:b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支援</a:t>
            </a:r>
            <a:r>
              <a:rPr sz="2000" b="0" i="0" u="none" dirty="0">
                <a:solidFill>
                  <a:srgbClr val="475569"/>
                </a:solidFill>
                <a:latin typeface="Noto Sans TC"/>
              </a:rPr>
              <a:t>。</a:t>
            </a:r>
            <a:endParaRPr sz="2625" b="0" i="0" u="none" dirty="0">
              <a:solidFill>
                <a:srgbClr val="475569"/>
              </a:solidFill>
              <a:latin typeface="Noto Sans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5790" y="2812405"/>
            <a:ext cx="2350293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0F172A"/>
                </a:solidFill>
                <a:latin typeface="Noto Sans TC"/>
              </a:rPr>
              <a:t>C組：宣傳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0" y="3393430"/>
            <a:ext cx="2238375" cy="1763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43"/>
              </a:lnSpc>
            </a:pPr>
            <a:r>
              <a:rPr sz="2625" b="1" i="0" u="none" dirty="0">
                <a:solidFill>
                  <a:srgbClr val="475569"/>
                </a:solidFill>
                <a:latin typeface="Noto Sans TC"/>
              </a:rPr>
              <a:t>編制：10人</a:t>
            </a:r>
            <a:r>
              <a:rPr dirty="0"/>
              <a:t>
</a:t>
            </a:r>
            <a:r>
              <a:rPr sz="2625" b="0" i="0" u="none" dirty="0">
                <a:solidFill>
                  <a:srgbClr val="475569"/>
                </a:solidFill>
                <a:latin typeface="Noto Sans TC"/>
              </a:rPr>
              <a:t> </a:t>
            </a:r>
            <a:r>
              <a:rPr sz="2400" b="0" i="0" u="none" dirty="0" err="1">
                <a:solidFill>
                  <a:srgbClr val="475569"/>
                </a:solidFill>
                <a:latin typeface="Noto Sans TC"/>
              </a:rPr>
              <a:t>製作單張海報、課前表演及</a:t>
            </a:r>
            <a:br>
              <a:rPr lang="en-HK" sz="2400" b="0" i="0" u="none" dirty="0">
                <a:solidFill>
                  <a:srgbClr val="475569"/>
                </a:solidFill>
                <a:latin typeface="Noto Sans TC"/>
              </a:rPr>
            </a:br>
            <a:r>
              <a:rPr sz="2400" b="0" i="0" u="none" dirty="0" err="1">
                <a:solidFill>
                  <a:srgbClr val="475569"/>
                </a:solidFill>
                <a:latin typeface="Noto Sans TC"/>
              </a:rPr>
              <a:t>飯堂宣傳擺設</a:t>
            </a:r>
            <a:r>
              <a:rPr sz="2625" b="0" i="0" u="none" dirty="0">
                <a:solidFill>
                  <a:srgbClr val="475569"/>
                </a:solidFill>
                <a:latin typeface="Noto Sans TC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5665" y="2812405"/>
            <a:ext cx="2350293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0F172A"/>
                </a:solidFill>
                <a:latin typeface="Noto Sans TC"/>
              </a:rPr>
              <a:t>D組：財政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5033" y="3393430"/>
            <a:ext cx="2350293" cy="1756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43"/>
              </a:lnSpc>
            </a:pPr>
            <a:r>
              <a:rPr sz="2625" b="1" i="0" u="none" dirty="0">
                <a:solidFill>
                  <a:srgbClr val="475569"/>
                </a:solidFill>
                <a:latin typeface="Noto Sans TC"/>
              </a:rPr>
              <a:t>編制：3人</a:t>
            </a:r>
            <a:r>
              <a:rPr dirty="0"/>
              <a:t>
</a:t>
            </a:r>
            <a:r>
              <a:rPr sz="2625" b="0" i="0" u="none" dirty="0">
                <a:solidFill>
                  <a:srgbClr val="475569"/>
                </a:solidFill>
                <a:latin typeface="Noto Sans TC"/>
              </a:rPr>
              <a:t> </a:t>
            </a: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管理預算開支</a:t>
            </a:r>
            <a:r>
              <a:rPr sz="2000" b="0" i="0" u="none" dirty="0">
                <a:solidFill>
                  <a:srgbClr val="475569"/>
                </a:solidFill>
                <a:latin typeface="Noto Sans TC"/>
              </a:rPr>
              <a:t>、</a:t>
            </a:r>
            <a:br>
              <a:rPr lang="en-HK" sz="2000" b="0" i="0" u="none" dirty="0">
                <a:solidFill>
                  <a:srgbClr val="475569"/>
                </a:solidFill>
                <a:latin typeface="Noto Sans TC"/>
              </a:rPr>
            </a:b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收取善款及</a:t>
            </a:r>
            <a:br>
              <a:rPr lang="en-HK" sz="2000" b="0" i="0" u="none" dirty="0">
                <a:solidFill>
                  <a:srgbClr val="475569"/>
                </a:solidFill>
                <a:latin typeface="Noto Sans TC"/>
              </a:rPr>
            </a:br>
            <a:r>
              <a:rPr sz="2000" b="0" i="0" u="none" dirty="0" err="1">
                <a:solidFill>
                  <a:srgbClr val="475569"/>
                </a:solidFill>
                <a:latin typeface="Noto Sans TC"/>
              </a:rPr>
              <a:t>轉帳至無國界醫生</a:t>
            </a:r>
            <a:r>
              <a:rPr sz="2400" b="0" i="0" u="none" dirty="0">
                <a:solidFill>
                  <a:srgbClr val="475569"/>
                </a:solidFill>
                <a:latin typeface="Noto Sans TC"/>
              </a:rPr>
              <a:t>。</a:t>
            </a:r>
            <a:endParaRPr sz="2625" b="0" i="0" u="none" dirty="0">
              <a:solidFill>
                <a:srgbClr val="475569"/>
              </a:solidFill>
              <a:latin typeface="Noto Sans TC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351" y="2164705"/>
            <a:ext cx="333523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4226" y="2164705"/>
            <a:ext cx="333523" cy="4286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101" y="2164705"/>
            <a:ext cx="333523" cy="4286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3976" y="2164705"/>
            <a:ext cx="333523" cy="4286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97024" y="476250"/>
            <a:ext cx="10944649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籌委會專責小組分工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9245"/>
            <a:ext cx="5334000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99245"/>
            <a:ext cx="5334000" cy="3057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604045"/>
            <a:ext cx="496062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1" i="0" u="none">
                <a:solidFill>
                  <a:srgbClr val="1E293B"/>
                </a:solidFill>
                <a:latin typeface="Noto Sans TC"/>
              </a:rPr>
              <a:t>人流分組出發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85070"/>
            <a:ext cx="4724400" cy="186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700名參加者將分為三組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（300人、200人、200人），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每組相隔10分鐘出發，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防止人流擠塞與混亂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2604045"/>
            <a:ext cx="4960620" cy="436210"/>
          </a:xfrm>
          <a:prstGeom prst="rect">
            <a:avLst/>
          </a:prstGeom>
          <a:noFill/>
        </p:spPr>
        <p:txBody>
          <a:bodyPr wrap="square" lIns="259407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HK" sz="2625" b="1" i="0" u="none" dirty="0">
                <a:solidFill>
                  <a:srgbClr val="1E293B"/>
                </a:solidFill>
                <a:latin typeface="Noto Sans TC"/>
              </a:rPr>
              <a:t> </a:t>
            </a:r>
            <a:r>
              <a:rPr sz="2625" b="1" i="0" u="none" dirty="0" err="1">
                <a:solidFill>
                  <a:srgbClr val="1E293B"/>
                </a:solidFill>
                <a:latin typeface="Noto Sans TC"/>
              </a:rPr>
              <a:t>義工與醫療支援</a:t>
            </a:r>
            <a:endParaRPr sz="2625" b="1" i="0" u="none" dirty="0">
              <a:solidFill>
                <a:srgbClr val="1E293B"/>
              </a:solidFill>
              <a:latin typeface="Noto Sans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1299" y="3185070"/>
            <a:ext cx="4960619" cy="186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配置50人工作隊伍：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起點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/</a:t>
            </a: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中途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/</a:t>
            </a: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終點各站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設10名秩序義工、10名補給員，並由聖約翰救傷隊全程駐守。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300" y="2680245"/>
            <a:ext cx="259407" cy="3333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97024" y="476250"/>
            <a:ext cx="10944649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現場統籌與安全保障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9245"/>
            <a:ext cx="5334000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99245"/>
            <a:ext cx="5334000" cy="3057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604045"/>
            <a:ext cx="4960620" cy="436210"/>
          </a:xfrm>
          <a:prstGeom prst="rect">
            <a:avLst/>
          </a:prstGeom>
          <a:noFill/>
        </p:spPr>
        <p:txBody>
          <a:bodyPr wrap="square" lIns="259407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HK" sz="2625" b="1" i="0" u="none" dirty="0">
                <a:solidFill>
                  <a:srgbClr val="166534"/>
                </a:solidFill>
                <a:latin typeface="Noto Sans TC"/>
              </a:rPr>
              <a:t> </a:t>
            </a:r>
            <a:r>
              <a:rPr sz="2625" b="1" i="0" u="none" dirty="0" err="1">
                <a:solidFill>
                  <a:srgbClr val="166534"/>
                </a:solidFill>
                <a:latin typeface="Noto Sans TC"/>
              </a:rPr>
              <a:t>機構贊助談判</a:t>
            </a:r>
            <a:endParaRPr sz="2625" b="1" i="0" u="none" dirty="0">
              <a:solidFill>
                <a:srgbClr val="166534"/>
              </a:solidFill>
              <a:latin typeface="Noto Sans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6300" y="3185070"/>
            <a:ext cx="4724400" cy="1859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聯絡本港主要飲品公司及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運動用品公司，爭取籌款日飲品與免費汗衫贊助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節省行政開支</a:t>
            </a:r>
            <a:r>
              <a:rPr lang="zh-TW" altLang="en-US" sz="2625" dirty="0">
                <a:solidFill>
                  <a:srgbClr val="334155"/>
                </a:solidFill>
                <a:latin typeface="Noto Sans TC"/>
              </a:rPr>
              <a:t>，</a:t>
            </a: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並增強吸引力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1300" y="2604045"/>
            <a:ext cx="4960620" cy="436210"/>
          </a:xfrm>
          <a:prstGeom prst="rect">
            <a:avLst/>
          </a:prstGeom>
          <a:noFill/>
        </p:spPr>
        <p:txBody>
          <a:bodyPr wrap="square" lIns="259407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lang="en-HK" sz="2625" b="1" i="0" u="none" dirty="0">
                <a:solidFill>
                  <a:srgbClr val="C2410C"/>
                </a:solidFill>
                <a:latin typeface="Noto Sans TC"/>
              </a:rPr>
              <a:t>  </a:t>
            </a:r>
            <a:r>
              <a:rPr sz="2625" b="1" i="0" u="none" dirty="0" err="1">
                <a:solidFill>
                  <a:srgbClr val="C2410C"/>
                </a:solidFill>
                <a:latin typeface="Noto Sans TC"/>
              </a:rPr>
              <a:t>創意校園推廣</a:t>
            </a:r>
            <a:endParaRPr sz="2625" b="1" i="0" u="none" dirty="0">
              <a:solidFill>
                <a:srgbClr val="C2410C"/>
              </a:solidFill>
              <a:latin typeface="Noto Sans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1300" y="3185070"/>
            <a:ext cx="4724400" cy="186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印製單張及海報張貼於各壁報板，並於課前進行快閃宣傳表演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及於飯堂放置特色小擺設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激發參</a:t>
            </a:r>
            <a:r>
              <a:rPr lang="zh-TW" altLang="en-US" sz="2625" b="0" i="0" u="none" dirty="0">
                <a:solidFill>
                  <a:srgbClr val="334155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加</a:t>
            </a: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熱情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680245"/>
            <a:ext cx="259407" cy="333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00" y="2680245"/>
            <a:ext cx="259407" cy="333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7024" y="476250"/>
            <a:ext cx="10944649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外聯贊助與校園宣傳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2583"/>
            <a:ext cx="2541240" cy="2224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32583"/>
            <a:ext cx="2541240" cy="2224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2332583"/>
            <a:ext cx="2541240" cy="2224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32583"/>
            <a:ext cx="2541240" cy="2224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23950" y="2127903"/>
            <a:ext cx="9944100" cy="57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51545" y="469954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7465" y="469954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23385" y="469954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59305" y="467625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7993" y="2523083"/>
            <a:ext cx="226825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EF4444"/>
                </a:solidFill>
                <a:latin typeface="Noto Sans TC"/>
              </a:rPr>
              <a:t>12月8日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066008"/>
            <a:ext cx="2160240" cy="1300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完成計劃書，成立四個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專責小組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913" y="2523083"/>
            <a:ext cx="226825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EF4444"/>
                </a:solidFill>
                <a:latin typeface="Noto Sans TC"/>
              </a:rPr>
              <a:t>12月16日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7919" y="3066008"/>
            <a:ext cx="2160240" cy="1300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sz="2625" b="0" i="0" u="none">
                <a:solidFill>
                  <a:srgbClr val="334155"/>
                </a:solidFill>
                <a:latin typeface="Noto Sans TC"/>
              </a:rPr>
              <a:t>計劃書獲批，各組展開詳細策劃與設計。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833" y="2523083"/>
            <a:ext cx="226825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EF4444"/>
                </a:solidFill>
                <a:latin typeface="Noto Sans TC"/>
              </a:rPr>
              <a:t>12月31日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3839" y="3066008"/>
            <a:ext cx="2160240" cy="1300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完成海報單張印刷，安排好活動流程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5753" y="2523083"/>
            <a:ext cx="226825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EF4444"/>
                </a:solidFill>
                <a:latin typeface="Noto Sans TC"/>
              </a:rPr>
              <a:t>1月1日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1747" y="3066008"/>
            <a:ext cx="2458752" cy="12795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開始接受捐款，展開為期兩週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大型宣傳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7024" y="476250"/>
            <a:ext cx="10944649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籌備進度時間線（一）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2583"/>
            <a:ext cx="2541240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332583"/>
            <a:ext cx="2541240" cy="2224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2332583"/>
            <a:ext cx="2541240" cy="2224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332583"/>
            <a:ext cx="2541240" cy="2657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23050" y="2078310"/>
            <a:ext cx="9944100" cy="57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51545" y="513293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87465" y="469954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23385" y="469954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159305" y="5132933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 w="571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7993" y="2523083"/>
            <a:ext cx="226825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EF4444"/>
                </a:solidFill>
                <a:latin typeface="Noto Sans TC"/>
              </a:rPr>
              <a:t>1月21日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066008"/>
            <a:ext cx="2160240" cy="1708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sz="2400" b="0" i="0" u="none" dirty="0" err="1">
                <a:solidFill>
                  <a:srgbClr val="334155"/>
                </a:solidFill>
                <a:latin typeface="Noto Sans TC"/>
              </a:rPr>
              <a:t>安排義工</a:t>
            </a:r>
            <a:br>
              <a:rPr lang="en-HK" sz="2400" b="0" i="0" u="none" dirty="0">
                <a:solidFill>
                  <a:srgbClr val="334155"/>
                </a:solidFill>
                <a:latin typeface="Noto Sans TC"/>
              </a:rPr>
            </a:br>
            <a:r>
              <a:rPr sz="2400" b="0" i="0" u="none" dirty="0" err="1">
                <a:solidFill>
                  <a:srgbClr val="334155"/>
                </a:solidFill>
                <a:latin typeface="Noto Sans TC"/>
              </a:rPr>
              <a:t>工作分工</a:t>
            </a:r>
            <a:br>
              <a:rPr lang="en-HK" sz="2400" b="0" i="0" u="none" dirty="0">
                <a:solidFill>
                  <a:srgbClr val="334155"/>
                </a:solidFill>
                <a:latin typeface="Noto Sans TC"/>
              </a:rPr>
            </a:br>
            <a:r>
              <a:rPr sz="2400" b="0" i="0" u="none" dirty="0">
                <a:solidFill>
                  <a:srgbClr val="334155"/>
                </a:solidFill>
                <a:latin typeface="Noto Sans TC"/>
              </a:rPr>
              <a:t>（</a:t>
            </a:r>
            <a:r>
              <a:rPr sz="2400" b="0" i="0" u="none" dirty="0" err="1">
                <a:solidFill>
                  <a:srgbClr val="334155"/>
                </a:solidFill>
                <a:latin typeface="Noto Sans TC"/>
              </a:rPr>
              <a:t>起點、中途站</a:t>
            </a:r>
            <a:r>
              <a:rPr lang="en-HK" sz="2400" b="0" i="0" u="none" dirty="0">
                <a:solidFill>
                  <a:srgbClr val="334155"/>
                </a:solidFill>
                <a:latin typeface="Noto Sans TC"/>
              </a:rPr>
              <a:t> </a:t>
            </a:r>
            <a:r>
              <a:rPr sz="2400" b="0" i="0" u="none" dirty="0" err="1">
                <a:solidFill>
                  <a:srgbClr val="334155"/>
                </a:solidFill>
                <a:latin typeface="Noto Sans TC"/>
              </a:rPr>
              <a:t>及終點</a:t>
            </a:r>
            <a:r>
              <a:rPr sz="2400" b="0" i="0" u="none" dirty="0">
                <a:solidFill>
                  <a:srgbClr val="334155"/>
                </a:solidFill>
                <a:latin typeface="Noto Sans TC"/>
              </a:rPr>
              <a:t>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913" y="2523083"/>
            <a:ext cx="226825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EF4444"/>
                </a:solidFill>
                <a:latin typeface="Noto Sans TC"/>
              </a:rPr>
              <a:t>1月28日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3240" y="3066008"/>
            <a:ext cx="2645419" cy="1260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收集所有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贊助物品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000" b="0" i="0" u="none" dirty="0">
                <a:solidFill>
                  <a:srgbClr val="334155"/>
                </a:solidFill>
                <a:latin typeface="Noto Sans TC"/>
              </a:rPr>
              <a:t>（</a:t>
            </a:r>
            <a:r>
              <a:rPr sz="2000" b="0" i="0" u="none" dirty="0" err="1">
                <a:solidFill>
                  <a:srgbClr val="334155"/>
                </a:solidFill>
                <a:latin typeface="Noto Sans TC"/>
              </a:rPr>
              <a:t>飲品與活動汗衫</a:t>
            </a:r>
            <a:r>
              <a:rPr sz="2000" b="0" i="0" u="none" dirty="0">
                <a:solidFill>
                  <a:srgbClr val="334155"/>
                </a:solidFill>
                <a:latin typeface="Noto Sans TC"/>
              </a:rPr>
              <a:t>）</a:t>
            </a:r>
            <a:endParaRPr sz="2625" b="0" i="0" u="none" dirty="0">
              <a:solidFill>
                <a:srgbClr val="334155"/>
              </a:solidFill>
              <a:latin typeface="Noto Sans T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79833" y="2523083"/>
            <a:ext cx="226825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EF4444"/>
                </a:solidFill>
                <a:latin typeface="Noto Sans TC"/>
              </a:rPr>
              <a:t>2月14日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3839" y="3066008"/>
            <a:ext cx="2160240" cy="1715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sz="2625" b="1" i="0" u="none" dirty="0" err="1">
                <a:solidFill>
                  <a:srgbClr val="334155"/>
                </a:solidFill>
                <a:latin typeface="Noto Sans TC"/>
              </a:rPr>
              <a:t>步行籌款日</a:t>
            </a:r>
            <a:br>
              <a:rPr lang="en-HK" sz="2625" b="1" i="0" u="none" dirty="0">
                <a:solidFill>
                  <a:srgbClr val="334155"/>
                </a:solidFill>
                <a:latin typeface="Noto Sans TC"/>
              </a:rPr>
            </a:br>
            <a:r>
              <a:rPr sz="2625" b="1" i="0" u="none" dirty="0" err="1">
                <a:solidFill>
                  <a:srgbClr val="334155"/>
                </a:solidFill>
                <a:latin typeface="Noto Sans TC"/>
              </a:rPr>
              <a:t>正式舉行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最後繳捐款日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5753" y="2523083"/>
            <a:ext cx="226825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>
                <a:solidFill>
                  <a:srgbClr val="EF4444"/>
                </a:solidFill>
                <a:latin typeface="Noto Sans TC"/>
              </a:rPr>
              <a:t>2月20日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9759" y="3066008"/>
            <a:ext cx="2160240" cy="1733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12"/>
              </a:lnSpc>
            </a:pP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財政小組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完成結算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善款轉賬至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無國界醫生</a:t>
            </a:r>
            <a:endParaRPr sz="2625" b="0" i="0" u="none" dirty="0">
              <a:solidFill>
                <a:srgbClr val="334155"/>
              </a:solidFill>
              <a:latin typeface="Noto Sans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97024" y="476250"/>
            <a:ext cx="10944649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籌備進度時間線（二）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69677"/>
            <a:ext cx="11049000" cy="47166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350948"/>
              </p:ext>
            </p:extLst>
          </p:nvPr>
        </p:nvGraphicFramePr>
        <p:xfrm>
          <a:off x="571500" y="1469677"/>
          <a:ext cx="11049000" cy="4716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110">
                <a:tc>
                  <a:txBody>
                    <a:bodyPr/>
                    <a:lstStyle/>
                    <a:p>
                      <a:pPr algn="l"/>
                      <a:r>
                        <a:rPr sz="2625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支出項目詳情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625" b="1" i="0" u="none">
                          <a:solidFill>
                            <a:srgbClr val="FFFFFF"/>
                          </a:solidFill>
                          <a:latin typeface="Noto Sans TC"/>
                        </a:rPr>
                        <a:t>費用 (HKD)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110">
                <a:tc>
                  <a:txBody>
                    <a:bodyPr/>
                    <a:lstStyle/>
                    <a:p>
                      <a:pPr algn="l"/>
                      <a:r>
                        <a:rPr lang="en-HK" sz="26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   </a:t>
                      </a:r>
                      <a:r>
                        <a:rPr sz="26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印製宣傳單張</a:t>
                      </a:r>
                      <a:r>
                        <a:rPr sz="26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 1,000 </a:t>
                      </a:r>
                      <a:r>
                        <a:rPr sz="26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張（連申請表格</a:t>
                      </a:r>
                      <a:r>
                        <a:rPr sz="26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）</a:t>
                      </a:r>
                    </a:p>
                  </a:txBody>
                  <a:tcPr marL="373707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6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$200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110">
                <a:tc>
                  <a:txBody>
                    <a:bodyPr/>
                    <a:lstStyle/>
                    <a:p>
                      <a:pPr algn="l"/>
                      <a:r>
                        <a:rPr lang="en-HK" sz="26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   </a:t>
                      </a:r>
                      <a:r>
                        <a:rPr sz="26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印製宣傳海報</a:t>
                      </a:r>
                      <a:r>
                        <a:rPr sz="26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 80 張</a:t>
                      </a:r>
                    </a:p>
                  </a:txBody>
                  <a:tcPr marL="373707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6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$480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110">
                <a:tc>
                  <a:txBody>
                    <a:bodyPr/>
                    <a:lstStyle/>
                    <a:p>
                      <a:pPr algn="l"/>
                      <a:r>
                        <a:rPr lang="en-HK" sz="26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   </a:t>
                      </a:r>
                      <a:r>
                        <a:rPr sz="26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活動當日雜項（橫額、租用擴音器等</a:t>
                      </a:r>
                      <a:r>
                        <a:rPr sz="26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）</a:t>
                      </a:r>
                    </a:p>
                  </a:txBody>
                  <a:tcPr marL="373707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6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$700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110">
                <a:tc>
                  <a:txBody>
                    <a:bodyPr/>
                    <a:lstStyle/>
                    <a:p>
                      <a:pPr algn="l"/>
                      <a:r>
                        <a:rPr lang="en-HK" sz="2625" b="0" i="0" u="none" dirty="0">
                          <a:solidFill>
                            <a:srgbClr val="334155"/>
                          </a:solidFill>
                          <a:latin typeface="Noto Sans TC"/>
                        </a:rPr>
                        <a:t>   </a:t>
                      </a:r>
                      <a:r>
                        <a:rPr sz="2625" b="0" i="0" u="none" dirty="0" err="1">
                          <a:solidFill>
                            <a:srgbClr val="334155"/>
                          </a:solidFill>
                          <a:latin typeface="Noto Sans TC"/>
                        </a:rPr>
                        <a:t>一般行政雜項開支</a:t>
                      </a:r>
                      <a:endParaRPr sz="2625" b="0" i="0" u="none" dirty="0">
                        <a:solidFill>
                          <a:srgbClr val="334155"/>
                        </a:solidFill>
                        <a:latin typeface="Noto Sans TC"/>
                      </a:endParaRPr>
                    </a:p>
                  </a:txBody>
                  <a:tcPr marL="373707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625" b="0" i="0" u="none">
                          <a:solidFill>
                            <a:srgbClr val="334155"/>
                          </a:solidFill>
                          <a:latin typeface="Noto Sans TC"/>
                        </a:rPr>
                        <a:t>$800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110">
                <a:tc>
                  <a:txBody>
                    <a:bodyPr/>
                    <a:lstStyle/>
                    <a:p>
                      <a:pPr algn="l"/>
                      <a:r>
                        <a:rPr lang="en-HK" sz="2625" b="1" i="0" u="none" dirty="0">
                          <a:solidFill>
                            <a:srgbClr val="DC2626"/>
                          </a:solidFill>
                          <a:latin typeface="Noto Sans TC"/>
                        </a:rPr>
                        <a:t>   </a:t>
                      </a:r>
                      <a:r>
                        <a:rPr sz="2625" b="1" i="0" u="none" dirty="0" err="1">
                          <a:solidFill>
                            <a:srgbClr val="DC2626"/>
                          </a:solidFill>
                          <a:latin typeface="Noto Sans TC"/>
                        </a:rPr>
                        <a:t>預算開支總額</a:t>
                      </a:r>
                      <a:r>
                        <a:rPr sz="2625" b="1" i="0" u="none" dirty="0">
                          <a:solidFill>
                            <a:srgbClr val="DC2626"/>
                          </a:solidFill>
                          <a:latin typeface="Noto Sans TC"/>
                        </a:rPr>
                        <a:t> (Total Expenditure)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850" b="1" i="0" u="none" dirty="0">
                          <a:solidFill>
                            <a:srgbClr val="DC2626"/>
                          </a:solidFill>
                          <a:latin typeface="Noto Sans TC"/>
                        </a:rPr>
                        <a:t>$2,180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3007965"/>
            <a:ext cx="8667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39250" y="3007965"/>
            <a:ext cx="2381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789015"/>
            <a:ext cx="8667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39250" y="3789015"/>
            <a:ext cx="2381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570065"/>
            <a:ext cx="8667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239250" y="4570065"/>
            <a:ext cx="2381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5351115"/>
            <a:ext cx="8667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39250" y="5351115"/>
            <a:ext cx="2381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6172051"/>
            <a:ext cx="8667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239250" y="6172051"/>
            <a:ext cx="2381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250852"/>
            <a:ext cx="259407" cy="3333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031902"/>
            <a:ext cx="259407" cy="3333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469802"/>
            <a:ext cx="259407" cy="3333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812952"/>
            <a:ext cx="259407" cy="3333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469802"/>
            <a:ext cx="259407" cy="3333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250852"/>
            <a:ext cx="259407" cy="3333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031902"/>
            <a:ext cx="259407" cy="3333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812952"/>
            <a:ext cx="259407" cy="3333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97024" y="476250"/>
            <a:ext cx="10944649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財政預算案 (Budget)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556170"/>
            <a:ext cx="311199" cy="40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4749" y="1538734"/>
            <a:ext cx="4905375" cy="186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1" i="0" u="none" dirty="0" err="1">
                <a:solidFill>
                  <a:srgbClr val="334155"/>
                </a:solidFill>
                <a:latin typeface="Noto Sans TC"/>
              </a:rPr>
              <a:t>首屆舉辦傳承</a:t>
            </a:r>
            <a:r>
              <a:rPr sz="2625" b="1" i="0" u="none" dirty="0">
                <a:solidFill>
                  <a:srgbClr val="334155"/>
                </a:solidFill>
                <a:latin typeface="Noto Sans TC"/>
              </a:rPr>
              <a:t>：</a:t>
            </a:r>
            <a:br>
              <a:rPr lang="en-HK" sz="2625" b="1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本計劃為理工大學首次舉辦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期盼建立良好典範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成為每年一度的校園慈善盛事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828008"/>
            <a:ext cx="5003384" cy="2334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75"/>
              </a:lnSpc>
            </a:pPr>
            <a:r>
              <a:rPr sz="2625" b="1" i="0" u="none" dirty="0" err="1">
                <a:solidFill>
                  <a:srgbClr val="334155"/>
                </a:solidFill>
                <a:latin typeface="Noto Sans TC"/>
              </a:rPr>
              <a:t>工作記錄</a:t>
            </a:r>
            <a:r>
              <a:rPr sz="2625" b="1" i="0" u="none" dirty="0">
                <a:solidFill>
                  <a:srgbClr val="334155"/>
                </a:solidFill>
                <a:latin typeface="Noto Sans TC"/>
              </a:rPr>
              <a:t>：</a:t>
            </a:r>
            <a:br>
              <a:rPr lang="en-HK" sz="2625" b="1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籌委會將詳細記錄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籌備細節與經驗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br>
              <a:rPr lang="en-HK" sz="2625" b="0" i="0" u="none" dirty="0">
                <a:solidFill>
                  <a:srgbClr val="334155"/>
                </a:solidFill>
                <a:latin typeface="Noto Sans TC"/>
              </a:rPr>
            </a:b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於活動結束後撰寫詳細工作報告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，</a:t>
            </a:r>
            <a:r>
              <a:rPr lang="zh-TW" altLang="en-US" sz="2625" dirty="0">
                <a:solidFill>
                  <a:srgbClr val="334155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以利</a:t>
            </a: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日後幹事會參考</a:t>
            </a:r>
            <a:r>
              <a:rPr lang="zh-TW" altLang="en-US" sz="2625" b="0" i="0" u="none" dirty="0">
                <a:solidFill>
                  <a:srgbClr val="334155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、</a:t>
            </a:r>
            <a:r>
              <a:rPr sz="2625" b="0" i="0" u="none" dirty="0" err="1">
                <a:solidFill>
                  <a:srgbClr val="334155"/>
                </a:solidFill>
                <a:latin typeface="Noto Sans TC"/>
              </a:rPr>
              <a:t>傳承</a:t>
            </a:r>
            <a:r>
              <a:rPr sz="2625" b="0" i="0" u="none" dirty="0">
                <a:solidFill>
                  <a:srgbClr val="334155"/>
                </a:solidFill>
                <a:latin typeface="Noto Sans TC"/>
              </a:rPr>
              <a:t>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73" y="1618207"/>
            <a:ext cx="237083" cy="352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51820"/>
            <a:ext cx="237083" cy="352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97024" y="476250"/>
            <a:ext cx="10944649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結語與傳承展望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28EE8ED-4F41-4662-BAFE-AD937A0E38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66" y="1479432"/>
            <a:ext cx="5505954" cy="31808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40173"/>
            <a:ext cx="11049000" cy="933450"/>
          </a:xfrm>
          <a:prstGeom prst="rect">
            <a:avLst/>
          </a:prstGeom>
          <a:noFill/>
        </p:spPr>
        <p:txBody>
          <a:bodyPr wrap="square" lIns="259407" tIns="0" rIns="0" bIns="0" anchor="t">
            <a:spAutoFit/>
          </a:bodyPr>
          <a:lstStyle/>
          <a:p>
            <a:pPr algn="ctr">
              <a:lnSpc>
                <a:spcPts val="3675"/>
              </a:lnSpc>
            </a:pPr>
            <a:r>
              <a:rPr sz="2625" b="1" i="0" u="none" dirty="0" err="1">
                <a:solidFill>
                  <a:srgbClr val="EF4444"/>
                </a:solidFill>
                <a:latin typeface="Noto Sans TC"/>
              </a:rPr>
              <a:t>香港理工大學學生會社會服務組</a:t>
            </a:r>
            <a:r>
              <a:rPr dirty="0"/>
              <a:t>
</a:t>
            </a:r>
            <a:r>
              <a:rPr sz="2625" b="1" i="0" u="none" dirty="0">
                <a:solidFill>
                  <a:srgbClr val="EF4444"/>
                </a:solidFill>
                <a:latin typeface="Noto Sans TC"/>
              </a:rPr>
              <a:t> </a:t>
            </a:r>
            <a:r>
              <a:rPr lang="zh-TW" altLang="en-US" sz="2625" b="1" i="0" u="none" dirty="0">
                <a:solidFill>
                  <a:srgbClr val="EF4444"/>
                </a:solidFill>
                <a:latin typeface="Noto Sans TC"/>
              </a:rPr>
              <a:t>「</a:t>
            </a:r>
            <a:r>
              <a:rPr sz="2625" b="1" i="0" u="none" dirty="0" err="1">
                <a:solidFill>
                  <a:srgbClr val="EF4444"/>
                </a:solidFill>
                <a:latin typeface="Noto Sans TC"/>
              </a:rPr>
              <a:t>無國界醫生步行籌款活動</a:t>
            </a:r>
            <a:r>
              <a:rPr lang="zh-TW" altLang="en-US" sz="2625" b="1" dirty="0">
                <a:solidFill>
                  <a:srgbClr val="EF4444"/>
                </a:solidFill>
                <a:latin typeface="Noto Sans TC"/>
              </a:rPr>
              <a:t>」</a:t>
            </a:r>
            <a:r>
              <a:rPr sz="2625" b="1" i="0" u="none" dirty="0" err="1">
                <a:solidFill>
                  <a:srgbClr val="EF4444"/>
                </a:solidFill>
                <a:latin typeface="Noto Sans TC"/>
              </a:rPr>
              <a:t>籌備委員會</a:t>
            </a:r>
            <a:endParaRPr sz="2625" b="1" i="0" u="none" dirty="0">
              <a:solidFill>
                <a:srgbClr val="EF4444"/>
              </a:solidFill>
              <a:latin typeface="Noto Sans TC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311" y="2416373"/>
            <a:ext cx="259407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675483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447008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4374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4374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2090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42090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18358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839342"/>
            <a:ext cx="9953625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Noto Sans TC"/>
              </a:rPr>
              <a:t>https://www.doctorswithoutborders.org/sites/default/files/styles/crop_top_level_hero_mobile_375_221/public/MSF163911%28High%29_0.jpg?h=da36119f&amp;itok=xzuaeTfK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060203"/>
            <a:ext cx="9953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TC"/>
              </a:rPr>
              <a:t>www.doctorswithoutborders.org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3610867"/>
            <a:ext cx="9953625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Noto Sans TC"/>
              </a:rPr>
              <a:t>https://i.ytimg.com/vi/KfejwpNeYf0/hq720.jpg?sqp=-oaymwEhCK4FEIIDSFryq4qpAxMIARUAAAAAGAElAADIQj0AgKJD&amp;rs=AOn4CLDt6UKPbYItx_RF3VVWguD7rCaNGg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831728"/>
            <a:ext cx="9953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TC"/>
              </a:rPr>
              <a:t>www.youtube.com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61408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382392"/>
            <a:ext cx="9953625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Noto Sans TC"/>
              </a:rPr>
              <a:t>https://sunwayuniversity.edu.my/sites/default/files/styles/content_banner/public/contentbanner/2025-04/ssv_header_main_1.jpg.jpg?itok=D7Uzn4S7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603253"/>
            <a:ext cx="9953625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34155"/>
                </a:solidFill>
                <a:latin typeface="Noto Sans TC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Noto Sans TC"/>
              </a:rPr>
              <a:t>sunwayuniversity.edu.my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6250"/>
            <a:ext cx="11421427" cy="56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409"/>
              </a:lnSpc>
            </a:pPr>
            <a:r>
              <a:rPr sz="3150" b="0" i="0" u="none">
                <a:solidFill>
                  <a:srgbClr val="0F172A"/>
                </a:solidFill>
                <a:latin typeface="Noto Sans TC Black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76200" cy="56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546</Words>
  <Application>Microsoft Office PowerPoint</Application>
  <PresentationFormat>寬螢幕</PresentationFormat>
  <Paragraphs>80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Noto Sans HK</vt:lpstr>
      <vt:lpstr>Noto Sans TC</vt:lpstr>
      <vt:lpstr>Noto Sans TC Black</vt:lpstr>
      <vt:lpstr>Arial</vt:lpstr>
      <vt:lpstr>Calibri</vt:lpstr>
      <vt:lpstr>Poppins Black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YAU, Yuetyee [CLC]</dc:creator>
  <cp:keywords/>
  <dc:description>generated using python-pptx</dc:description>
  <cp:lastModifiedBy>YAU, Yuetyee [CLC]</cp:lastModifiedBy>
  <cp:revision>3</cp:revision>
  <dcterms:created xsi:type="dcterms:W3CDTF">2013-01-27T09:14:16Z</dcterms:created>
  <dcterms:modified xsi:type="dcterms:W3CDTF">2026-09-02T14:51:34Z</dcterms:modified>
  <cp:category/>
</cp:coreProperties>
</file>