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" y="1993392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Veridex 維學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310128"/>
            <a:ext cx="1051560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361188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你的第一個 AI 個人課堂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864608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呈：青年創業基金委員會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講者：黃浩然、黃羿捷　｜　2026 年 10 月 16 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初心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AI 加速學習，未加速學會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874519"/>
            <a:ext cx="10673791" cy="1572768"/>
          </a:xfrm>
          <a:prstGeom prst="roundRect">
            <a:avLst>
              <a:gd name="adj" fmla="val 4651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70432" y="2139696"/>
            <a:ext cx="985083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「我想回答一個問題 —— 在 AI 時代，怎麼學得會。」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2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「不是更快地看完，是終於學會。」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127248"/>
            <a:ext cx="9850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黃浩然　／　黃羿捷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840480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我們不敢說我們能解決這個問題。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但我們可以把「有沒有學會」這件事，從感覺變成數字。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138928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這就是 Veridex 存在的理由。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初心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同一份調查，兩種學生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83080"/>
            <a:ext cx="5172303" cy="1874519"/>
          </a:xfrm>
          <a:prstGeom prst="roundRect">
            <a:avLst>
              <a:gd name="adj" fmla="val 3902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06424" y="2048256"/>
            <a:ext cx="447735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「AI 讓我快速總結冗長的文獻、生成大綱，省下時間好專注於批判性思考。」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" y="3273552"/>
            <a:ext cx="44773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—— 一位英國本科學生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0439" y="1783080"/>
            <a:ext cx="5172303" cy="1874519"/>
          </a:xfrm>
          <a:prstGeom prst="roundRect">
            <a:avLst>
              <a:gd name="adj" fmla="val 3902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07911" y="2048256"/>
            <a:ext cx="447735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「我根本沒有用自己的腦子。」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7911" y="3273552"/>
            <a:ext cx="44773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—— 另一位英國本科學生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041648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" y="4279392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同一份工具，同一年，為什麼兩個人走向相反？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依賴 AI 而無人監督的醫學生，考試表現最差，信心卻最高 —— 研究者形容為「發了跑車，卻沒學過開車」。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來源：HEPI Student Generative AI Survey 2026 (Report 199)；Queen Mary University of London 研究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四個環節，定義「學會了」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學習不主要在輸入與處理，而在提取與遷移。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1901952"/>
            <a:ext cx="2490139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" y="1847088"/>
            <a:ext cx="45720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1832" y="2048256"/>
            <a:ext cx="212437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01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資料進來了嗎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感覺記憶 → 工作記憶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86835" y="2011680"/>
            <a:ext cx="2490139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486835" y="1956816"/>
            <a:ext cx="86868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69715" y="2157984"/>
            <a:ext cx="212437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02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處理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理解到什麼程度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工作記憶容量約 4±1 組塊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4719" y="2121408"/>
            <a:ext cx="2490139" cy="1481328"/>
          </a:xfrm>
          <a:prstGeom prst="roundRect">
            <a:avLst>
              <a:gd name="adj" fmla="val 4938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214719" y="2066544"/>
            <a:ext cx="12801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97599" y="2267712"/>
            <a:ext cx="212437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03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提取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能從記憶裡取出來嗎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Karpicke &amp; Blunt 2011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42603" y="2231136"/>
            <a:ext cx="2490139" cy="1481328"/>
          </a:xfrm>
          <a:prstGeom prst="roundRect">
            <a:avLst>
              <a:gd name="adj" fmla="val 4938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942603" y="2176272"/>
            <a:ext cx="169164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25483" y="2377440"/>
            <a:ext cx="212437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04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遷移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能用到沒見過的題嗎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Pan &amp; Rickard 2018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3895344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8952" y="4096512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越舒服的方法，短期越有效，長期越無效 —— 而且你自己看不出來。</a:t>
            </a:r>
          </a:p>
          <a:p>
            <a:pPr algn="l">
              <a:lnSpc>
                <a:spcPct val="14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重讀組在 5 分鐘內贏，一週後落後 21 個百分點；而且重讀組的信心是三組裡最高的。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989320" y="4096512"/>
          <a:ext cx="5440680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0116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延遲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重讀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提取練習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分鐘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81%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75%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天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54%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68%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週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40%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61%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來源：Roediger &amp; Karpicke (2006), Psychological Science 17(3): 249–255；Cowan (2001), BBS 24(1)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普及了，卻沒被測量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965960"/>
            <a:ext cx="2503855" cy="1965960"/>
          </a:xfrm>
          <a:prstGeom prst="roundRect">
            <a:avLst>
              <a:gd name="adj" fmla="val 372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96695" y="2286000"/>
            <a:ext cx="2028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95</a:t>
            </a:r>
            <a:r>
              <a:rPr sz="2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英國本科生以某種方式使用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2263" y="1965960"/>
            <a:ext cx="2503855" cy="1965960"/>
          </a:xfrm>
          <a:prstGeom prst="roundRect">
            <a:avLst>
              <a:gd name="adj" fmla="val 372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0007" y="2286000"/>
            <a:ext cx="2028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12</a:t>
            </a:r>
            <a:r>
              <a:rPr sz="2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直接把 AI 生成文字交作業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5575" y="1965960"/>
            <a:ext cx="2503855" cy="1965960"/>
          </a:xfrm>
          <a:prstGeom prst="roundRect">
            <a:avLst>
              <a:gd name="adj" fmla="val 372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43319" y="2286000"/>
            <a:ext cx="2028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38</a:t>
            </a:r>
            <a:r>
              <a:rPr sz="2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拿到學校提供的 AI 工具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28887" y="1965960"/>
            <a:ext cx="2503855" cy="1965960"/>
          </a:xfrm>
          <a:prstGeom prst="roundRect">
            <a:avLst>
              <a:gd name="adj" fmla="val 372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66631" y="2286000"/>
            <a:ext cx="2028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48</a:t>
            </a:r>
            <a:r>
              <a:rPr sz="2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覺得老師有在教他們用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315968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8952" y="4526280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12% 這個數字，三年前是 3%。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工具的問題已經解決，執行的問題沒有。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來源：HEPI Student Generative AI Survey 2026 (Report 199)，2026 年 3 月發布，2025 年 12 月訪問 1,054 名英國全日制本科生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團隊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因為自己受過，所以想解決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00784"/>
            <a:ext cx="5190591" cy="1755648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8952" y="1700784"/>
            <a:ext cx="41148" cy="17556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51560" y="1883664"/>
            <a:ext cx="46236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黃浩然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項目負責人 · 學習與語言端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中文學習痛點定義、訪談教師與學生、課程介面與中文語料、對外簡報主講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2962656"/>
            <a:ext cx="4623663" cy="310896"/>
          </a:xfrm>
          <a:prstGeom prst="roundRect">
            <a:avLst>
              <a:gd name="adj" fmla="val 14705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61288" y="3017520"/>
            <a:ext cx="440420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已交付物：＿＿＿＿＿＿（請填）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2151" y="1700784"/>
            <a:ext cx="5190591" cy="1755648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42151" y="1700784"/>
            <a:ext cx="41148" cy="17556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34759" y="1883664"/>
            <a:ext cx="46236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黃羿捷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技術負責人 · AI 與數據端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模型與提示工程、驗收引擎、校園試點部署與維運、數據管線與私隱安全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4759" y="2962656"/>
            <a:ext cx="4623663" cy="310896"/>
          </a:xfrm>
          <a:prstGeom prst="roundRect">
            <a:avLst>
              <a:gd name="adj" fmla="val 14705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44487" y="3017520"/>
            <a:ext cx="440420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已交付物：＿＿＿＿＿＿（請填）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361188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交接鏈路 —— 兩人的產出如何接成一條閉環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950208"/>
            <a:ext cx="1886041" cy="658368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8952" y="4059936"/>
            <a:ext cx="188604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痛點訪談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黃羿捷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36433" y="4206240"/>
            <a:ext cx="128016" cy="128016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955889" y="3950208"/>
            <a:ext cx="1886041" cy="658368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55889" y="4059936"/>
            <a:ext cx="188604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課程介面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黃羿捷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33370" y="4206240"/>
            <a:ext cx="128016" cy="128016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5152826" y="3950208"/>
            <a:ext cx="1886041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152826" y="4059936"/>
            <a:ext cx="188604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驗收引擎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黃浩然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7130308" y="4206240"/>
            <a:ext cx="128016" cy="128016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349764" y="3950208"/>
            <a:ext cx="1886041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49764" y="4059936"/>
            <a:ext cx="188604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校園試點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黃浩然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9327245" y="4206240"/>
            <a:ext cx="128016" cy="128016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546701" y="3950208"/>
            <a:ext cx="1886041" cy="658368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546701" y="4059936"/>
            <a:ext cx="188604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前後測數據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黃羿捷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4736592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數據回流至痛點定義，形成閉環；這也是我們台上交替主講的依據。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102352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58952" y="5285232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我們的不足，以及已經排程的補足：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01  未具學習科學研究背景 → 我們不自創成效指標：沿用公開的學習科學文獻（見附錄），並在試點中由授課教師提供前後測數據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02  未有商業營運經驗 → 校友律師已提供免費法律諮詢；已提交創業導師配對申請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03  我們的邊界很清楚：不做課程內容，只做個人課堂的練習與回饋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五代工具，沒有一代教會人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58952" y="1737360"/>
          <a:ext cx="10671048" cy="33284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148840"/>
                <a:gridCol w="2057400"/>
                <a:gridCol w="2331720"/>
                <a:gridCol w="25328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世代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它問的問題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它認為「學會了」＝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留下的洞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一代　課程庫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DeepLearning.AI、Coursera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學完第幾章了？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拿到證書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證書不等於能力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二代　萬能問答</a:t>
                      </a:r>
                    </a:p>
                  </a:txBody>
                  <a:tcPr marL="100584" marR="100584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</a:t>
                      </a:r>
                    </a:p>
                  </a:txBody>
                  <a:tcPr marL="100584" marR="100584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你想問什麼？</a:t>
                      </a:r>
                    </a:p>
                  </a:txBody>
                  <a:tcPr marL="100584" marR="100584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當下答得出</a:t>
                      </a:r>
                    </a:p>
                  </a:txBody>
                  <a:tcPr marL="100584" marR="100584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沒有跨週狀態</a:t>
                      </a:r>
                    </a:p>
                  </a:txBody>
                  <a:tcPr marL="100584" marR="100584" marT="45720" marB="45720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三代　模擬課堂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OpenMAIC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這堂課講完了嗎？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課講完了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課堂是集體教學的遺產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四代　主動代理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你什麼時候要交？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進度條走完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練習 → 掌握缺位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五代　個人課堂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Veridex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你哪裡還不懂？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能說、能做、30 天後還記得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758952" y="4407408"/>
            <a:ext cx="32004" cy="65836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952" y="5376672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五代工具都在回答同一個問題：AI 怎樣讓人學得更快。沒有一代問過：AI 怎樣讓人學得會。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完成率作為指標會誤導：HarvardX／MITx 17 門課 841,687 人註冊，5% 拿到證書，35% 從未看過任何課程內容（Chuang &amp; Ho 2014, 工作論文）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產品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一份資料，四步成課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874519"/>
            <a:ext cx="250385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8952" y="1874519"/>
            <a:ext cx="751156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8407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01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上傳資料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PDF、講義、筆記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3303955" y="2615184"/>
            <a:ext cx="137160" cy="137160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482263" y="1874519"/>
            <a:ext cx="250385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482263" y="1874519"/>
            <a:ext cx="1327043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701719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02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生成專屬課程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語音講解＋同步板書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6027267" y="2615184"/>
            <a:ext cx="137160" cy="137160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205575" y="1874519"/>
            <a:ext cx="250385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05575" y="1874519"/>
            <a:ext cx="190293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25031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03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隨時發問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課堂內直接提問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8750579" y="2615184"/>
            <a:ext cx="137160" cy="137160"/>
          </a:xfrm>
          <a:prstGeom prst="triangl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928887" y="1874519"/>
            <a:ext cx="2503855" cy="1600200"/>
          </a:xfrm>
          <a:prstGeom prst="roundRect">
            <a:avLst>
              <a:gd name="adj" fmla="val 4571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28887" y="1874519"/>
            <a:ext cx="2478817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8343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04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練習與驗收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過了才往下走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" y="3794760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8952" y="4023360"/>
            <a:ext cx="10673791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差異不在功能，在流程。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多幾個按鈕，改變不了學會與不會的差距。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但「以驗收為前提才能往下走」這個流程設計，抄不走，而且會隨產品成熟變得更難追。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我們的產品現在還在 v0。今天想請各位投資的，是我們已驗證的 X 與即將驗證的 Y。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產品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過不了，就不往下教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83080"/>
            <a:ext cx="2003084" cy="786384"/>
          </a:xfrm>
          <a:prstGeom prst="roundRect">
            <a:avLst>
              <a:gd name="adj" fmla="val 6976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8952" y="1911095"/>
            <a:ext cx="20030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01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出題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628" y="1783080"/>
            <a:ext cx="2003084" cy="786384"/>
          </a:xfrm>
          <a:prstGeom prst="roundRect">
            <a:avLst>
              <a:gd name="adj" fmla="val 6976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26628" y="1911095"/>
            <a:ext cx="20030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02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作答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4305" y="1783080"/>
            <a:ext cx="2003084" cy="786384"/>
          </a:xfrm>
          <a:prstGeom prst="roundRect">
            <a:avLst>
              <a:gd name="adj" fmla="val 6976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94305" y="1911095"/>
            <a:ext cx="20030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03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判斷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1981" y="1783080"/>
            <a:ext cx="2003084" cy="786384"/>
          </a:xfrm>
          <a:prstGeom prst="roundRect">
            <a:avLst>
              <a:gd name="adj" fmla="val 6976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261981" y="1911095"/>
            <a:ext cx="20030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04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帶解釋的反饋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9658" y="1783080"/>
            <a:ext cx="2003084" cy="786384"/>
          </a:xfrm>
          <a:prstGeom prst="roundRect">
            <a:avLst>
              <a:gd name="adj" fmla="val 6976"/>
            </a:avLst>
          </a:prstGeom>
          <a:solidFill>
            <a:srgbClr val="17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29658" y="1911095"/>
            <a:ext cx="20030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05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未過則補教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2788920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8952" y="3035808"/>
            <a:ext cx="41148" cy="96926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" y="3035808"/>
            <a:ext cx="104360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間隔不是拍腦袋定的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Cepeda et al. (2006) 元分析：最優復習間隔 ≈ 目標保持期的 10–20%。目標保持 30 天 → 間隔 3–6 天。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206240"/>
            <a:ext cx="41148" cy="96926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6695" y="4206240"/>
            <a:ext cx="104360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判對錯不給解釋，效果會砍掉一半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Rowland (2014)：有反饋 g = 0.73 ／ 無反饋 g = 0.39。Bisra et al. (2018)：自我解釋 g = 0.55，N = 5,917。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來源：Cepeda, Pashler, Vul, Wixted &amp; Rohrer (2006), Psychological Bulletin 132(3)；Rowland (2014), Psychological Bulletin 140(6)；Bisra et al. (2018), EPR 30(3)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效果由數據說，不由我們說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83080"/>
            <a:ext cx="3387242" cy="260604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3271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行為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3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≥ 50%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14 天任務完成率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覆蓋了多少知識點、有沒有真的做完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2226" y="1783080"/>
            <a:ext cx="3387242" cy="260604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76546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3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≥ 20%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前測後測差異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學之前與學之後，差多少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5500" y="1783080"/>
            <a:ext cx="3387242" cy="260604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19820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延遲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38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≥ 70%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30 天後回訪正確率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一個月後還記得多少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645152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" y="486460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為什麼一定要量到 30 天？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距考試 1–6 天的測驗效應 g = +0.82，少於 1 天的 g = +0.56 —— 間隔越短，效應越小。（Adesope et al. 2017, RER 87(3)）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我們的東西，留在香港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計劃書不但要告訴投資者強項，還要告訴投資者如何保護強項。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58952" y="1993392"/>
          <a:ext cx="10671048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792784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保護項目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我們的做法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商標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「Veridex／維學」提交香港區商標註冊，開源後亦不變更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課程模板著作權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原創課程生成模板與驗收 rubric 以版權登記保護，不開放授權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源碼歸屬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兩位創辦人簽署知識產權協議，公司為唯一權利人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開源合規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全面評估依賴庫授權；不採用帶傳染性授權的代碼。我們評估過 OpenMAIC 的授權歷史 —— AGPL-3.0 → MIT 兩度變更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數據合規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依《個人資料（私隱）條例》：最小權限、用途限定、可刪除、資料不出境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課程數據分戶隔離、令牌有時效與速率限制、每次匯出留審計記錄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競爭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不是看簡介，是逐個試用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58952" y="1737360"/>
          <a:ext cx="10671048" cy="3611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14600"/>
                <a:gridCol w="2834640"/>
                <a:gridCol w="3017520"/>
                <a:gridCol w="23042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OpenMAIC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Veridex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繁體中文語音講解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未見中文語音支援說明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 TTS 整段靜默且不報錯　#1698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產品化支援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學生提問時，教師是否理解整堂課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只看見當前一頁，摘要截斷至 60 字　#1533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完整脈絡注入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開始使用的門檻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註冊即用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需邀請碼，每日 10 次免費額度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上傳即開始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成果能否取回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無重新生成／匯出／分享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互動頁可生成半成品　#1697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課程可匯出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安全與資料合規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無獨立隱私政策頁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 年 9 月單月 11 項安全公告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數據隔離＋令牌時效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學習效果證據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3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三層證據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9107424" y="1737360"/>
            <a:ext cx="32004" cy="361188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952" y="5559552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每一項斷言都可查證。括號內為 OpenMAIC 的 GitHub issue 編號，各位可以自行前往核對。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查核：github.com/THU-MAIC/OpenMAIC　issues #1698 / #1533 / #1697；hyperknow.io（/privacy 回傳 404）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競爭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有講課，沒有補教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55648"/>
            <a:ext cx="5131155" cy="2926080"/>
          </a:xfrm>
          <a:prstGeom prst="roundRect">
            <a:avLst>
              <a:gd name="adj" fmla="val 2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51560" y="1975104"/>
            <a:ext cx="45459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課堂隱喻的四個假設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01  所有人同時學一樣的東西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02  進度由課程決定，不由學習者決定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03  講完 ＝ 教會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04  一天一節課，一次一塊內容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1587" y="1755648"/>
            <a:ext cx="5131155" cy="2926080"/>
          </a:xfrm>
          <a:prstGeom prst="roundRect">
            <a:avLst>
              <a:gd name="adj" fmla="val 25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01587" y="1755648"/>
            <a:ext cx="41148" cy="292608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94195" y="1975104"/>
            <a:ext cx="45459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一對一教學的四件事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01  先診斷你哪裡已經會了、哪裡不會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02  追問你為什麼這樣想，再補教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03  只補缺口，不重講全課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04  確認補教到底有沒有生效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892040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8952" y="5102352"/>
            <a:ext cx="106737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OpenMAIC 有的是講課，缺的是補教 —— 把一節課播完，不等於把一個難點講通。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多數學生真正缺的，從來不是有人講，是有人知道他哪裡沒聽懂。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OpenMAIC 為清華大學開源項目，v0.2.2 起已支援 zh-TW 共 12 種語系；其技術實力我們尊重，差距在設計理念而非功能數量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競爭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Hyperknow 管進度，不教書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58952" y="1719072"/>
          <a:ext cx="10671048" cy="3584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309360"/>
                <a:gridCol w="43616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我們的觀察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一手證據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3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它排的是死線，不是你的卡點。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官網原話：From course files to LMS deadlines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3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它自己說：影片提供理解，練習才提供掌握。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hyperknow.io/blogs 原句 The video provides the initial comprehension. The practice provides the mastery.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3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 檔賣的是額度和一個記憶開關，不是「你學會了」。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 US$18/月、Max US$50/月；權益含 usage limits、Memory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3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它的收入建立在考試季上，產品卻想當 24/7 的習慣。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日本 203 校／28,723 人調查：僅 7.2% 學生自費訂閱生成式 AI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58952" y="548640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我們不批評它，它做得很認真。但它自己寫下了那句話 —— 那麼，把「練習到掌握」做成閉環的系統，在哪裡？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課堂開始前建議備妥官網截圖，以備查詢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商業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先學後付，不綁月費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37360"/>
            <a:ext cx="10673791" cy="914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51560" y="1920240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服務對象：中文母語大學生、研究生、職業自學者　｜　首年目標 100–300 名付費用戶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暫不開放中小學市場。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58952" y="2880360"/>
          <a:ext cx="10671048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834640"/>
                <a:gridCol w="2862072"/>
                <a:gridCol w="287121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Free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　HK$78／月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Max　HK$148／月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積分／月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100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600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1,500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連接器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跨裝置同步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前沿模型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50" b="0">
                          <a:solidFill>
                            <a:srgbClr val="B4531A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8540496" y="2880360"/>
            <a:ext cx="32004" cy="201168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8952" y="5120640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78 港元大約是兩頓平價午餐。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積分制是成本護欄：每檔設上限，不做無限量方案 —— 否則模型調用成本會失控，收入越多虧得越多。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商業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18 萬，買 6 個月的驗證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58952" y="1755648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3271" y="210312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HK$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4400" b="1">
                <a:solidFill>
                  <a:srgbClr val="B4531A"/>
                </a:solidFill>
                <a:latin typeface="Segoe UI Semibold"/>
                <a:ea typeface="Microsoft JhengHei"/>
                <a:cs typeface="Microsoft JhengHei"/>
              </a:rPr>
              <a:t>180,000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首 6 個月，不含創辦人津貼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297680" y="1755648"/>
          <a:ext cx="713232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201168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 (HKD)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佔比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產品開發與測試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72,000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與雲端服務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27,000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市場推廣與校園試點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36,000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法律、會計與行政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18,000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預備金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27,000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Segoe UI Semibold"/>
                          <a:ea typeface="Microsoft JhengHei"/>
                          <a:cs typeface="Microsoft JhengHei"/>
                        </a:rPr>
                        <a:t>180,000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100584" marR="100584" marT="45720" marB="45720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758952" y="4315968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8952" y="4526280"/>
            <a:ext cx="106737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創辦人本期不支薪 —— 這是 18 萬夠用的原因。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第 7 個月起以訂閱收入自持。18 個月承諾的是「驗證兩項關鍵假設」，不是「養活團隊十八個月」。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對照：數碼港 CCMF 為 10 萬／6 個月，科技園 Ideation 為 10 萬／1 年，均屬原型階段資助。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商業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只驗兩件事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66420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核心驗收點：完成率　｜　付費意願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2670048"/>
            <a:ext cx="9850831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58952" y="2286000"/>
            <a:ext cx="2531287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960587" y="2596896"/>
            <a:ext cx="128016" cy="128016"/>
          </a:xfrm>
          <a:prstGeom prst="ellips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20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第 3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可用原型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30–50 次深訪、100 人等候名單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3119" y="2286000"/>
            <a:ext cx="2531287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674755" y="2596896"/>
            <a:ext cx="128016" cy="128016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74287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第 6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封閉測試 100–200 人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★ 核心驗收點：激活率與四周留存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2286000"/>
            <a:ext cx="2531287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388923" y="2596896"/>
            <a:ext cx="128016" cy="128016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8455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第 12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首批付費用戶與收入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★ 核心驗收點：付費意願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1455" y="2286000"/>
            <a:ext cx="2531287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103091" y="2596896"/>
            <a:ext cx="128016" cy="128016"/>
          </a:xfrm>
          <a:prstGeom prst="ellipse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02623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第 18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30 天延遲回訪數據齊備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決定是否自持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4956048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kill criteria：第 6 月激活率低於 25%，我們重做定位；第 12 月付費轉化低於 3%，我們轉向學校／機構採購。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我們寧可把失敗的條件寫在前面，也不願事後再作解釋。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誠信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我們最可能輸在哪裡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格式：風險 → 觸發條件 → 我們已經準備好的對策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58952" y="1938528"/>
          <a:ext cx="10671048" cy="3785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108960"/>
                <a:gridCol w="436168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觸發條件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我們已經準備好的對策</a:t>
                      </a:r>
                    </a:p>
                  </a:txBody>
                  <a:tcPr marL="100584" marR="100584" marT="45720" marB="45720" anchor="ctr">
                    <a:solidFill>
                      <a:srgbClr val="B4531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用戶生成課程但不完成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 月四周留存低於 25%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收窄到單一場景（考試複習），砍掉其他課程模板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生成內容不夠準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抽檢來源可溯率低於 90%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改為只引用用戶上傳資料，不檢索外部 —— 寧可少而準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學生不願付費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12 月付費轉化低於 3%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轉向學校／機構採購，商業模式改為 B2B2C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提取練習不適合零基礎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起始答對率低於 50%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驗收難度分級：零基礎先做覆蓋確認，不直接上難題</a:t>
                      </a:r>
                    </a:p>
                  </a:txBody>
                  <a:tcPr marL="100584" marR="100584" marT="45720" marB="45720" anchor="ctr">
                    <a:solidFill>
                      <a:srgbClr val="F1F4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我們可能判斷錯了整個方向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5B667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 月留存與付費遠低於預期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50" b="0">
                          <a:solidFill>
                            <a:srgbClr val="1723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縮回單一場景並公開驗證數據；若仍不成立，就承認這個方向不成立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58952" y="6336792"/>
            <a:ext cx="820491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依據：Rowland (2014) 報告 18% 的效應量為負；Yang et al. (2021) 顯示對照組同做精加工時效應降至 g = 0.095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收束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由各位選一個起點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874519"/>
            <a:ext cx="106737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如果你只能盯住我們一項指標，你會選哪一個？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288036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33271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行為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課程完成率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用戶有沒有真的學完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4418" y="288036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688738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成效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30 天延遲回訪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一個月後還記得多少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9884" y="288036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44204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信任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安全與合規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資料會不會出事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12064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各位的選擇會決定我們接下來六個月，把資源放在哪裡。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收束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驗收，才是終點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920240"/>
            <a:ext cx="1067379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我們今天沒有講完一個功能。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我們講的是一個問題 —— 在 AI 時代，學習該怎麼被重新定義。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Veridex 是我們的答案。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224528"/>
            <a:ext cx="10673791" cy="1828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952" y="4526280"/>
            <a:ext cx="106737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Veridex 維學科技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黃浩然、黃羿捷　｜　2026 年 10 月 16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附錄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參考文獻與資料來源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737360"/>
            <a:ext cx="51540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HEPI (2026). Student Generative AI Survey 2026, Report 199.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Chuang &amp; Ho (2014). HarvardX / MITx completion study（工作論文）.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Freeman et al. (2014). PNAS 111(23): 8410–8415.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Roediger &amp; Karpicke (2006). Psychological Science 17(3): 249–255.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Karpicke &amp; Blunt (2011). Science 331(6018): 772–775.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Adesope, Trevisan &amp; Sundararajan (2017). RER 87(3): 659–701.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27" y="1737360"/>
            <a:ext cx="51540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Rowland (2014). Psychological Bulletin 140(6): 1434–1454.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Bisra et al. (2018). Educational Psychology Review 30(3): 703–725.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Pan &amp; Rickard (2018). Psychological Bulletin 144(7): 710–756.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Cepeda et al. (2006). Psychological Bulletin 132(3): 354–380.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Cowan (2001). Behavioral and Brain Sciences 24(1): 79–95.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Yang et al. (2021). Psychological Bulletin 147(4): 399–435.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Yang et al. (2023). Educational Psychology Review 35(3), 87.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hyperknow.io 官網 / blog；github.com/THU-MAIC/OpenMAIC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742432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本頁與下一頁為答問背景板，不列入 20 頁正片之計時。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7730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1081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138998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16984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200696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231545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262394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15468" y="293243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15468" y="324092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15468" y="354941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5468" y="38579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15468" y="41663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15468" y="447488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15468" y="478337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5468" y="50918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5468" y="540035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15468" y="570883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5468" y="601732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附錄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答問備答要點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「口語表現須清楚回應提問」與「交流與互動」合計佔 50 分，建議逐題練過。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2029968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8407" y="2029968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兩個剛畢業的學生，做得成嗎？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兩人皆 CS 背景、中文母語，能在理大直接做試點。缺的是學習科學與商業經驗 —— 我們用顧問合作與校園試點補，而不是用假話補。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2743200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8407" y="2743200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Hyperknow 已經做得很好了，你們憑什麼？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一句話反問：它排的是 LMS 的死線，我們排的是你卡在哪一步。然後指向第 12 頁對比表 —— 差異在流程，不在功能。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456432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8407" y="3456432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18 萬夠不夠？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創辦人本期不支薪，6 個月是驗證期不是養人期。對照數碼港 CCMF 10 萬／6 個月，我們的額度在同一區間之上。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169664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8407" y="4169664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你們怎麼證明真的有效果？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三層證據：行為（完成率）、成果（前後測）、延遲（30 天回訪）。第三層是別家都不做的，也是我們唯一會向各位匯報的。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4882896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8407" y="4882896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學生的資料會不會出事？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指向第 11 頁：商標、版權登記、數據不出境、令牌有時效、課程數據分戶隔離、每次匯出留審計記錄。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5596128"/>
            <a:ext cx="41148" cy="5669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8407" y="5596128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Q　如果我給你錢，6 個月後你要給我什麼？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兩個數字：第 6 月的激活率與四周留存，第 12 月的付費意願。第 6 月若低於 25%，我們重做定位 —— 這條我們寫在第 17 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