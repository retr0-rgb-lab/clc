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黃浩然 · 黃羿捷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03120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Veridex：AI 時代的有效自學方案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00400"/>
            <a:ext cx="106737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按你的資料生成，按你的程度驗收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480560"/>
            <a:ext cx="10673791" cy="12801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4718304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呈　青年創業基金委員會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　黃浩然、黃羿捷　｜　2026 · 10 · 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 &amp; 黃羿捷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傳統課堂給不了定制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1335024"/>
            <a:ext cx="10673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老師的注意力是稀缺資源 —— 一份講義、一條進度，都只能按一個人來做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938528"/>
            <a:ext cx="5108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傳統課堂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2194560"/>
            <a:ext cx="5108295" cy="25603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58952" y="2670048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4983" y="2852928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講義是發給所有人的，不是給你的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老師不可能為每個人改一份講義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849624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4983" y="4032504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一條進度，快的被拖、慢的掉隊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同一個班，pace 只有一個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029200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14983" y="5212080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老師不知道你想學什麼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開口問，等於打斷全班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1938528"/>
            <a:ext cx="5108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AI native 課堂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2194560"/>
            <a:ext cx="5108295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324447" y="2670048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0479" y="2852928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課照著你的資料長出來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上傳什麼，就教什麼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3849624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0479" y="4032504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進度跟著你的水平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快的跳過，慢的加時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5029200"/>
            <a:ext cx="5108295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0479" y="5212080"/>
            <a:ext cx="45962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你說什麼，第一課就是什麼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開口不用打斷任何人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我們怎麼造這門課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38528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33271" y="2157984"/>
            <a:ext cx="292608" cy="292608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33271" y="2208276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139696"/>
            <a:ext cx="4572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上傳資料，說清需求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講義、考卷、筆記 —— 你的都在這裡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374136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AF0E8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033271" y="3593592"/>
            <a:ext cx="292608" cy="292608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3271" y="3643884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575304"/>
            <a:ext cx="4572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了解現狀，摸清程度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問幾個問題就知道你卡在哪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4343400"/>
            <a:ext cx="274320" cy="2377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90472" y="425196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傳統課堂永遠不會做這一步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4809744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33271" y="5029200"/>
            <a:ext cx="292608" cy="292608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3271" y="5079492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010912"/>
            <a:ext cx="4572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生成課程，帶有檢驗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章節、知識點、語音講解、板書同步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75704" y="1938528"/>
            <a:ext cx="4657039" cy="4059935"/>
          </a:xfrm>
          <a:prstGeom prst="roundRect">
            <a:avLst>
              <a:gd name="adj" fmla="val 1351"/>
            </a:avLst>
          </a:prstGeom>
          <a:solidFill>
            <a:srgbClr val="F1F4F8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086600" y="2249424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86600" y="2395728"/>
            <a:ext cx="40352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Veridex 課程頁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743200"/>
            <a:ext cx="403524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章節、知識點、語音講解、板書同步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127248"/>
            <a:ext cx="4035247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086600" y="4261103"/>
            <a:ext cx="40352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［待放入課程頁截圖］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問題一 · 定制化課程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上課時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1335024"/>
            <a:ext cx="106737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一節課 = 10–15 分鐘。課照著你的資料長出來，講解的時候再按你的反應調整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1938528"/>
            <a:ext cx="10673791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69848" y="2258568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71016" y="2221992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AI 講解，白板板書同步推上去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072384"/>
            <a:ext cx="10673791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69848" y="3392424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71016" y="3355848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你隨時可以打斷、追問、要求換一種講法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206240"/>
            <a:ext cx="10673791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69848" y="4526280"/>
            <a:ext cx="45720" cy="310896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71016" y="4489704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進度按你的反應走——跟不上就停下來重講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5413248"/>
            <a:ext cx="10673791" cy="585216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69848" y="5559552"/>
            <a:ext cx="10051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課內追問不另外收費 —— 問到飽為止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學會一件事，要走完四步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38528"/>
            <a:ext cx="2462707" cy="1975104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14983" y="2212848"/>
            <a:ext cx="292608" cy="292608"/>
          </a:xfrm>
          <a:prstGeom prst="ellipse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4983" y="22631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2743200"/>
            <a:ext cx="19506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喚起先備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127248"/>
            <a:ext cx="1950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你：把已經會的調出來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3" y="3529584"/>
            <a:ext cx="1950643" cy="25603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495979" y="1938528"/>
            <a:ext cx="2462707" cy="1975104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3752011" y="2212848"/>
            <a:ext cx="292608" cy="292608"/>
          </a:xfrm>
          <a:prstGeom prst="ellipse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52011" y="22631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2011" y="2743200"/>
            <a:ext cx="19506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示範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2011" y="3127248"/>
            <a:ext cx="1950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AI：講給你聽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2011" y="3529584"/>
            <a:ext cx="1950643" cy="25603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233007" y="1938528"/>
            <a:ext cx="2462707" cy="1975104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89039" y="2212848"/>
            <a:ext cx="292608" cy="292608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89039" y="22631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9039" y="2743200"/>
            <a:ext cx="19506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應用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9" y="3127248"/>
            <a:ext cx="1950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你：要自己做一遍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9039" y="3529584"/>
            <a:ext cx="1950643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970035" y="1938528"/>
            <a:ext cx="2462707" cy="1975104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226067" y="2212848"/>
            <a:ext cx="292608" cy="292608"/>
          </a:xfrm>
          <a:prstGeom prst="ellipse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26067" y="22631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  <a:ea typeface="Microsoft JhengHei"/>
                <a:cs typeface="Microsoft JhengHei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067" y="2743200"/>
            <a:ext cx="19506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067" y="3127248"/>
            <a:ext cx="19506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你：換個情境再用一次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26067" y="3529584"/>
            <a:ext cx="1950643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58952" y="4334256"/>
            <a:ext cx="10673791" cy="25603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8952" y="4462272"/>
            <a:ext cx="5336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前兩步是聽，是輸入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847" y="4462272"/>
            <a:ext cx="5336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後兩步必須動手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" y="5029200"/>
            <a:ext cx="10673791" cy="969263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69848" y="5230368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動手之前，沒有人知道你到底會了多少。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→ 沒有檢驗，這四步走不完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8952" y="6272784"/>
            <a:ext cx="81134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Merrill, M. D. (2002). First principles of instruction. Educational Technology Research and Development 50(3):43–59. doi:10.1007/bf02505024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靠學生自己，兩條路都堵死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1938528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出路一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2194560"/>
            <a:ext cx="5532120" cy="25603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2258568"/>
            <a:ext cx="55321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自己做檢驗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487168"/>
            <a:ext cx="5532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1,054 名英國全日制本科生，用 AI 做的事（可複選）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2903220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" y="276148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解釋概念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912" y="2811780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724912" y="2811780"/>
            <a:ext cx="1665305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87567" y="27614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58%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3172968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" y="30312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總結材料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3081528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724912" y="3081528"/>
            <a:ext cx="1349471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87567" y="303123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47%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3442715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" y="330098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研究思路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24912" y="3351276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724912" y="3351276"/>
            <a:ext cx="1148486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87567" y="330098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3712463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8952" y="35707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組織思路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3621024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724912" y="3621024"/>
            <a:ext cx="1119774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87567" y="3570732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39%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3982212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8952" y="384048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搜索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4912" y="3890772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724912" y="3890772"/>
            <a:ext cx="717803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87567" y="384048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4251960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8952" y="41102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24912" y="4160520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2724912" y="4160520"/>
            <a:ext cx="717803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87567" y="411022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" y="4521708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58952" y="43799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直接放進作業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24912" y="4430268"/>
            <a:ext cx="287121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724912" y="4430268"/>
            <a:ext cx="315833" cy="141732"/>
          </a:xfrm>
          <a:prstGeom prst="rect">
            <a:avLst/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87567" y="437997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11%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4791456"/>
            <a:ext cx="182880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58952" y="464972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檢驗我到底學會沒有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4912" y="4700016"/>
            <a:ext cx="2871215" cy="141732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687567" y="4649724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未列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1938528"/>
            <a:ext cx="4574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出路二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2194560"/>
            <a:ext cx="4574743" cy="25603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858000" y="2258568"/>
            <a:ext cx="457474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那就檢驗一下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2487168"/>
            <a:ext cx="45747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自己判：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2903220"/>
            <a:ext cx="777240" cy="16459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858000" y="276148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估準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2811780"/>
            <a:ext cx="2910535" cy="14173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7772400" y="2811780"/>
            <a:ext cx="538449" cy="141732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774375" y="2761488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6675"/>
                </a:solidFill>
                <a:latin typeface="Segoe UI Semibold"/>
                <a:ea typeface="Microsoft JhengHei"/>
                <a:cs typeface="Microsoft JhengHei"/>
              </a:rPr>
              <a:t>18.5%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3287268"/>
            <a:ext cx="777240" cy="16459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858000" y="314553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高估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3195828"/>
            <a:ext cx="2910535" cy="141732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772400" y="3195828"/>
            <a:ext cx="1033239" cy="141732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74375" y="314553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F5606"/>
                </a:solidFill>
                <a:latin typeface="Segoe UI Semibold"/>
                <a:ea typeface="Microsoft JhengHei"/>
                <a:cs typeface="Microsoft JhengHei"/>
              </a:rPr>
              <a:t>35.5%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671315"/>
            <a:ext cx="777240" cy="16459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858000" y="352958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低估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3579876"/>
            <a:ext cx="2910535" cy="141732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7772400" y="3579876"/>
            <a:ext cx="1338846" cy="141732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774375" y="3529584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F5606"/>
                </a:solidFill>
                <a:latin typeface="Segoe UI Semibold"/>
                <a:ea typeface="Microsoft JhengHei"/>
                <a:cs typeface="Microsoft JhengHei"/>
              </a:rPr>
              <a:t>46.0%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0" y="3858768"/>
            <a:ext cx="4574743" cy="1078991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12700">
            <a:solidFill>
              <a:srgbClr val="B45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114032" y="4114800"/>
            <a:ext cx="40626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元認知錯覺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你對自己掌握程度的判斷，和真實水平不一致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437375" y="3346703"/>
            <a:ext cx="274320" cy="182880"/>
          </a:xfrm>
          <a:prstGeom prst="rightArrow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082131" y="5029200"/>
            <a:ext cx="27432" cy="148498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6004407" y="5177698"/>
            <a:ext cx="182880" cy="3584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6038697" y="5213543"/>
            <a:ext cx="114300" cy="3584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072987" y="5249387"/>
            <a:ext cx="45720" cy="35844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8952" y="5358384"/>
            <a:ext cx="10673791" cy="640079"/>
          </a:xfrm>
          <a:prstGeom prst="rect">
            <a:avLst/>
          </a:prstGeom>
          <a:solidFill>
            <a:srgbClr val="FA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69848" y="5394960"/>
            <a:ext cx="100519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不做，看不到結果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8F5606"/>
                </a:solidFill>
                <a:latin typeface="Microsoft JhengHei"/>
                <a:ea typeface="Microsoft JhengHei"/>
                <a:cs typeface="Microsoft JhengHei"/>
              </a:rPr>
              <a:t>做了，拿到的是自己的錯覺。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58952" y="6272784"/>
            <a:ext cx="81134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HEPI (2026). Student Generative AI Survey, Report 199, n=1,054，英國全日制本科生　｜　Knof, Berndt, Shiozawa et al. (2024). BMC Medical Education 24:1210. doi:10.1186/s12909-024-06121-7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一題做錯了，四個問題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58952" y="2093976"/>
            <a:ext cx="100584" cy="10058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3000" y="1938528"/>
            <a:ext cx="1028974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它掛在哪個知識點上？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2752344"/>
            <a:ext cx="100584" cy="10058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2596896"/>
            <a:ext cx="1028974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為什麼錯？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410711"/>
            <a:ext cx="100584" cy="10058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3000" y="3255263"/>
            <a:ext cx="1028974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要補哪一塊？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4069079"/>
            <a:ext cx="100584" cy="100584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43000" y="3913631"/>
            <a:ext cx="1028974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多久之後再問我一次？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564684"/>
            <a:ext cx="10673791" cy="25603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" y="4736591"/>
            <a:ext cx="1067379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現在的產品大多只回答第一個。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431536"/>
            <a:ext cx="106737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我們回答四個。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講者：黃羿捷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75488"/>
            <a:ext cx="41148" cy="5522975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15468" y="464515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5468" y="125351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5468" y="204250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15468" y="283150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15468" y="3620501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15468" y="4409498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5468" y="5198494"/>
            <a:ext cx="45720" cy="21945"/>
          </a:xfrm>
          <a:prstGeom prst="rect">
            <a:avLst/>
          </a:prstGeom>
          <a:solidFill>
            <a:srgbClr val="8A9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15468" y="5987491"/>
            <a:ext cx="365760" cy="21945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365760"/>
            <a:ext cx="106737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1A"/>
                </a:solidFill>
                <a:latin typeface="Microsoft JhengHei"/>
                <a:ea typeface="Microsoft JhengHei"/>
                <a:cs typeface="Microsoft JhengHei"/>
              </a:rPr>
              <a:t>問題二 · 有效的檢驗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"/>
            <a:ext cx="10673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233B"/>
                </a:solidFill>
                <a:latin typeface="Segoe UI Semibold"/>
                <a:ea typeface="Microsoft JhengHei"/>
                <a:cs typeface="Microsoft JhengHei"/>
              </a:rPr>
              <a:t>我們的檢驗，細在哪四個地方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1207008"/>
            <a:ext cx="566928" cy="41148"/>
          </a:xfrm>
          <a:prstGeom prst="rect">
            <a:avLst/>
          </a:prstGeom>
          <a:solidFill>
            <a:srgbClr val="B45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58952" y="1938528"/>
            <a:ext cx="10673791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69848" y="215798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測什麼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121408"/>
            <a:ext cx="12801" cy="38404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00984" y="217627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講出來 / 練一遍 / 做出來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194560"/>
            <a:ext cx="2864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對比的粗話：不止選擇題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2834640"/>
            <a:ext cx="10673791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9848" y="305409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3017520"/>
            <a:ext cx="12801" cy="38404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00984" y="307238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追溯錯誤本因，追到你真正不會的知識點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090672"/>
            <a:ext cx="2864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對比的粗話：不只追到這道題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3730752"/>
            <a:ext cx="10673791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69848" y="395020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給什麼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3913632"/>
            <a:ext cx="12801" cy="38404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00984" y="396849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給正確思路，不給答案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986784"/>
            <a:ext cx="2864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對比的粗話：不給你抄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4626864"/>
            <a:ext cx="10673791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69848" y="48463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測多久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4809744"/>
            <a:ext cx="12801" cy="384048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00984" y="486460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33B"/>
                </a:solidFill>
                <a:latin typeface="Microsoft JhengHei"/>
                <a:ea typeface="Microsoft JhengHei"/>
                <a:cs typeface="Microsoft JhengHei"/>
              </a:rPr>
              <a:t>間隔由 AI 推薦，你確認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882896"/>
            <a:ext cx="2864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對比的粗話：不是拍腦袋定一個日期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5541264"/>
            <a:ext cx="10673791" cy="12801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8952" y="5705856"/>
            <a:ext cx="106737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「多久之後再問我一次」不是拍腦袋：最優間隔 ≈ 你要保留時長的 20–40%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6199632"/>
            <a:ext cx="10673791" cy="10972"/>
          </a:xfrm>
          <a:prstGeom prst="rect">
            <a:avLst/>
          </a:prstGeom>
          <a:solidFill>
            <a:srgbClr val="C9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" y="6272784"/>
            <a:ext cx="81134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Cepeda, Vul, Rohrer, Wixted &amp; Pashler (2008). Psychological Science 19(11):1095–1102. doi:10.1111/j.1467-9280.2008.02209.x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3863" y="62727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icrosoft JhengHei"/>
                <a:ea typeface="Microsoft JhengHei"/>
                <a:cs typeface="Microsoft JhengHei"/>
              </a:rPr>
              <a:t>講者：黃浩然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