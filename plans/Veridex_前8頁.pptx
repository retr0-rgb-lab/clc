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30184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1391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97650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81383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6511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48849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8952" y="475488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黃浩然 · 黃羿捷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74519"/>
            <a:ext cx="10673791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Veridex：AI 時代的有效自學方案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218688"/>
            <a:ext cx="1067379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按你的資料生成，按你的程度驗收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4864608"/>
            <a:ext cx="10673791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8952" y="5084064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呈　青年創業基金委員會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　黃浩然、黃羿捷　｜　2026 · 10 ·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301844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1391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97650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81383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6511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48849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問題一 · 定制化課程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傳統課堂給不了定制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" y="1444752"/>
            <a:ext cx="1067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老師的注意力是稀缺資源 —— 一份講義、一條進度，都只能按一個人來做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2066544"/>
            <a:ext cx="5108295" cy="25603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8952" y="1920240"/>
            <a:ext cx="51082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傳統課堂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2304288"/>
            <a:ext cx="5108295" cy="1078992"/>
          </a:xfrm>
          <a:prstGeom prst="roundRect">
            <a:avLst>
              <a:gd name="adj" fmla="val 6779"/>
            </a:avLst>
          </a:prstGeom>
          <a:solidFill>
            <a:srgbClr val="F1F4F8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4983" y="2487168"/>
            <a:ext cx="459623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講義是發給所有人的，不是給你的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老師不可能為每個人改一份講義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3529584"/>
            <a:ext cx="5108295" cy="1078992"/>
          </a:xfrm>
          <a:prstGeom prst="roundRect">
            <a:avLst>
              <a:gd name="adj" fmla="val 6779"/>
            </a:avLst>
          </a:prstGeom>
          <a:solidFill>
            <a:srgbClr val="F1F4F8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14983" y="3712464"/>
            <a:ext cx="459623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一條進度，快的被拖、慢的掉隊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同一個班，pace 只有一個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754880"/>
            <a:ext cx="5108295" cy="1078992"/>
          </a:xfrm>
          <a:prstGeom prst="roundRect">
            <a:avLst>
              <a:gd name="adj" fmla="val 6779"/>
            </a:avLst>
          </a:prstGeom>
          <a:solidFill>
            <a:srgbClr val="F1F4F8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14983" y="4937760"/>
            <a:ext cx="459623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老師不知道你想學什麼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開口問，等於打斷全班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7" y="2066544"/>
            <a:ext cx="5108295" cy="25603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24447" y="1920240"/>
            <a:ext cx="51082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AI native 課堂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7" y="2304288"/>
            <a:ext cx="5108295" cy="1078992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0479" y="2487168"/>
            <a:ext cx="459623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課照著你的資料長出來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上傳什麼，就教什麼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7" y="3529584"/>
            <a:ext cx="5108295" cy="1078992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0479" y="3712464"/>
            <a:ext cx="459623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進度跟著你的水平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快的跳過，慢的加時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7" y="4754880"/>
            <a:ext cx="5108295" cy="1078992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0479" y="4937760"/>
            <a:ext cx="459623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你說什麼，第一課就是什麼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開口不用打斷任何人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30184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139173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97650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81383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6511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48849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問題一 · 定制化課程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我們怎麼造這門課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58952" y="1975104"/>
            <a:ext cx="4617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033271" y="2194560"/>
            <a:ext cx="274320" cy="274320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33271" y="22357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2176272"/>
            <a:ext cx="36118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上傳資料，說清需求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講義、考卷、筆記 —— 你的都在這裡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3273552"/>
            <a:ext cx="4617720" cy="1170432"/>
          </a:xfrm>
          <a:prstGeom prst="roundRect">
            <a:avLst>
              <a:gd name="adj" fmla="val 6250"/>
            </a:avLst>
          </a:prstGeom>
          <a:solidFill>
            <a:srgbClr val="FAF0E8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033271" y="3493008"/>
            <a:ext cx="274320" cy="274320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33271" y="35341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3474720"/>
            <a:ext cx="36118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了解現狀，摸清程度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問幾個問題就知道你卡在哪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4425696"/>
            <a:ext cx="361187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傳統課堂永遠不會做這一步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4572000"/>
            <a:ext cx="4617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033271" y="4791456"/>
            <a:ext cx="274320" cy="274320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33271" y="48326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4773168"/>
            <a:ext cx="36118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生成課程，帶有檢驗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章節、知識點、語音講解、板書同步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1975104"/>
            <a:ext cx="5672023" cy="3675887"/>
          </a:xfrm>
          <a:prstGeom prst="roundRect">
            <a:avLst>
              <a:gd name="adj" fmla="val 1990"/>
            </a:avLst>
          </a:prstGeom>
          <a:solidFill>
            <a:srgbClr val="F1F4F8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71616" y="2834640"/>
            <a:ext cx="5050231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Veridex 課程頁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6B7685"/>
                </a:solidFill>
                <a:latin typeface="Microsoft JhengHei"/>
                <a:ea typeface="Microsoft JhengHei"/>
                <a:cs typeface="Microsoft JhengHei"/>
              </a:rPr>
              <a:t>章節、知識點、語音講解、板書同步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</a:pPr>
            <a:r>
              <a:rPr sz="11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［待放入課程頁截圖］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71616" y="2286000"/>
            <a:ext cx="822960" cy="36576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30184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1391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976502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81383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6511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48849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問題一 · 定制化課程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上課時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" y="1444752"/>
            <a:ext cx="1067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一節課 = 10–15 分鐘。課照著你的資料長出來，講解的時候再按你的反應調整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2212848"/>
            <a:ext cx="10673791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69848" y="2532887"/>
            <a:ext cx="45720" cy="310896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71016" y="2487168"/>
            <a:ext cx="9850831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AI 講解，白板板書同步推上去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3291839"/>
            <a:ext cx="10673791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69848" y="3611879"/>
            <a:ext cx="45720" cy="310896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71016" y="3566159"/>
            <a:ext cx="9850831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你隨時可以打斷、追問、要求換一種講法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370831"/>
            <a:ext cx="10673791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69848" y="4690871"/>
            <a:ext cx="45720" cy="310896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71016" y="4645151"/>
            <a:ext cx="9850831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進度按你的反應走——跟不上就停下來重講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5596127"/>
            <a:ext cx="10673791" cy="566928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69848" y="5742431"/>
            <a:ext cx="100519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課內追問不另外收費 —— 問到飽為止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30184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1391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97650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813831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6511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48849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問題二 · 有效的檢驗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學會一件事，要走完四步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58952" y="1920240"/>
            <a:ext cx="2476423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96695" y="2121408"/>
            <a:ext cx="274320" cy="274320"/>
          </a:xfrm>
          <a:prstGeom prst="ellipse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6695" y="21625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" y="2523744"/>
            <a:ext cx="200093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喚起先備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你：把已經會的調出來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1407" y="1920240"/>
            <a:ext cx="2476423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729151" y="2121408"/>
            <a:ext cx="274320" cy="274320"/>
          </a:xfrm>
          <a:prstGeom prst="ellipse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29151" y="21625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9151" y="2523744"/>
            <a:ext cx="200093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示範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AI：講給你聽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3" y="1920240"/>
            <a:ext cx="2476423" cy="1682496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461607" y="2121408"/>
            <a:ext cx="274320" cy="274320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1607" y="21625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2523744"/>
            <a:ext cx="200093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應用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你：要自己做一遍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1607" y="3200400"/>
            <a:ext cx="2000935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956319" y="1920240"/>
            <a:ext cx="2476423" cy="1682496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194063" y="2121408"/>
            <a:ext cx="274320" cy="274320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94063" y="21625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4063" y="2523744"/>
            <a:ext cx="200093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整合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你：換個情境再用一次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94063" y="3200400"/>
            <a:ext cx="2000935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" y="3749039"/>
            <a:ext cx="10673791" cy="25603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" y="3877055"/>
            <a:ext cx="51540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前兩步是聽，是輸入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3877055"/>
            <a:ext cx="5336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後兩步必須動手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" y="4407407"/>
            <a:ext cx="10673791" cy="841248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69848" y="4608575"/>
            <a:ext cx="1005199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動手之前，沒有人知道你到底會了多少。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→ 沒有檢驗，這四步走不完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6336792"/>
            <a:ext cx="820491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Merrill, M. D. (2002). First principles of instruction. Educational Technology Research and Development 50(3):43–59. doi:10.1007/bf02505024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30184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1391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97650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81383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651160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48849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問題二 · 有效的檢驗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靠學生自己，兩條路都堵死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58952" y="2029968"/>
            <a:ext cx="5760720" cy="25603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8952" y="1883664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出路一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121408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自己做檢驗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304288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685"/>
                </a:solidFill>
                <a:latin typeface="Microsoft JhengHei"/>
                <a:ea typeface="Microsoft JhengHei"/>
                <a:cs typeface="Microsoft JhengHei"/>
              </a:rPr>
              <a:t>1,054 名英國全日制本科生，用 AI 做的事（可複選）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2720340"/>
            <a:ext cx="1874519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8952" y="26151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解釋概念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24912" y="2665476"/>
            <a:ext cx="3136392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724912" y="2665476"/>
            <a:ext cx="1819107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52744" y="2615184"/>
            <a:ext cx="5669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58%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2990088"/>
            <a:ext cx="1874519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" y="288493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總結材料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912" y="2935224"/>
            <a:ext cx="3136392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724912" y="2935224"/>
            <a:ext cx="1474104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52744" y="2884932"/>
            <a:ext cx="5669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47%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3259836"/>
            <a:ext cx="1874519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" y="3154679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研究思路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24912" y="3204972"/>
            <a:ext cx="3136392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724912" y="3204972"/>
            <a:ext cx="1254556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52744" y="3154679"/>
            <a:ext cx="5669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3529584"/>
            <a:ext cx="1874519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8952" y="3424427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組織思路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24912" y="3474720"/>
            <a:ext cx="3136392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724912" y="3474720"/>
            <a:ext cx="1223192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52744" y="3424427"/>
            <a:ext cx="5669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39%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" y="3799332"/>
            <a:ext cx="1874519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8952" y="36941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搜索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24912" y="3744468"/>
            <a:ext cx="3136392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724912" y="3744468"/>
            <a:ext cx="784098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952744" y="3694176"/>
            <a:ext cx="5669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25%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" y="4069080"/>
            <a:ext cx="1874519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58952" y="39639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24912" y="4014215"/>
            <a:ext cx="3136392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2724912" y="4014215"/>
            <a:ext cx="784098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952744" y="3963924"/>
            <a:ext cx="5669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25%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" y="4338828"/>
            <a:ext cx="1874519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58952" y="423367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直接放進作業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24912" y="4283964"/>
            <a:ext cx="3136392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724912" y="4283964"/>
            <a:ext cx="345003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952744" y="4233672"/>
            <a:ext cx="5669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11%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" y="4608576"/>
            <a:ext cx="1828800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58952" y="45034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檢驗我到底學會沒有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24912" y="4553712"/>
            <a:ext cx="3136392" cy="141732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952744" y="450342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未列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25596" y="4828032"/>
            <a:ext cx="27432" cy="168981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3547872" y="4997013"/>
            <a:ext cx="182880" cy="32004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3584448" y="5027736"/>
            <a:ext cx="109728" cy="32004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616452" y="5058460"/>
            <a:ext cx="45720" cy="32004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022592" y="2029968"/>
            <a:ext cx="4410151" cy="25603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022592" y="1883664"/>
            <a:ext cx="441015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出路二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22592" y="2121408"/>
            <a:ext cx="441015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那就檢驗一下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2592" y="2304288"/>
            <a:ext cx="44101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自己判：估準 18.5%　高估 35.5%　低估 46.0%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22592" y="2743200"/>
            <a:ext cx="4410151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278624" y="2944368"/>
            <a:ext cx="389808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元認知錯覺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你對自己掌握程度的判斷，和真實水平不一致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22592" y="4133087"/>
            <a:ext cx="4410151" cy="1005840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278624" y="4315968"/>
            <a:ext cx="389808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不做，看不到結果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做了，拿到的是自己的錯覺。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952" y="6336792"/>
            <a:ext cx="820491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HEPI (2026). Student Generative AI Survey, Report 199, n=1,054，英國全日制本科生　｜　Knof, Berndt, Shiozawa et al. (2024). BMC Medical Education 24:1210. doi:10.1186/s12909-024-06121-7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30184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1391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97650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81383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6511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488490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6325819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問題二 · 有效的檢驗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一題做錯了，四個問題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33271" y="1938528"/>
            <a:ext cx="101251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它掛在哪個知識點上？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2505456"/>
            <a:ext cx="4572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33271" y="2724912"/>
            <a:ext cx="101251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為什麼錯？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291840"/>
            <a:ext cx="4572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33271" y="3511296"/>
            <a:ext cx="101251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要補哪一塊？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4078224"/>
            <a:ext cx="4572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33271" y="4297680"/>
            <a:ext cx="101251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多久之後再問我一次？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4864608"/>
            <a:ext cx="4572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58952" y="5230368"/>
            <a:ext cx="10673791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5413248"/>
            <a:ext cx="1067379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現在的產品大多只回答第一個。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760720"/>
            <a:ext cx="10673791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我們回答四個。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861304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30184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139173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976502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81383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65116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488490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6325819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問題二 · 有效的檢驗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85216"/>
            <a:ext cx="1067379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我們的檢驗，細在哪四個地方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98448"/>
            <a:ext cx="822960" cy="45720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58952" y="1956816"/>
            <a:ext cx="10673791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69848" y="213969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測什麼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90672" y="2176272"/>
            <a:ext cx="18288" cy="493776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00984" y="2157984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講出來 / 練一遍 / 做出來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194560"/>
            <a:ext cx="277337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對比的粗話：不止選擇題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2999232"/>
            <a:ext cx="10673791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69848" y="31821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追溯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90672" y="3218688"/>
            <a:ext cx="18288" cy="493776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00984" y="3200400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追溯錯誤本因，追到你真正不會的知識點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236976"/>
            <a:ext cx="277337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對比的粗話：不只追到這道題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4041648"/>
            <a:ext cx="10673791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69848" y="422452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給什麼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4261104"/>
            <a:ext cx="18288" cy="493776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00984" y="424281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給正確思路，不給答案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279392"/>
            <a:ext cx="277337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對比的粗話：不給你抄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5084064"/>
            <a:ext cx="10673791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69848" y="5266944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測多久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90672" y="5303520"/>
            <a:ext cx="18288" cy="493776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300984" y="5285231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間隔由 AI 推薦，你確認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5321807"/>
            <a:ext cx="277337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對比的粗話：不是拍腦袋定一個日期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5596128"/>
            <a:ext cx="10673791" cy="1828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8952" y="5760720"/>
            <a:ext cx="106737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「多久之後再問我一次」不是拍腦袋：最優間隔 ≈ 你要保留時長的 20–40%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6336792"/>
            <a:ext cx="820491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Cepeda, Vul, Rohrer, Wixted &amp; Pashler (2008). Psychological Science 19(11):1095–1102. doi:10.1111/j.1467-9280.2008.02209.x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5303" y="6336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