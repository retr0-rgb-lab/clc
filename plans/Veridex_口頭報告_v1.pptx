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58952" y="1993392"/>
            <a:ext cx="10673791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Veridex 維學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3310128"/>
            <a:ext cx="1051560" cy="41148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58952" y="3611880"/>
            <a:ext cx="1067379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你的第一個 AI 個人課堂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4864608"/>
            <a:ext cx="10673791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呈：青年創業基金委員會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講者：黃浩然、黃羿捷　｜　2026 年 10 月 16 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6743" y="6336792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講者：黃浩然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475488"/>
            <a:ext cx="1067379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AI 讓學習變快了，還是變難了？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758952" y="1335024"/>
            <a:ext cx="1051560" cy="41148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58952" y="1874519"/>
            <a:ext cx="10673791" cy="1572768"/>
          </a:xfrm>
          <a:prstGeom prst="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70432" y="2139696"/>
            <a:ext cx="9850831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「我想回答一個問題 —— 在 AI 時代，怎麼學得會。」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23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「不是更快地看完，是終於學會。」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3127248"/>
            <a:ext cx="98508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黃浩然　／　黃羿捷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3840480"/>
            <a:ext cx="10673791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我們不敢說我們能解決這個問題。</a:t>
            </a:r>
          </a:p>
          <a:p>
            <a:pPr algn="l">
              <a:lnSpc>
                <a:spcPct val="145000"/>
              </a:lnSpc>
              <a:spcBef>
                <a:spcPts val="600"/>
              </a:spcBef>
              <a:spcAft>
                <a:spcPts val="0"/>
              </a:spcAft>
            </a:pPr>
            <a:r>
              <a:rPr sz="2000" b="1">
                <a:solidFill>
                  <a:srgbClr val="0A84FF"/>
                </a:solidFill>
                <a:latin typeface="Microsoft JhengHei"/>
                <a:ea typeface="Microsoft JhengHei"/>
                <a:cs typeface="Microsoft JhengHei"/>
              </a:rPr>
              <a:t>但我們可以把「有沒有學會」這件事，從感覺變成數字。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5138928"/>
            <a:ext cx="1067379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這就是 Veridex 存在的理由。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6743" y="6336792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講者：黃浩然 &amp; 黃羿捷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475488"/>
            <a:ext cx="1067379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同一份調查裡的兩種學生</a:t>
            </a:r>
          </a:p>
        </p:txBody>
      </p:sp>
      <p:sp>
        <p:nvSpPr>
          <p:cNvPr id="3" name="Rectangle 2"/>
          <p:cNvSpPr/>
          <p:nvPr/>
        </p:nvSpPr>
        <p:spPr>
          <a:xfrm>
            <a:off x="758952" y="1335024"/>
            <a:ext cx="1051560" cy="41148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58952" y="1783080"/>
            <a:ext cx="5154015" cy="1874519"/>
          </a:xfrm>
          <a:prstGeom prst="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06424" y="2048256"/>
            <a:ext cx="4459071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「AI 讓我快速總結冗長的文獻、生成大綱，省下時間好專注於批判性思考。」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" y="3273552"/>
            <a:ext cx="445907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—— 一位英國本科學生</a:t>
            </a:r>
          </a:p>
        </p:txBody>
      </p:sp>
      <p:sp>
        <p:nvSpPr>
          <p:cNvPr id="7" name="Rectangle 6"/>
          <p:cNvSpPr/>
          <p:nvPr/>
        </p:nvSpPr>
        <p:spPr>
          <a:xfrm>
            <a:off x="6278727" y="1783080"/>
            <a:ext cx="5154015" cy="1874519"/>
          </a:xfrm>
          <a:prstGeom prst="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626199" y="2048256"/>
            <a:ext cx="4459071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「我根本沒有用自己的腦子。」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6199" y="3273552"/>
            <a:ext cx="445907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—— 另一位英國本科學生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" y="4041648"/>
            <a:ext cx="10673791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58952" y="4279392"/>
            <a:ext cx="10673791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同一份工具，同一年，為什麼兩個人走向相反？</a:t>
            </a:r>
          </a:p>
          <a:p>
            <a:pPr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依賴 AI 而無人監督的醫學生，考試表現最差，信心卻最高 —— 研究者形容為「發了跑車，卻沒學過開車」。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6336792"/>
            <a:ext cx="829635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來源：HEPI Student Generative AI Survey 2026 (Report 199)；Queen Mary University of London 研究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6743" y="6336792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講者：黃浩然 &amp; 黃羿捷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475488"/>
            <a:ext cx="1067379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我們用四個環節，來定義「學會了」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758952" y="1335024"/>
            <a:ext cx="1051560" cy="41148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58952" y="1481328"/>
            <a:ext cx="1067379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學習不主要在輸入與處理，而在提取與遷移。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2084831"/>
            <a:ext cx="2517571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41832" y="2249424"/>
            <a:ext cx="2151811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A84FF"/>
                </a:solidFill>
                <a:latin typeface="Microsoft JhengHei"/>
                <a:ea typeface="Microsoft JhengHei"/>
                <a:cs typeface="Microsoft JhengHei"/>
              </a:rPr>
              <a:t>①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20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輸入</a:t>
            </a:r>
          </a:p>
          <a:p>
            <a:pPr algn="l">
              <a:lnSpc>
                <a:spcPct val="135000"/>
              </a:lnSpc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資料進來了嗎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感覺記憶 → 工作記憶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7691" y="2084831"/>
            <a:ext cx="2517571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60571" y="2249424"/>
            <a:ext cx="2151811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A84FF"/>
                </a:solidFill>
                <a:latin typeface="Microsoft JhengHei"/>
                <a:ea typeface="Microsoft JhengHei"/>
                <a:cs typeface="Microsoft JhengHei"/>
              </a:rPr>
              <a:t>②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20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處理</a:t>
            </a:r>
          </a:p>
          <a:p>
            <a:pPr algn="l">
              <a:lnSpc>
                <a:spcPct val="135000"/>
              </a:lnSpc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理解到什麼程度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工作記憶容量約 4±1 組塊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6431" y="2084831"/>
            <a:ext cx="2517571" cy="1572768"/>
          </a:xfrm>
          <a:prstGeom prst="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379311" y="2249424"/>
            <a:ext cx="2151811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A84FF"/>
                </a:solidFill>
                <a:latin typeface="Microsoft JhengHei"/>
                <a:ea typeface="Microsoft JhengHei"/>
                <a:cs typeface="Microsoft JhengHei"/>
              </a:rPr>
              <a:t>③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20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提取</a:t>
            </a:r>
          </a:p>
          <a:p>
            <a:pPr algn="l">
              <a:lnSpc>
                <a:spcPct val="135000"/>
              </a:lnSpc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能從記憶裡取出來嗎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Karpicke &amp; Blunt 2011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15171" y="2084831"/>
            <a:ext cx="2517571" cy="1572768"/>
          </a:xfrm>
          <a:prstGeom prst="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098051" y="2249424"/>
            <a:ext cx="2151811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A84FF"/>
                </a:solidFill>
                <a:latin typeface="Microsoft JhengHei"/>
                <a:ea typeface="Microsoft JhengHei"/>
                <a:cs typeface="Microsoft JhengHei"/>
              </a:rPr>
              <a:t>④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20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遷移</a:t>
            </a:r>
          </a:p>
          <a:p>
            <a:pPr algn="l">
              <a:lnSpc>
                <a:spcPct val="135000"/>
              </a:lnSpc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能用到沒見過的題嗎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Pan &amp; Rickard 2018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" y="3895344"/>
            <a:ext cx="10673791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58952" y="4096512"/>
            <a:ext cx="48463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越舒服的方法，短期越有效，長期越無效 —— 而且你自己看不出來。</a:t>
            </a:r>
          </a:p>
          <a:p>
            <a:pPr algn="l">
              <a:lnSpc>
                <a:spcPct val="145000"/>
              </a:lnSpc>
              <a:spcBef>
                <a:spcPts val="900"/>
              </a:spcBef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重讀組在 5 分鐘內贏，一週後落後 21 個百分點；而且重讀組的信心是三組裡最高的。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989320" y="4096512"/>
          <a:ext cx="5440680" cy="14813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17320"/>
                <a:gridCol w="2011680"/>
                <a:gridCol w="2011680"/>
              </a:tblGrid>
              <a:tr h="3291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延遲</a:t>
                      </a:r>
                    </a:p>
                  </a:txBody>
                  <a:tcPr marL="100584" marR="100584" marT="45720" marB="45720" anchor="ctr">
                    <a:solidFill>
                      <a:srgbClr val="0A8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重讀</a:t>
                      </a:r>
                    </a:p>
                  </a:txBody>
                  <a:tcPr marL="100584" marR="100584" marT="45720" marB="45720" anchor="ctr">
                    <a:solidFill>
                      <a:srgbClr val="0A8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提取練習</a:t>
                      </a:r>
                    </a:p>
                  </a:txBody>
                  <a:tcPr marL="100584" marR="100584" marT="45720" marB="45720" anchor="ctr">
                    <a:solidFill>
                      <a:srgbClr val="0A8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sz="1200" b="0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 分鐘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sz="1200" b="1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81%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sz="1200" b="0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75%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sz="1200" b="0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 天</a:t>
                      </a:r>
                    </a:p>
                  </a:txBody>
                  <a:tcPr marL="100584" marR="100584" marT="45720" marB="4572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sz="1200" b="0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54%</a:t>
                      </a:r>
                    </a:p>
                  </a:txBody>
                  <a:tcPr marL="100584" marR="100584" marT="45720" marB="4572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sz="1200" b="0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68%</a:t>
                      </a:r>
                    </a:p>
                  </a:txBody>
                  <a:tcPr marL="100584" marR="100584" marT="45720" marB="45720" anchor="ctr">
                    <a:solidFill>
                      <a:srgbClr val="F9FA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sz="1200" b="0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 週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sz="1200" b="0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40%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sz="1200" b="1">
                          <a:solidFill>
                            <a:srgbClr val="0A84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61%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758952" y="6336792"/>
            <a:ext cx="829635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來源：Roediger &amp; Karpicke (2006), Psychological Science 17(3): 249–255；Cowan (2001), BBS 24(1)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6743" y="6336792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講者：黃羿捷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475488"/>
            <a:ext cx="1067379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AI 已經近乎普及，但沒有人測量「學會了」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758952" y="1335024"/>
            <a:ext cx="1051560" cy="41148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58952" y="1965960"/>
            <a:ext cx="2517571" cy="1965960"/>
          </a:xfrm>
          <a:prstGeom prst="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78407" y="2267712"/>
            <a:ext cx="2078659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0A84FF"/>
                </a:solidFill>
                <a:latin typeface="Microsoft JhengHei"/>
                <a:ea typeface="Microsoft JhengHei"/>
                <a:cs typeface="Microsoft JhengHei"/>
              </a:rPr>
              <a:t>95%</a:t>
            </a:r>
          </a:p>
          <a:p>
            <a:pPr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</a:pPr>
            <a:r>
              <a:rPr sz="1300" b="0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英國本科生以某種方式使用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7691" y="1965960"/>
            <a:ext cx="2517571" cy="1965960"/>
          </a:xfrm>
          <a:prstGeom prst="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97147" y="2267712"/>
            <a:ext cx="2078659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0A84FF"/>
                </a:solidFill>
                <a:latin typeface="Microsoft JhengHei"/>
                <a:ea typeface="Microsoft JhengHei"/>
                <a:cs typeface="Microsoft JhengHei"/>
              </a:rPr>
              <a:t>12%</a:t>
            </a:r>
          </a:p>
          <a:p>
            <a:pPr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</a:pPr>
            <a:r>
              <a:rPr sz="1300" b="0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直接把 AI 生成文字交作業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6431" y="1965960"/>
            <a:ext cx="2517571" cy="1965960"/>
          </a:xfrm>
          <a:prstGeom prst="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15887" y="2267712"/>
            <a:ext cx="2078659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0A84FF"/>
                </a:solidFill>
                <a:latin typeface="Microsoft JhengHei"/>
                <a:ea typeface="Microsoft JhengHei"/>
                <a:cs typeface="Microsoft JhengHei"/>
              </a:rPr>
              <a:t>38%</a:t>
            </a:r>
          </a:p>
          <a:p>
            <a:pPr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</a:pPr>
            <a:r>
              <a:rPr sz="1300" b="0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拿到學校提供的 AI 工具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15171" y="1965960"/>
            <a:ext cx="2517571" cy="1965960"/>
          </a:xfrm>
          <a:prstGeom prst="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34627" y="2267712"/>
            <a:ext cx="2078659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0A84FF"/>
                </a:solidFill>
                <a:latin typeface="Microsoft JhengHei"/>
                <a:ea typeface="Microsoft JhengHei"/>
                <a:cs typeface="Microsoft JhengHei"/>
              </a:rPr>
              <a:t>48%</a:t>
            </a:r>
          </a:p>
          <a:p>
            <a:pPr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</a:pPr>
            <a:r>
              <a:rPr sz="1300" b="0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覺得老師有在教他們用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" y="4315968"/>
            <a:ext cx="10673791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58952" y="4526280"/>
            <a:ext cx="10673791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12% 這個數字，三年前是 3%。</a:t>
            </a:r>
          </a:p>
          <a:p>
            <a:pPr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900" b="1">
                <a:solidFill>
                  <a:srgbClr val="0A84FF"/>
                </a:solidFill>
                <a:latin typeface="Microsoft JhengHei"/>
                <a:ea typeface="Microsoft JhengHei"/>
                <a:cs typeface="Microsoft JhengHei"/>
              </a:rPr>
              <a:t>工具的問題已經解決，執行的問題沒有。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6336792"/>
            <a:ext cx="829635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來源：HEPI Student Generative AI Survey 2026 (Report 199)，2026 年 3 月發布，2025 年 12 月訪問 1,054 名英國全日制本科生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6743" y="6336792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講者：黃羿捷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475488"/>
            <a:ext cx="1067379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兩位剛畢業的計算機學生，想解決自己踩過的那個坑</a:t>
            </a:r>
          </a:p>
        </p:txBody>
      </p:sp>
      <p:sp>
        <p:nvSpPr>
          <p:cNvPr id="3" name="Rectangle 2"/>
          <p:cNvSpPr/>
          <p:nvPr/>
        </p:nvSpPr>
        <p:spPr>
          <a:xfrm>
            <a:off x="758952" y="1335024"/>
            <a:ext cx="1051560" cy="41148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58952" y="1828800"/>
            <a:ext cx="5154015" cy="1783080"/>
          </a:xfrm>
          <a:prstGeom prst="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69848" y="2066543"/>
            <a:ext cx="453222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黃浩然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1">
                <a:solidFill>
                  <a:srgbClr val="0A84FF"/>
                </a:solidFill>
                <a:latin typeface="Microsoft JhengHei"/>
                <a:ea typeface="Microsoft JhengHei"/>
                <a:cs typeface="Microsoft JhengHei"/>
              </a:rPr>
              <a:t>產品與用戶研究</a:t>
            </a:r>
          </a:p>
          <a:p>
            <a:pPr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痛點定義、試點招募、課程內容設計、講者</a:t>
            </a:r>
          </a:p>
        </p:txBody>
      </p:sp>
      <p:sp>
        <p:nvSpPr>
          <p:cNvPr id="6" name="Rectangle 5"/>
          <p:cNvSpPr/>
          <p:nvPr/>
        </p:nvSpPr>
        <p:spPr>
          <a:xfrm>
            <a:off x="6278727" y="1828800"/>
            <a:ext cx="5154015" cy="1783080"/>
          </a:xfrm>
          <a:prstGeom prst="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589623" y="2066543"/>
            <a:ext cx="453222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黃羿捷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1">
                <a:solidFill>
                  <a:srgbClr val="0A84FF"/>
                </a:solidFill>
                <a:latin typeface="Microsoft JhengHei"/>
                <a:ea typeface="Microsoft JhengHei"/>
                <a:cs typeface="Microsoft JhengHei"/>
              </a:rPr>
              <a:t>技術與模型</a:t>
            </a:r>
          </a:p>
          <a:p>
            <a:pPr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課程生成、語音與板書、驗收引擎、講者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931920"/>
            <a:ext cx="1067379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「把任何一份資料，變成一個只為你而設、並且確認你學會了的課堂。」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4956048"/>
            <a:ext cx="1067379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不足與補救：缺學習科學與商業經驗 → 已洽詢教育／心理學顧問，並以校園試點補足。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6743" y="6336792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講者：黃浩然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475488"/>
            <a:ext cx="1067379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五代 AI 學習工具，五種「學會了」的定義</a:t>
            </a:r>
          </a:p>
        </p:txBody>
      </p:sp>
      <p:sp>
        <p:nvSpPr>
          <p:cNvPr id="3" name="Rectangle 2"/>
          <p:cNvSpPr/>
          <p:nvPr/>
        </p:nvSpPr>
        <p:spPr>
          <a:xfrm>
            <a:off x="758952" y="1335024"/>
            <a:ext cx="1051560" cy="41148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58952" y="1737360"/>
          <a:ext cx="10671048" cy="332841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00200"/>
                <a:gridCol w="2148840"/>
                <a:gridCol w="2057400"/>
                <a:gridCol w="2331720"/>
                <a:gridCol w="2532888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世代</a:t>
                      </a:r>
                    </a:p>
                  </a:txBody>
                  <a:tcPr marL="100584" marR="100584" marT="45720" marB="45720" anchor="ctr">
                    <a:solidFill>
                      <a:srgbClr val="0A8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代表</a:t>
                      </a:r>
                    </a:p>
                  </a:txBody>
                  <a:tcPr marL="100584" marR="100584" marT="45720" marB="45720" anchor="ctr">
                    <a:solidFill>
                      <a:srgbClr val="0A8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它問的問題</a:t>
                      </a:r>
                    </a:p>
                  </a:txBody>
                  <a:tcPr marL="100584" marR="100584" marT="45720" marB="45720" anchor="ctr">
                    <a:solidFill>
                      <a:srgbClr val="0A8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它認為「學會了」＝</a:t>
                      </a:r>
                    </a:p>
                  </a:txBody>
                  <a:tcPr marL="100584" marR="100584" marT="45720" marB="45720" anchor="ctr">
                    <a:solidFill>
                      <a:srgbClr val="0A8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留下的洞</a:t>
                      </a:r>
                    </a:p>
                  </a:txBody>
                  <a:tcPr marL="100584" marR="100584" marT="45720" marB="45720" anchor="ctr">
                    <a:solidFill>
                      <a:srgbClr val="0A84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1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一代　課程庫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0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DeepLearning.AI、Coursera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0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學完第幾章了？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0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拿到證書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0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證書不等於能力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1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二代　萬能問答</a:t>
                      </a:r>
                    </a:p>
                  </a:txBody>
                  <a:tcPr marL="100584" marR="100584" marT="45720" marB="4572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0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ChatGPT</a:t>
                      </a:r>
                    </a:p>
                  </a:txBody>
                  <a:tcPr marL="100584" marR="100584" marT="45720" marB="4572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0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你想問什麼？</a:t>
                      </a:r>
                    </a:p>
                  </a:txBody>
                  <a:tcPr marL="100584" marR="100584" marT="45720" marB="4572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0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當下答得出</a:t>
                      </a:r>
                    </a:p>
                  </a:txBody>
                  <a:tcPr marL="100584" marR="100584" marT="45720" marB="4572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0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沒有跨週狀態</a:t>
                      </a:r>
                    </a:p>
                  </a:txBody>
                  <a:tcPr marL="100584" marR="100584" marT="45720" marB="45720" anchor="ctr">
                    <a:solidFill>
                      <a:srgbClr val="F9FA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1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三代　模擬課堂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0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OpenMAIC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0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這堂課講完了嗎？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0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課講完了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0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課堂是集體教學的遺產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1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四代　主動代理</a:t>
                      </a:r>
                    </a:p>
                  </a:txBody>
                  <a:tcPr marL="100584" marR="100584" marT="45720" marB="4572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0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Hyperknow</a:t>
                      </a:r>
                    </a:p>
                  </a:txBody>
                  <a:tcPr marL="100584" marR="100584" marT="45720" marB="4572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0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你什麼時候要交？</a:t>
                      </a:r>
                    </a:p>
                  </a:txBody>
                  <a:tcPr marL="100584" marR="100584" marT="45720" marB="4572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0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進度條走完</a:t>
                      </a:r>
                    </a:p>
                  </a:txBody>
                  <a:tcPr marL="100584" marR="100584" marT="45720" marB="4572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0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練習 → 掌握缺位</a:t>
                      </a:r>
                    </a:p>
                  </a:txBody>
                  <a:tcPr marL="100584" marR="100584" marT="45720" marB="45720" anchor="ctr">
                    <a:solidFill>
                      <a:srgbClr val="F9FA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1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五代　個人課堂</a:t>
                      </a:r>
                    </a:p>
                  </a:txBody>
                  <a:tcPr marL="100584" marR="100584" marT="45720" marB="4572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1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Veridex</a:t>
                      </a:r>
                    </a:p>
                  </a:txBody>
                  <a:tcPr marL="100584" marR="100584" marT="45720" marB="4572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1">
                          <a:solidFill>
                            <a:srgbClr val="0A84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你哪裡還不懂？</a:t>
                      </a:r>
                    </a:p>
                  </a:txBody>
                  <a:tcPr marL="100584" marR="100584" marT="45720" marB="4572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1">
                          <a:solidFill>
                            <a:srgbClr val="0A84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能說、能做、30 天後還記得</a:t>
                      </a:r>
                    </a:p>
                  </a:txBody>
                  <a:tcPr marL="100584" marR="100584" marT="45720" marB="4572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1">
                          <a:solidFill>
                            <a:srgbClr val="0A84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—</a:t>
                      </a:r>
                    </a:p>
                  </a:txBody>
                  <a:tcPr marL="100584" marR="100584" marT="45720" marB="4572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8952" y="5376672"/>
            <a:ext cx="1067379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五代都在回答「AI 怎麼讓我學得更快」。沒有一代回答過「AI 怎麼讓我學得會」。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6336792"/>
            <a:ext cx="829635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完成率作為指標會誤導：HarvardX／MITx 17 門課 841,687 人註冊，5% 拿到證書，35% 從未看過任何課程內容（Chuang &amp; Ho 2014, 工作論文）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6743" y="6336792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講者：黃羿捷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475488"/>
            <a:ext cx="1067379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四個步驟，把一份資料變成你的課堂</a:t>
            </a:r>
          </a:p>
        </p:txBody>
      </p:sp>
      <p:sp>
        <p:nvSpPr>
          <p:cNvPr id="3" name="Rectangle 2"/>
          <p:cNvSpPr/>
          <p:nvPr/>
        </p:nvSpPr>
        <p:spPr>
          <a:xfrm>
            <a:off x="758952" y="1335024"/>
            <a:ext cx="1051560" cy="41148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58952" y="1874519"/>
            <a:ext cx="2503855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78407" y="2121408"/>
            <a:ext cx="2064943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84FF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6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上傳資料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PDF、講義、筆記</a:t>
            </a:r>
          </a:p>
        </p:txBody>
      </p:sp>
      <p:sp>
        <p:nvSpPr>
          <p:cNvPr id="6" name="Isosceles Triangle 5"/>
          <p:cNvSpPr/>
          <p:nvPr/>
        </p:nvSpPr>
        <p:spPr>
          <a:xfrm rot="5400000">
            <a:off x="3303955" y="2615184"/>
            <a:ext cx="137160" cy="137160"/>
          </a:xfrm>
          <a:prstGeom prst="triangl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482263" y="1874519"/>
            <a:ext cx="2503855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701719" y="2121408"/>
            <a:ext cx="2064943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84F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6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生成專屬課程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語音講解＋同步板書</a:t>
            </a:r>
          </a:p>
        </p:txBody>
      </p:sp>
      <p:sp>
        <p:nvSpPr>
          <p:cNvPr id="9" name="Isosceles Triangle 8"/>
          <p:cNvSpPr/>
          <p:nvPr/>
        </p:nvSpPr>
        <p:spPr>
          <a:xfrm rot="5400000">
            <a:off x="6027267" y="2615184"/>
            <a:ext cx="137160" cy="137160"/>
          </a:xfrm>
          <a:prstGeom prst="triangl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205575" y="1874519"/>
            <a:ext cx="2503855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25031" y="2121408"/>
            <a:ext cx="2064943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84FF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6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隨時發問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課堂內直接提問</a:t>
            </a:r>
          </a:p>
        </p:txBody>
      </p:sp>
      <p:sp>
        <p:nvSpPr>
          <p:cNvPr id="12" name="Isosceles Triangle 11"/>
          <p:cNvSpPr/>
          <p:nvPr/>
        </p:nvSpPr>
        <p:spPr>
          <a:xfrm rot="5400000">
            <a:off x="8750579" y="2615184"/>
            <a:ext cx="137160" cy="137160"/>
          </a:xfrm>
          <a:prstGeom prst="triangl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8928887" y="1874519"/>
            <a:ext cx="2503855" cy="1600200"/>
          </a:xfrm>
          <a:prstGeom prst="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8343" y="2121408"/>
            <a:ext cx="2064943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84FF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6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練習與驗收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過了才往下走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" y="3794760"/>
            <a:ext cx="10673791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58952" y="4023360"/>
            <a:ext cx="10673791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84FF"/>
                </a:solidFill>
                <a:latin typeface="Microsoft JhengHei"/>
                <a:ea typeface="Microsoft JhengHei"/>
                <a:cs typeface="Microsoft JhengHei"/>
              </a:rPr>
              <a:t>差異不在功能，在流程。</a:t>
            </a:r>
          </a:p>
          <a:p>
            <a:pPr algn="l">
              <a:lnSpc>
                <a:spcPct val="145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生成、語音、動畫，任何一家都可以在兩個月內抄走。</a:t>
            </a:r>
          </a:p>
          <a:p>
            <a:pPr algn="l">
              <a:lnSpc>
                <a:spcPct val="145000"/>
              </a:lnSpc>
              <a:spcBef>
                <a:spcPts val="400"/>
              </a:spcBef>
              <a:spcAft>
                <a:spcPts val="0"/>
              </a:spcAft>
            </a:pPr>
            <a:r>
              <a:rPr sz="1500" b="0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但「以驗收為前提才能往下走」這個流程設計，抄不走，而且會隨產品成熟變得更難追。</a:t>
            </a:r>
          </a:p>
          <a:p>
            <a:pPr algn="l">
              <a:lnSpc>
                <a:spcPct val="145000"/>
              </a:lnSpc>
              <a:spcBef>
                <a:spcPts val="1000"/>
              </a:spcBef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我們的產品現在還在 v0。今天想請各位投資的，是我們已驗證的 X 與即將驗證的 Y。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6743" y="6336792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講者：黃浩然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475488"/>
            <a:ext cx="1067379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每個知識點都有門檻，過不了不進入下一階段</a:t>
            </a:r>
          </a:p>
        </p:txBody>
      </p:sp>
      <p:sp>
        <p:nvSpPr>
          <p:cNvPr id="3" name="Rectangle 2"/>
          <p:cNvSpPr/>
          <p:nvPr/>
        </p:nvSpPr>
        <p:spPr>
          <a:xfrm>
            <a:off x="758952" y="1335024"/>
            <a:ext cx="1051560" cy="41148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58952" y="1783080"/>
            <a:ext cx="2003084" cy="713232"/>
          </a:xfrm>
          <a:prstGeom prst="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58952" y="1956816"/>
            <a:ext cx="200308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出題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628" y="1783080"/>
            <a:ext cx="2003084" cy="713232"/>
          </a:xfrm>
          <a:prstGeom prst="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2926628" y="1956816"/>
            <a:ext cx="200308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作答</a:t>
            </a:r>
          </a:p>
        </p:txBody>
      </p:sp>
      <p:sp>
        <p:nvSpPr>
          <p:cNvPr id="8" name="Rectangle 7"/>
          <p:cNvSpPr/>
          <p:nvPr/>
        </p:nvSpPr>
        <p:spPr>
          <a:xfrm>
            <a:off x="5094305" y="1783080"/>
            <a:ext cx="2003084" cy="713232"/>
          </a:xfrm>
          <a:prstGeom prst="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94305" y="1956816"/>
            <a:ext cx="200308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判斷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61981" y="1783080"/>
            <a:ext cx="2003084" cy="713232"/>
          </a:xfrm>
          <a:prstGeom prst="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261981" y="1956816"/>
            <a:ext cx="200308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帶解釋的反饋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29658" y="1783080"/>
            <a:ext cx="2003084" cy="713232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429658" y="1956816"/>
            <a:ext cx="200308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未過則補教</a:t>
            </a:r>
          </a:p>
        </p:txBody>
      </p:sp>
      <p:sp>
        <p:nvSpPr>
          <p:cNvPr id="14" name="Left Arrow 13"/>
          <p:cNvSpPr/>
          <p:nvPr/>
        </p:nvSpPr>
        <p:spPr>
          <a:xfrm>
            <a:off x="11176711" y="2084831"/>
            <a:ext cx="182880" cy="182880"/>
          </a:xfrm>
          <a:prstGeom prst="lef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758952" y="2788920"/>
            <a:ext cx="10673791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758952" y="3035808"/>
            <a:ext cx="45720" cy="969264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14983" y="3035808"/>
            <a:ext cx="10417759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間隔不是拍腦袋定的</a:t>
            </a:r>
          </a:p>
          <a:p>
            <a:pPr algn="l">
              <a:lnSpc>
                <a:spcPct val="145000"/>
              </a:lnSpc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Cepeda et al. (2006) 元分析：最優復習間隔 ≈ 目標保持期的 10–20%。目標保持 30 天 → 間隔 3–6 天。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" y="4206240"/>
            <a:ext cx="45720" cy="969264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14983" y="4206240"/>
            <a:ext cx="10417759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判對錯不給解釋，效果會砍掉一半</a:t>
            </a:r>
          </a:p>
          <a:p>
            <a:pPr algn="l">
              <a:lnSpc>
                <a:spcPct val="145000"/>
              </a:lnSpc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Rowland (2014)：有反饋 g = 0.73 ／ 無反饋 g = 0.39。Bisra et al. (2018)：自我解釋 g = 0.55，N = 5,917。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6336792"/>
            <a:ext cx="829635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來源：Cepeda, Pashler, Vul, Wixted &amp; Rohrer (2006), Psychological Bulletin 132(3)；Rowland (2014), Psychological Bulletin 140(6)；Bisra et al. (2018), EPR 30(3)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6743" y="6336792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講者：黃羿捷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475488"/>
            <a:ext cx="1067379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我們不宣稱有效，我們證明有效</a:t>
            </a:r>
          </a:p>
        </p:txBody>
      </p:sp>
      <p:sp>
        <p:nvSpPr>
          <p:cNvPr id="3" name="Rectangle 2"/>
          <p:cNvSpPr/>
          <p:nvPr/>
        </p:nvSpPr>
        <p:spPr>
          <a:xfrm>
            <a:off x="758952" y="1335024"/>
            <a:ext cx="1051560" cy="41148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58952" y="1783080"/>
            <a:ext cx="3387242" cy="2606040"/>
          </a:xfrm>
          <a:prstGeom prst="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33271" y="2029968"/>
            <a:ext cx="2838602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行為</a:t>
            </a:r>
          </a:p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</a:pPr>
            <a:r>
              <a:rPr sz="4000" b="1">
                <a:solidFill>
                  <a:srgbClr val="0A84FF"/>
                </a:solidFill>
                <a:latin typeface="Microsoft JhengHei"/>
                <a:ea typeface="Microsoft JhengHei"/>
                <a:cs typeface="Microsoft JhengHei"/>
              </a:rPr>
              <a:t>≥ 50%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14 天任務完成率</a:t>
            </a:r>
          </a:p>
          <a:p>
            <a:pPr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覆蓋了多少知識點、有沒有真的做完</a:t>
            </a:r>
          </a:p>
        </p:txBody>
      </p:sp>
      <p:sp>
        <p:nvSpPr>
          <p:cNvPr id="6" name="Rectangle 5"/>
          <p:cNvSpPr/>
          <p:nvPr/>
        </p:nvSpPr>
        <p:spPr>
          <a:xfrm>
            <a:off x="4402226" y="1783080"/>
            <a:ext cx="3387242" cy="2606040"/>
          </a:xfrm>
          <a:prstGeom prst="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676546" y="2029968"/>
            <a:ext cx="2838602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成果</a:t>
            </a:r>
          </a:p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</a:pPr>
            <a:r>
              <a:rPr sz="4000" b="1">
                <a:solidFill>
                  <a:srgbClr val="0A84FF"/>
                </a:solidFill>
                <a:latin typeface="Microsoft JhengHei"/>
                <a:ea typeface="Microsoft JhengHei"/>
                <a:cs typeface="Microsoft JhengHei"/>
              </a:rPr>
              <a:t>≥ 20%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前測後測差異</a:t>
            </a:r>
          </a:p>
          <a:p>
            <a:pPr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學之前與學之後，差多少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5500" y="1783080"/>
            <a:ext cx="3387242" cy="2606040"/>
          </a:xfrm>
          <a:prstGeom prst="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319820" y="2029968"/>
            <a:ext cx="2838602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延遲</a:t>
            </a:r>
          </a:p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</a:pPr>
            <a:r>
              <a:rPr sz="4000" b="1">
                <a:solidFill>
                  <a:srgbClr val="0A84FF"/>
                </a:solidFill>
                <a:latin typeface="Microsoft JhengHei"/>
                <a:ea typeface="Microsoft JhengHei"/>
                <a:cs typeface="Microsoft JhengHei"/>
              </a:rPr>
              <a:t>≥ 70%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30 天後回訪正確率</a:t>
            </a:r>
          </a:p>
          <a:p>
            <a:pPr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一個月後還記得多少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" y="4645152"/>
            <a:ext cx="10673791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58952" y="4864608"/>
            <a:ext cx="10673791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為什麼一定要量到 30 天？</a:t>
            </a:r>
          </a:p>
          <a:p>
            <a:pPr algn="l">
              <a:lnSpc>
                <a:spcPct val="145000"/>
              </a:lnSpc>
              <a:spcBef>
                <a:spcPts val="70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距考試 1–6 天的測驗效應 g = +0.82，少於 1 天的 g = +0.56 —— 間隔越短，效應越小。（Adesope et al. 2017, Review of Educational Research 87(3)）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6743" y="6336792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講者：黃浩然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475488"/>
            <a:ext cx="1067379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註冊商標、版權登記、數據不出境</a:t>
            </a:r>
          </a:p>
        </p:txBody>
      </p:sp>
      <p:sp>
        <p:nvSpPr>
          <p:cNvPr id="3" name="Rectangle 2"/>
          <p:cNvSpPr/>
          <p:nvPr/>
        </p:nvSpPr>
        <p:spPr>
          <a:xfrm>
            <a:off x="758952" y="1335024"/>
            <a:ext cx="1051560" cy="41148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58952" y="1481328"/>
            <a:ext cx="1067379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計劃書不但要告訴投資者強項，還要告訴投資者如何保護強項。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8952" y="1993392"/>
          <a:ext cx="10671048" cy="37673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43200"/>
                <a:gridCol w="7927848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保護項目</a:t>
                      </a:r>
                    </a:p>
                  </a:txBody>
                  <a:tcPr marL="100584" marR="100584" marT="45720" marB="45720" anchor="ctr">
                    <a:solidFill>
                      <a:srgbClr val="0A8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我們的做法</a:t>
                      </a:r>
                    </a:p>
                  </a:txBody>
                  <a:tcPr marL="100584" marR="100584" marT="45720" marB="45720" anchor="ctr">
                    <a:solidFill>
                      <a:srgbClr val="0A84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50" b="1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商標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0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「Veridex／維學」提交香港區商標註冊，開源後亦不變更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50" b="1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課程模板著作權</a:t>
                      </a:r>
                    </a:p>
                  </a:txBody>
                  <a:tcPr marL="100584" marR="100584" marT="45720" marB="4572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0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原創課程生成模板與驗收 rubric 以版權登記保護，不開放授權</a:t>
                      </a:r>
                    </a:p>
                  </a:txBody>
                  <a:tcPr marL="100584" marR="100584" marT="45720" marB="45720" anchor="ctr">
                    <a:solidFill>
                      <a:srgbClr val="F9FA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50" b="1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源碼歸屬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0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兩位創辦人簽署知識產權協議，公司為唯一權利人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50" b="1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開源合規</a:t>
                      </a:r>
                    </a:p>
                  </a:txBody>
                  <a:tcPr marL="100584" marR="100584" marT="45720" marB="4572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0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全面評估依賴庫授權；不採用帶傳染性授權的代碼。我們評估過 OpenMAIC 的授權歷史 —— AGPL-3.0 → MIT 兩度變更</a:t>
                      </a:r>
                    </a:p>
                  </a:txBody>
                  <a:tcPr marL="100584" marR="100584" marT="45720" marB="45720" anchor="ctr">
                    <a:solidFill>
                      <a:srgbClr val="F9FA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50" b="1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數據合規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0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依《個人資料（私隱）條例》：最小權限、用途限定、可刪除、資料不出境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50" b="1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安全</a:t>
                      </a:r>
                    </a:p>
                  </a:txBody>
                  <a:tcPr marL="100584" marR="100584" marT="45720" marB="4572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0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課程數據分戶隔離、令牌有時效與速率限制、每次匯出留審計記錄</a:t>
                      </a:r>
                    </a:p>
                  </a:txBody>
                  <a:tcPr marL="100584" marR="100584" marT="45720" marB="45720" anchor="ctr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6743" y="6336792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講者：黃羿捷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475488"/>
            <a:ext cx="1067379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我們把市面上的同類真的用過了</a:t>
            </a:r>
          </a:p>
        </p:txBody>
      </p:sp>
      <p:sp>
        <p:nvSpPr>
          <p:cNvPr id="3" name="Rectangle 2"/>
          <p:cNvSpPr/>
          <p:nvPr/>
        </p:nvSpPr>
        <p:spPr>
          <a:xfrm>
            <a:off x="758952" y="1335024"/>
            <a:ext cx="1051560" cy="41148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58952" y="1737360"/>
          <a:ext cx="10671048" cy="36118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514600"/>
                <a:gridCol w="2834640"/>
                <a:gridCol w="3017520"/>
                <a:gridCol w="2304288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/>
                      </a:r>
                    </a:p>
                  </a:txBody>
                  <a:tcPr marL="100584" marR="100584" marT="45720" marB="45720" anchor="ctr">
                    <a:solidFill>
                      <a:srgbClr val="0A8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Hyperknow</a:t>
                      </a:r>
                    </a:p>
                  </a:txBody>
                  <a:tcPr marL="100584" marR="100584" marT="45720" marB="45720" anchor="ctr">
                    <a:solidFill>
                      <a:srgbClr val="0A8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OpenMAIC</a:t>
                      </a:r>
                    </a:p>
                  </a:txBody>
                  <a:tcPr marL="100584" marR="100584" marT="45720" marB="45720" anchor="ctr">
                    <a:solidFill>
                      <a:srgbClr val="0A8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Veridex</a:t>
                      </a:r>
                    </a:p>
                  </a:txBody>
                  <a:tcPr marL="100584" marR="100584" marT="45720" marB="45720" anchor="ctr">
                    <a:solidFill>
                      <a:srgbClr val="0A84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50" b="1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繁體中文語音講解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未見中文語音支援說明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中文 TTS 整段靜默且不報錯　#1698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00" b="1">
                          <a:solidFill>
                            <a:srgbClr val="0A84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產品化支援</a:t>
                      </a:r>
                    </a:p>
                  </a:txBody>
                  <a:tcPr marL="100584" marR="100584" marT="45720" marB="45720" anchor="ctr">
                    <a:solidFill>
                      <a:srgbClr val="EAF3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50" b="1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學生提問時，教師是否理解整堂課</a:t>
                      </a:r>
                    </a:p>
                  </a:txBody>
                  <a:tcPr marL="100584" marR="100584" marT="45720" marB="4572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—</a:t>
                      </a:r>
                    </a:p>
                  </a:txBody>
                  <a:tcPr marL="100584" marR="100584" marT="45720" marB="4572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只看見當前一頁，摘要截斷至 60 字　#1533</a:t>
                      </a:r>
                    </a:p>
                  </a:txBody>
                  <a:tcPr marL="100584" marR="100584" marT="45720" marB="4572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00" b="1">
                          <a:solidFill>
                            <a:srgbClr val="0A84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完整脈絡注入</a:t>
                      </a:r>
                    </a:p>
                  </a:txBody>
                  <a:tcPr marL="100584" marR="100584" marT="45720" marB="45720" anchor="ctr">
                    <a:solidFill>
                      <a:srgbClr val="EAF3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50" b="1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開始使用的門檻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註冊即用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需邀請碼，每日 10 次免費額度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00" b="1">
                          <a:solidFill>
                            <a:srgbClr val="0A84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上傳即開始</a:t>
                      </a:r>
                    </a:p>
                  </a:txBody>
                  <a:tcPr marL="100584" marR="100584" marT="45720" marB="45720" anchor="ctr">
                    <a:solidFill>
                      <a:srgbClr val="EAF3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50" b="1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成果能否取回</a:t>
                      </a:r>
                    </a:p>
                  </a:txBody>
                  <a:tcPr marL="100584" marR="100584" marT="45720" marB="4572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無重新生成／匯出／分享</a:t>
                      </a:r>
                    </a:p>
                  </a:txBody>
                  <a:tcPr marL="100584" marR="100584" marT="45720" marB="4572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互動頁可生成半成品　#1697</a:t>
                      </a:r>
                    </a:p>
                  </a:txBody>
                  <a:tcPr marL="100584" marR="100584" marT="45720" marB="4572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00" b="1">
                          <a:solidFill>
                            <a:srgbClr val="0A84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課程可匯出</a:t>
                      </a:r>
                    </a:p>
                  </a:txBody>
                  <a:tcPr marL="100584" marR="100584" marT="45720" marB="45720" anchor="ctr">
                    <a:solidFill>
                      <a:srgbClr val="EAF3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50" b="1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安全與資料合規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無獨立隱私政策頁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2026 年 9 月單月 11 項安全公告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00" b="1">
                          <a:solidFill>
                            <a:srgbClr val="0A84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數據隔離＋令牌時效</a:t>
                      </a:r>
                    </a:p>
                  </a:txBody>
                  <a:tcPr marL="100584" marR="100584" marT="45720" marB="45720" anchor="ctr">
                    <a:solidFill>
                      <a:srgbClr val="EAF3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1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學習效果證據</a:t>
                      </a:r>
                    </a:p>
                  </a:txBody>
                  <a:tcPr marL="100584" marR="100584" marT="45720" marB="4572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50" b="0">
                          <a:solidFill>
                            <a:srgbClr val="6B728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無</a:t>
                      </a:r>
                    </a:p>
                  </a:txBody>
                  <a:tcPr marL="100584" marR="100584" marT="45720" marB="4572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50" b="0">
                          <a:solidFill>
                            <a:srgbClr val="6B728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無</a:t>
                      </a:r>
                    </a:p>
                  </a:txBody>
                  <a:tcPr marL="100584" marR="100584" marT="45720" marB="4572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50" b="1">
                          <a:solidFill>
                            <a:srgbClr val="0A84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三層證據</a:t>
                      </a:r>
                    </a:p>
                  </a:txBody>
                  <a:tcPr marL="100584" marR="100584" marT="45720" marB="4572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8952" y="5559552"/>
            <a:ext cx="1067379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每一項断言都可查證。括號內為 OpenMAIC 的 GitHub issue 編號，各位可以自行前往核對。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6336792"/>
            <a:ext cx="829635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查核：github.com/THU-MAIC/OpenMAIC　issues #1698 / #1533 / #1697；hyperknow.io（/privacy 回傳 404）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6743" y="6336792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講者：黃浩然 &amp; 黃羿捷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475488"/>
            <a:ext cx="1067379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OpenMAIC 把 AI 做成了「一間教室」。但學習不是上課。</a:t>
            </a:r>
          </a:p>
        </p:txBody>
      </p:sp>
      <p:sp>
        <p:nvSpPr>
          <p:cNvPr id="3" name="Rectangle 2"/>
          <p:cNvSpPr/>
          <p:nvPr/>
        </p:nvSpPr>
        <p:spPr>
          <a:xfrm>
            <a:off x="758952" y="1335024"/>
            <a:ext cx="1051560" cy="41148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58952" y="1755648"/>
            <a:ext cx="5131155" cy="292608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51560" y="1975104"/>
            <a:ext cx="4545939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課堂隱喻的四個假設</a:t>
            </a:r>
          </a:p>
          <a:p>
            <a:pPr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・ 所有人同時學一樣的東西</a:t>
            </a:r>
          </a:p>
          <a:p>
            <a:pPr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・ 進度由課程決定，不由學習者決定</a:t>
            </a:r>
          </a:p>
          <a:p>
            <a:pPr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・ 講完 ＝ 教會</a:t>
            </a:r>
          </a:p>
          <a:p>
            <a:pPr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・ 一天一節課，一次一塊內容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1587" y="1755648"/>
            <a:ext cx="5131155" cy="2926080"/>
          </a:xfrm>
          <a:prstGeom prst="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594195" y="1975104"/>
            <a:ext cx="4545939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一對一教學的四件事</a:t>
            </a:r>
          </a:p>
          <a:p>
            <a:pPr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0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・ 先診斷你哪裡已經會了、哪裡不會</a:t>
            </a:r>
          </a:p>
          <a:p>
            <a:pPr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0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・ 追問你為什麼這樣想，再補教</a:t>
            </a:r>
          </a:p>
          <a:p>
            <a:pPr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0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・ 只補缺口，不重講全課</a:t>
            </a:r>
          </a:p>
          <a:p>
            <a:pPr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0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・ 確認補教到底有沒有生效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" y="4892040"/>
            <a:ext cx="10673791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58952" y="5102352"/>
            <a:ext cx="1067379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OpenMAIC 有的是「講課」，缺的是「補教」。</a:t>
            </a:r>
          </a:p>
          <a:p>
            <a:pPr algn="l">
              <a:lnSpc>
                <a:spcPct val="145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多數學生真正缺的，從來不是有人講，是有人知道他哪裡沒聽懂。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6336792"/>
            <a:ext cx="829635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OpenMAIC 為清華大學開源項目，v0.2.2 起已支援 zh-TW 共 12 種語系；其技術實力我們尊重，差距在設計理念而非功能數量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6743" y="6336792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講者：黃羿捷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475488"/>
            <a:ext cx="1067379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Hyperknow 是很出色的學習項目經理，但它不是導師。</a:t>
            </a:r>
          </a:p>
        </p:txBody>
      </p:sp>
      <p:sp>
        <p:nvSpPr>
          <p:cNvPr id="3" name="Rectangle 2"/>
          <p:cNvSpPr/>
          <p:nvPr/>
        </p:nvSpPr>
        <p:spPr>
          <a:xfrm>
            <a:off x="758952" y="1335024"/>
            <a:ext cx="1051560" cy="41148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58952" y="1719072"/>
          <a:ext cx="10671048" cy="358444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6309360"/>
                <a:gridCol w="4361688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我們的觀察</a:t>
                      </a:r>
                    </a:p>
                  </a:txBody>
                  <a:tcPr marL="100584" marR="100584" marT="45720" marB="45720" anchor="ctr">
                    <a:solidFill>
                      <a:srgbClr val="0A8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一手證據</a:t>
                      </a:r>
                    </a:p>
                  </a:txBody>
                  <a:tcPr marL="100584" marR="100584" marT="45720" marB="45720" anchor="ctr">
                    <a:solidFill>
                      <a:srgbClr val="0A84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300" b="1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它排的是死線，不是你的卡點。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官網原話：From course files to LMS deadlines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300" b="1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它自己說：影片提供理解，練習才提供掌握。</a:t>
                      </a:r>
                    </a:p>
                  </a:txBody>
                  <a:tcPr marL="100584" marR="100584" marT="45720" marB="4572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hyperknow.io/blogs 原句 The video provides the initial comprehension. The practice provides the mastery.</a:t>
                      </a:r>
                    </a:p>
                  </a:txBody>
                  <a:tcPr marL="100584" marR="100584" marT="45720" marB="45720" anchor="ctr">
                    <a:solidFill>
                      <a:srgbClr val="F9FAFB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300" b="1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Pro 檔賣的是額度和一個記憶開關，不是「你學會了」。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Pro US$18/月、Max US$50/月；權益含 usage limits、Memory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300" b="1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它的收入建立在考試季上，產品卻想當 24/7 的習慣。</a:t>
                      </a:r>
                    </a:p>
                  </a:txBody>
                  <a:tcPr marL="100584" marR="100584" marT="45720" marB="4572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日本 203 校／28,723 人調查：僅 7.2% 學生自費訂閱生成式 AI</a:t>
                      </a:r>
                    </a:p>
                  </a:txBody>
                  <a:tcPr marL="100584" marR="100584" marT="45720" marB="45720" anchor="ctr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8952" y="5486400"/>
            <a:ext cx="1067379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我們不批評它 —— 它做得很認真。但它自己寫下了那句話：那麼把「練習 → 掌握」做成閉環的系統，在哪裡？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6336792"/>
            <a:ext cx="829635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課堂開始前建議備妥官網截圖，以備查詢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6743" y="6336792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講者：黃浩然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475488"/>
            <a:ext cx="1067379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免費進門，按學習量付費的積分制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758952" y="1335024"/>
            <a:ext cx="1051560" cy="41148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58952" y="1737360"/>
            <a:ext cx="10673791" cy="914400"/>
          </a:xfrm>
          <a:prstGeom prst="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51560" y="1920240"/>
            <a:ext cx="100885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服務對象：中文母語大學生、研究生、職業自學者　｜　首年目標 100–300 名付費用戶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暫不開放中小學市場。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58952" y="2880360"/>
          <a:ext cx="10671048" cy="20116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03120"/>
                <a:gridCol w="2834640"/>
                <a:gridCol w="2862072"/>
                <a:gridCol w="2871216"/>
              </a:tblGrid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/>
                      </a:r>
                    </a:p>
                  </a:txBody>
                  <a:tcPr marL="100584" marR="100584" marT="45720" marB="45720" anchor="ctr">
                    <a:solidFill>
                      <a:srgbClr val="0A8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Free</a:t>
                      </a:r>
                    </a:p>
                  </a:txBody>
                  <a:tcPr marL="100584" marR="100584" marT="45720" marB="45720" anchor="ctr">
                    <a:solidFill>
                      <a:srgbClr val="0A8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Pro　HK$78／月</a:t>
                      </a:r>
                    </a:p>
                  </a:txBody>
                  <a:tcPr marL="100584" marR="100584" marT="45720" marB="45720" anchor="ctr">
                    <a:solidFill>
                      <a:srgbClr val="0A8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Max　HK$148／月</a:t>
                      </a:r>
                    </a:p>
                  </a:txBody>
                  <a:tcPr marL="100584" marR="100584" marT="45720" marB="45720" anchor="ctr">
                    <a:solidFill>
                      <a:srgbClr val="0A8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50" b="1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積分／月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sz="1250" b="0">
                          <a:solidFill>
                            <a:srgbClr val="0A84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100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sz="1250" b="0">
                          <a:solidFill>
                            <a:srgbClr val="0A84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600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sz="1250" b="0">
                          <a:solidFill>
                            <a:srgbClr val="0A84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1,500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50" b="1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連接器</a:t>
                      </a:r>
                    </a:p>
                  </a:txBody>
                  <a:tcPr marL="100584" marR="100584" marT="45720" marB="4572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sz="1250" b="0">
                          <a:solidFill>
                            <a:srgbClr val="0A84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—</a:t>
                      </a:r>
                    </a:p>
                  </a:txBody>
                  <a:tcPr marL="100584" marR="100584" marT="45720" marB="4572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sz="1250" b="0">
                          <a:solidFill>
                            <a:srgbClr val="0A84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✓</a:t>
                      </a:r>
                    </a:p>
                  </a:txBody>
                  <a:tcPr marL="100584" marR="100584" marT="45720" marB="4572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sz="1250" b="0">
                          <a:solidFill>
                            <a:srgbClr val="0A84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✓</a:t>
                      </a:r>
                    </a:p>
                  </a:txBody>
                  <a:tcPr marL="100584" marR="100584" marT="45720" marB="45720" anchor="ctr">
                    <a:solidFill>
                      <a:srgbClr val="F9FA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50" b="1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跨裝置同步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sz="1250" b="0">
                          <a:solidFill>
                            <a:srgbClr val="0A84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—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sz="1250" b="0">
                          <a:solidFill>
                            <a:srgbClr val="0A84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✓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sz="1250" b="0">
                          <a:solidFill>
                            <a:srgbClr val="0A84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✓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50" b="1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前沿模型</a:t>
                      </a:r>
                    </a:p>
                  </a:txBody>
                  <a:tcPr marL="100584" marR="100584" marT="45720" marB="4572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sz="1250" b="0">
                          <a:solidFill>
                            <a:srgbClr val="0A84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—</a:t>
                      </a:r>
                    </a:p>
                  </a:txBody>
                  <a:tcPr marL="100584" marR="100584" marT="45720" marB="4572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sz="1250" b="0">
                          <a:solidFill>
                            <a:srgbClr val="0A84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—</a:t>
                      </a:r>
                    </a:p>
                  </a:txBody>
                  <a:tcPr marL="100584" marR="100584" marT="45720" marB="4572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sz="1250" b="0">
                          <a:solidFill>
                            <a:srgbClr val="0A84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✓</a:t>
                      </a:r>
                    </a:p>
                  </a:txBody>
                  <a:tcPr marL="100584" marR="100584" marT="45720" marB="45720" anchor="ctr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8952" y="5120640"/>
            <a:ext cx="10673791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78 港元大約是兩頓平價午餐。</a:t>
            </a:r>
          </a:p>
          <a:p>
            <a:pPr algn="l">
              <a:lnSpc>
                <a:spcPct val="145000"/>
              </a:lnSpc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積分制是成本護欄：每檔設上限，不做無限量方案 —— 否則模型調用成本會失控，收入越多虧得越多。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6743" y="6336792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講者：黃羿捷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475488"/>
            <a:ext cx="1067379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申請 18 萬港元，覆蓋首 6 個月的驗證期</a:t>
            </a:r>
          </a:p>
        </p:txBody>
      </p:sp>
      <p:sp>
        <p:nvSpPr>
          <p:cNvPr id="3" name="Rectangle 2"/>
          <p:cNvSpPr/>
          <p:nvPr/>
        </p:nvSpPr>
        <p:spPr>
          <a:xfrm>
            <a:off x="758952" y="1335024"/>
            <a:ext cx="1051560" cy="41148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58952" y="1755648"/>
            <a:ext cx="3200400" cy="2286000"/>
          </a:xfrm>
          <a:prstGeom prst="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33271" y="2103120"/>
            <a:ext cx="26517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84FF"/>
                </a:solidFill>
                <a:latin typeface="Microsoft JhengHei"/>
                <a:ea typeface="Microsoft JhengHei"/>
                <a:cs typeface="Microsoft JhengHei"/>
              </a:rPr>
              <a:t>HK$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4600" b="1">
                <a:solidFill>
                  <a:srgbClr val="0A84FF"/>
                </a:solidFill>
                <a:latin typeface="Microsoft JhengHei"/>
                <a:ea typeface="Microsoft JhengHei"/>
                <a:cs typeface="Microsoft JhengHei"/>
              </a:rPr>
              <a:t>180,000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</a:pPr>
            <a:r>
              <a:rPr sz="1200" b="0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首 6 個月，不含創辦人津貼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97680" y="1755648"/>
          <a:ext cx="7132320" cy="22860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291840"/>
                <a:gridCol w="2011680"/>
                <a:gridCol w="182880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項目</a:t>
                      </a:r>
                    </a:p>
                  </a:txBody>
                  <a:tcPr marL="100584" marR="100584" marT="45720" marB="45720" anchor="ctr">
                    <a:solidFill>
                      <a:srgbClr val="0A8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金額 (HKD)</a:t>
                      </a:r>
                    </a:p>
                  </a:txBody>
                  <a:tcPr marL="100584" marR="100584" marT="45720" marB="45720" anchor="ctr">
                    <a:solidFill>
                      <a:srgbClr val="0A8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佔比</a:t>
                      </a:r>
                    </a:p>
                  </a:txBody>
                  <a:tcPr marL="100584" marR="100584" marT="45720" marB="45720" anchor="ctr">
                    <a:solidFill>
                      <a:srgbClr val="0A84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50" b="0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產品開發與測試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sz="1150" b="0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72,000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sz="1150" b="0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40%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50" b="0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AI 與雲端服務</a:t>
                      </a:r>
                    </a:p>
                  </a:txBody>
                  <a:tcPr marL="100584" marR="100584" marT="45720" marB="4572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sz="1150" b="0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27,000</a:t>
                      </a:r>
                    </a:p>
                  </a:txBody>
                  <a:tcPr marL="100584" marR="100584" marT="45720" marB="4572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sz="1150" b="0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15%</a:t>
                      </a:r>
                    </a:p>
                  </a:txBody>
                  <a:tcPr marL="100584" marR="100584" marT="45720" marB="45720" anchor="ctr">
                    <a:solidFill>
                      <a:srgbClr val="F9FA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50" b="0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市場推廣與校園試點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sz="1150" b="0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36,000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sz="1150" b="0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20%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50" b="0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法律、會計與行政</a:t>
                      </a:r>
                    </a:p>
                  </a:txBody>
                  <a:tcPr marL="100584" marR="100584" marT="45720" marB="4572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sz="1150" b="0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18,000</a:t>
                      </a:r>
                    </a:p>
                  </a:txBody>
                  <a:tcPr marL="100584" marR="100584" marT="45720" marB="4572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sz="1150" b="0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10%</a:t>
                      </a:r>
                    </a:p>
                  </a:txBody>
                  <a:tcPr marL="100584" marR="100584" marT="45720" marB="45720" anchor="ctr">
                    <a:solidFill>
                      <a:srgbClr val="F9FA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50" b="0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預備金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sz="1150" b="0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27,000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sz="1150" b="0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15%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1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合計</a:t>
                      </a:r>
                    </a:p>
                  </a:txBody>
                  <a:tcPr marL="100584" marR="100584" marT="45720" marB="4572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sz="1200" b="1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180,000</a:t>
                      </a:r>
                    </a:p>
                  </a:txBody>
                  <a:tcPr marL="100584" marR="100584" marT="45720" marB="4572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sz="1200" b="1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100%</a:t>
                      </a:r>
                    </a:p>
                  </a:txBody>
                  <a:tcPr marL="100584" marR="100584" marT="45720" marB="4572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58952" y="4315968"/>
            <a:ext cx="10673791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58952" y="4526280"/>
            <a:ext cx="10673791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創辦人本期不支薪 —— 這是 18 萬夠用的原因。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第 7 個月起以訂閱收入自持。18 個月承諾的是「驗證兩項關鍵假設」，不是「養活團隊十八個月」。</a:t>
            </a:r>
          </a:p>
          <a:p>
            <a:pPr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對照：數碼港 CCMF 為 10 萬／6 個月，科技園 Ideation 為 10 萬／1 年，均屬原型階段資助。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6743" y="6336792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講者：黃浩然 &amp; 黃羿捷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475488"/>
            <a:ext cx="1067379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18 個月，我們只驗證兩件事</a:t>
            </a:r>
          </a:p>
        </p:txBody>
      </p:sp>
      <p:sp>
        <p:nvSpPr>
          <p:cNvPr id="3" name="Rectangle 2"/>
          <p:cNvSpPr/>
          <p:nvPr/>
        </p:nvSpPr>
        <p:spPr>
          <a:xfrm>
            <a:off x="758952" y="1335024"/>
            <a:ext cx="1051560" cy="41148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58952" y="1664208"/>
            <a:ext cx="1067379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84FF"/>
                </a:solidFill>
                <a:latin typeface="Microsoft JhengHei"/>
                <a:ea typeface="Microsoft JhengHei"/>
                <a:cs typeface="Microsoft JhengHei"/>
              </a:rPr>
              <a:t>核心驗收點：完成率　｜　付費意願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1" y="2670048"/>
            <a:ext cx="9850831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758952" y="2286000"/>
            <a:ext cx="2531287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960587" y="2596896"/>
            <a:ext cx="128016" cy="128016"/>
          </a:xfrm>
          <a:prstGeom prst="ellips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0120" y="2889504"/>
            <a:ext cx="2128951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第 3 月</a:t>
            </a:r>
          </a:p>
          <a:p>
            <a:pPr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</a:pPr>
            <a:r>
              <a:rPr sz="14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可用原型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30–50 次深訪、100 人等候名單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3119" y="2286000"/>
            <a:ext cx="2531287" cy="2148840"/>
          </a:xfrm>
          <a:prstGeom prst="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674755" y="2596896"/>
            <a:ext cx="128016" cy="128016"/>
          </a:xfrm>
          <a:prstGeom prst="ellipse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674287" y="2889504"/>
            <a:ext cx="2128951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A84FF"/>
                </a:solidFill>
                <a:latin typeface="Microsoft JhengHei"/>
                <a:ea typeface="Microsoft JhengHei"/>
                <a:cs typeface="Microsoft JhengHei"/>
              </a:rPr>
              <a:t>第 6 月</a:t>
            </a:r>
          </a:p>
          <a:p>
            <a:pPr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</a:pPr>
            <a:r>
              <a:rPr sz="14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封閉測試 100–200 人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★ 核心驗收點：激活率與四周留存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7287" y="2286000"/>
            <a:ext cx="2531287" cy="2148840"/>
          </a:xfrm>
          <a:prstGeom prst="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388923" y="2596896"/>
            <a:ext cx="128016" cy="128016"/>
          </a:xfrm>
          <a:prstGeom prst="ellipse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88455" y="2889504"/>
            <a:ext cx="2128951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A84FF"/>
                </a:solidFill>
                <a:latin typeface="Microsoft JhengHei"/>
                <a:ea typeface="Microsoft JhengHei"/>
                <a:cs typeface="Microsoft JhengHei"/>
              </a:rPr>
              <a:t>第 12 月</a:t>
            </a:r>
          </a:p>
          <a:p>
            <a:pPr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</a:pPr>
            <a:r>
              <a:rPr sz="14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首批付費用戶與收入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★ 核心驗收點：付費意願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01455" y="2286000"/>
            <a:ext cx="2531287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10103091" y="2596896"/>
            <a:ext cx="128016" cy="128016"/>
          </a:xfrm>
          <a:prstGeom prst="ellips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02623" y="2889504"/>
            <a:ext cx="2128951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第 18 月</a:t>
            </a:r>
          </a:p>
          <a:p>
            <a:pPr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</a:pPr>
            <a:r>
              <a:rPr sz="14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30 天延遲回訪數據齊備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決定是否自持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956048"/>
            <a:ext cx="10673791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kill criteria：第 6 月激活率低於 25%，我們重做定位；第 12 月付費轉化低於 3%，我們轉向學校／機構採購。</a:t>
            </a:r>
          </a:p>
          <a:p>
            <a:pPr algn="l">
              <a:lnSpc>
                <a:spcPct val="140000"/>
              </a:lnSpc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我們寧可把失敗條件寫在前面，也不想事後解釋。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6743" y="6336792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講者：黃羿捷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475488"/>
            <a:ext cx="1067379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三個我們最可能失敗的地方，和已經準備好的對策</a:t>
            </a:r>
          </a:p>
        </p:txBody>
      </p:sp>
      <p:sp>
        <p:nvSpPr>
          <p:cNvPr id="3" name="Rectangle 2"/>
          <p:cNvSpPr/>
          <p:nvPr/>
        </p:nvSpPr>
        <p:spPr>
          <a:xfrm>
            <a:off x="758952" y="1335024"/>
            <a:ext cx="1051560" cy="41148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58952" y="1481328"/>
            <a:ext cx="1067379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格式：風險 → 觸發條件 → 替代方案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8952" y="1938528"/>
          <a:ext cx="10671048" cy="378561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200400"/>
                <a:gridCol w="3108960"/>
                <a:gridCol w="4361688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風險</a:t>
                      </a:r>
                    </a:p>
                  </a:txBody>
                  <a:tcPr marL="100584" marR="100584" marT="45720" marB="45720" anchor="ctr">
                    <a:solidFill>
                      <a:srgbClr val="0A8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觸發條件</a:t>
                      </a:r>
                    </a:p>
                  </a:txBody>
                  <a:tcPr marL="100584" marR="100584" marT="45720" marB="45720" anchor="ctr">
                    <a:solidFill>
                      <a:srgbClr val="0A8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我們已經準備好的對策</a:t>
                      </a:r>
                    </a:p>
                  </a:txBody>
                  <a:tcPr marL="100584" marR="100584" marT="45720" marB="45720" anchor="ctr">
                    <a:solidFill>
                      <a:srgbClr val="0A84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1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用戶生成課程但不完成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50" b="0">
                          <a:solidFill>
                            <a:srgbClr val="6B728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6 月四周留存低於 25%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50" b="0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收窄到單一場景（考試複習），砍掉其他課程模板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1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AI 生成內容不夠準</a:t>
                      </a:r>
                    </a:p>
                  </a:txBody>
                  <a:tcPr marL="100584" marR="100584" marT="45720" marB="4572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50" b="0">
                          <a:solidFill>
                            <a:srgbClr val="6B728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抽檢來源可溯率低於 90%</a:t>
                      </a:r>
                    </a:p>
                  </a:txBody>
                  <a:tcPr marL="100584" marR="100584" marT="45720" marB="4572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50" b="0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改為只引用用戶上傳資料，不檢索外部 —— 寧可少而準</a:t>
                      </a:r>
                    </a:p>
                  </a:txBody>
                  <a:tcPr marL="100584" marR="100584" marT="45720" marB="45720" anchor="ctr">
                    <a:solidFill>
                      <a:srgbClr val="F9FA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1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學生不願付費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50" b="0">
                          <a:solidFill>
                            <a:srgbClr val="6B728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12 月付費轉化低於 3%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50" b="0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轉向學校／機構採購，商業模式改為 B2B2C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1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提取練���不適合零基礎</a:t>
                      </a:r>
                    </a:p>
                  </a:txBody>
                  <a:tcPr marL="100584" marR="100584" marT="45720" marB="4572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50" b="0">
                          <a:solidFill>
                            <a:srgbClr val="6B728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起始答對率低於 50%</a:t>
                      </a:r>
                    </a:p>
                  </a:txBody>
                  <a:tcPr marL="100584" marR="100584" marT="45720" marB="4572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50" b="0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驗收難度分級：零基礎先做覆蓋確認，不直接上難題</a:t>
                      </a:r>
                    </a:p>
                  </a:txBody>
                  <a:tcPr marL="100584" marR="100584" marT="45720" marB="45720" anchor="ctr">
                    <a:solidFill>
                      <a:srgbClr val="F9FAFB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1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我們可能判斷錯了整個方向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50" b="0">
                          <a:solidFill>
                            <a:srgbClr val="6B728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6 月留存與付費遠低於預期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50" b="0">
                          <a:solidFill>
                            <a:srgbClr val="1D20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縮回單一場景並公開驗證數據；若仍不成立，就承認這個方向不成立</a:t>
                      </a:r>
                    </a:p>
                  </a:txBody>
                  <a:tcPr marL="100584" marR="100584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58952" y="6336792"/>
            <a:ext cx="829635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依據：Rowland (2014) 報告 18% 的效應量為負；Yang et al. (2021) 顯示對照組同做精加工時效應降至 g = 0.095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6743" y="6336792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講者：黃浩然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475488"/>
            <a:ext cx="1067379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請各位評委幫我們選一個</a:t>
            </a:r>
          </a:p>
        </p:txBody>
      </p:sp>
      <p:sp>
        <p:nvSpPr>
          <p:cNvPr id="3" name="Rectangle 2"/>
          <p:cNvSpPr/>
          <p:nvPr/>
        </p:nvSpPr>
        <p:spPr>
          <a:xfrm>
            <a:off x="758952" y="1335024"/>
            <a:ext cx="1051560" cy="41148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58952" y="1874519"/>
            <a:ext cx="106737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如果你只能盯住我們一項指標，你會選哪一個？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2880360"/>
            <a:ext cx="3362858" cy="1828800"/>
          </a:xfrm>
          <a:prstGeom prst="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3127248"/>
            <a:ext cx="281421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84FF"/>
                </a:solidFill>
                <a:latin typeface="Microsoft JhengHei"/>
                <a:ea typeface="Microsoft JhengHei"/>
                <a:cs typeface="Microsoft JhengHei"/>
              </a:rPr>
              <a:t>行為</a:t>
            </a:r>
          </a:p>
          <a:p>
            <a:pPr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21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課程完成率</a:t>
            </a:r>
          </a:p>
          <a:p>
            <a:pPr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用戶有沒有真的學完</a:t>
            </a:r>
          </a:p>
        </p:txBody>
      </p:sp>
      <p:sp>
        <p:nvSpPr>
          <p:cNvPr id="7" name="Rectangle 6"/>
          <p:cNvSpPr/>
          <p:nvPr/>
        </p:nvSpPr>
        <p:spPr>
          <a:xfrm>
            <a:off x="4414418" y="2880360"/>
            <a:ext cx="3362858" cy="1828800"/>
          </a:xfrm>
          <a:prstGeom prst="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688738" y="3127248"/>
            <a:ext cx="281421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84FF"/>
                </a:solidFill>
                <a:latin typeface="Microsoft JhengHei"/>
                <a:ea typeface="Microsoft JhengHei"/>
                <a:cs typeface="Microsoft JhengHei"/>
              </a:rPr>
              <a:t>成效</a:t>
            </a:r>
          </a:p>
          <a:p>
            <a:pPr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21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30 天延遲回訪</a:t>
            </a:r>
          </a:p>
          <a:p>
            <a:pPr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一個月後還記得多少</a:t>
            </a:r>
          </a:p>
        </p:txBody>
      </p:sp>
      <p:sp>
        <p:nvSpPr>
          <p:cNvPr id="9" name="Rectangle 8"/>
          <p:cNvSpPr/>
          <p:nvPr/>
        </p:nvSpPr>
        <p:spPr>
          <a:xfrm>
            <a:off x="8069884" y="2880360"/>
            <a:ext cx="3362858" cy="1828800"/>
          </a:xfrm>
          <a:prstGeom prst="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344204" y="3127248"/>
            <a:ext cx="281421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84FF"/>
                </a:solidFill>
                <a:latin typeface="Microsoft JhengHei"/>
                <a:ea typeface="Microsoft JhengHei"/>
                <a:cs typeface="Microsoft JhengHei"/>
              </a:rPr>
              <a:t>信任</a:t>
            </a:r>
          </a:p>
          <a:p>
            <a:pPr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21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安全與合規</a:t>
            </a:r>
          </a:p>
          <a:p>
            <a:pPr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資料會不會出事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5120640"/>
            <a:ext cx="1067379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各位的選擇會決定我們接下來六個月，把資源放在哪裡。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6743" y="6336792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講者：黃浩然 &amp; 黃羿捷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475488"/>
            <a:ext cx="1067379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課程是起點，驗收才是終點</a:t>
            </a:r>
          </a:p>
        </p:txBody>
      </p:sp>
      <p:sp>
        <p:nvSpPr>
          <p:cNvPr id="3" name="Rectangle 2"/>
          <p:cNvSpPr/>
          <p:nvPr/>
        </p:nvSpPr>
        <p:spPr>
          <a:xfrm>
            <a:off x="758952" y="1335024"/>
            <a:ext cx="1051560" cy="41148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58952" y="1920240"/>
            <a:ext cx="10673791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我們今天沒有講完一個功能。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</a:pPr>
            <a:r>
              <a:rPr sz="19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我們講的是一個問題 —— 在 AI 時代，學習該怎麼被重新定義。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</a:pPr>
            <a:r>
              <a:rPr sz="1900" b="1">
                <a:solidFill>
                  <a:srgbClr val="0A84FF"/>
                </a:solidFill>
                <a:latin typeface="Microsoft JhengHei"/>
                <a:ea typeface="Microsoft JhengHei"/>
                <a:cs typeface="Microsoft JhengHei"/>
              </a:rPr>
              <a:t>Veridex 是我們的答案。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4224528"/>
            <a:ext cx="10673791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58952" y="4526280"/>
            <a:ext cx="10673791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Veridex 維學科技</a:t>
            </a:r>
          </a:p>
          <a:p>
            <a:pPr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黃浩然、黃羿捷　｜　2026 年 10 月 16 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6743" y="6336792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講者：黃浩然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475488"/>
            <a:ext cx="1067379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附錄：參考文獻與資料來源</a:t>
            </a:r>
          </a:p>
        </p:txBody>
      </p:sp>
      <p:sp>
        <p:nvSpPr>
          <p:cNvPr id="3" name="Rectangle 2"/>
          <p:cNvSpPr/>
          <p:nvPr/>
        </p:nvSpPr>
        <p:spPr>
          <a:xfrm>
            <a:off x="758952" y="1335024"/>
            <a:ext cx="1051560" cy="41148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58952" y="1737360"/>
            <a:ext cx="515401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HEPI (2026). Student Generative AI Survey 2026, Report 199.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Chuang &amp; Ho (2014). HarvardX / MITx completion study（工作論文）.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Freeman et al. (2014). PNAS 111(23): 8410–8415.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Roediger &amp; Karpicke (2006). Psychological Science 17(3): 249–255.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Karpicke &amp; Blunt (2011). Science 331(6018): 772–775.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Adesope, Trevisan &amp; Sundararajan (2017). RER 87(3): 659–701.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78727" y="1737360"/>
            <a:ext cx="515401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Rowland (2014). Psychological Bulletin 140(6): 1434–1454.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Bisra et al. (2018). Educational Psychology Review 30(3): 703–725.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Pan &amp; Rickard (2018). Psychological Bulletin 144(7): 710–756.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Cepeda et al. (2006). Psychological Bulletin 132(3): 354–380.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Cowan (2001). Behavioral and Brain Sciences 24(1): 79–95.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Yang et al. (2021). Psychological Bulletin 147(4): 399–435.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Yang et al. (2023). Educational Psychology Review 35(3), 87.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hyperknow.io 官網 / blog；github.com/THU-MAIC/OpenMAIC issues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5742432"/>
            <a:ext cx="1067379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本頁與下一頁為答問背景板，不列入 20 頁正片之計時。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6743" y="6336792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講者：—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475488"/>
            <a:ext cx="1067379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附錄：答問備答要點</a:t>
            </a:r>
          </a:p>
        </p:txBody>
      </p:sp>
      <p:sp>
        <p:nvSpPr>
          <p:cNvPr id="3" name="Rectangle 2"/>
          <p:cNvSpPr/>
          <p:nvPr/>
        </p:nvSpPr>
        <p:spPr>
          <a:xfrm>
            <a:off x="758952" y="1335024"/>
            <a:ext cx="1051560" cy="41148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58952" y="1481328"/>
            <a:ext cx="1067379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「口語表現須清楚回應提問」與「交流與互動」合計佔 50 分，建議逐題練過。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2029968"/>
            <a:ext cx="41148" cy="566928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78407" y="2029968"/>
            <a:ext cx="1045433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Q　兩個剛畢業的學生，做得成嗎？</a:t>
            </a:r>
          </a:p>
          <a:p>
            <a:pPr algn="l">
              <a:lnSpc>
                <a:spcPct val="13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兩人皆 CS 背景、中文母語，能在理大直接做試點。缺的是學習科學與商業經驗 —— 我們用顧問合作與校園試點補，而不是用假話補。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" y="2743200"/>
            <a:ext cx="41148" cy="566928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78407" y="2743200"/>
            <a:ext cx="1045433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Q　Hyperknow 已經做得很好了，你們憑什麼？</a:t>
            </a:r>
          </a:p>
          <a:p>
            <a:pPr algn="l">
              <a:lnSpc>
                <a:spcPct val="13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一句話反問：它排的是 LMS 的死線，我們排的是你卡在哪一步。然後指向第 12 頁對比表 —— 差異在流程，不在功能。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" y="3456432"/>
            <a:ext cx="41148" cy="566928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78407" y="3456432"/>
            <a:ext cx="1045433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Q　18 萬夠不夠？</a:t>
            </a:r>
          </a:p>
          <a:p>
            <a:pPr algn="l">
              <a:lnSpc>
                <a:spcPct val="13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創辦人本期不支薪，6 個月是驗證期不是養人期。對照數碼港 CCMF 10 萬／6 個月，我們的額度在同一區間之上。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" y="4169664"/>
            <a:ext cx="41148" cy="566928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7" y="4169664"/>
            <a:ext cx="1045433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Q　你們怎麼證明真的有效果？</a:t>
            </a:r>
          </a:p>
          <a:p>
            <a:pPr algn="l">
              <a:lnSpc>
                <a:spcPct val="13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三層證據：行為（完成率）、成果（前後測）、延遲（30 天回訪）。第三層是別家都不做的，也是我們唯一會向各位匯報的。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" y="4882896"/>
            <a:ext cx="41148" cy="566928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78407" y="4882896"/>
            <a:ext cx="1045433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Q　學生的資料會不會出事？</a:t>
            </a:r>
          </a:p>
          <a:p>
            <a:pPr algn="l">
              <a:lnSpc>
                <a:spcPct val="13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指向第 11 頁：商標、版權登記、數據不出境、令牌有時效、課程數據分戶隔離、每次匯出留審計記錄。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" y="5596128"/>
            <a:ext cx="41148" cy="566928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78407" y="5596128"/>
            <a:ext cx="1045433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D2020"/>
                </a:solidFill>
                <a:latin typeface="Microsoft JhengHei"/>
                <a:ea typeface="Microsoft JhengHei"/>
                <a:cs typeface="Microsoft JhengHei"/>
              </a:rPr>
              <a:t>Q　如果我給你錢，6 個月後你要給我什麼？</a:t>
            </a:r>
          </a:p>
          <a:p>
            <a:pPr algn="l">
              <a:lnSpc>
                <a:spcPct val="13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兩個數字：第 6 月的激活率與四周留存，第 12 月的付費意願。第 6 月若低於 25%，我們重做定位 —— 這條我們寫在第 17 頁。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6743" y="6336792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講者：黃浩然 &amp; 黃羿捷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